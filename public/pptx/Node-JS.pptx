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di materi komprehensif Node.js. Presentasi ini membahas Node.js secara menyeluruh: konsep dasar, arsitektur internal berupa V8 dan libuv, event loop, sistem modul dan NPM, pemrograman asinkron, pembangunan REST API dengan Express, hingga pengujian, keamanan, dan deployment ke produksi. Materi disusun bertahap sehingga dapat diikuti pemula maupun dijadikan rujukan bagi yang sudah berpengalaman.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dibagi menjadi tujuh bagian. Bagian satu dan dua membangun pemahaman konseptual, bagian tiga sampai lima membahas keterampilan teknis inti, sedangkan bagian enam dan tujuh mengarah pada pembangunan aplikasi nyata serta praktik produksi. Setiap bagian diawali slide pemisah agar alur materi mudah diikuti.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bersifat konseptual. Tujuannya agar peserta memahami bahwa Node.js bukan bahasa pemrograman dan bukan framework, melainkan runtime environment yang memungkinkan JavaScript dijalankan di luar peramban.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tiga hal. Pertama, Node.js adalah runtime, bukan bahasa. Kedua, ia memakai mesin V8 yang sama dengan Chrome untuk mengeksekusi JavaScript. Ketiga, ia menambahkan libuv untuk kemampuan I/O sistem yang tidak dimiliki peramban. Kombinasi inilah yang memungkinkan JavaScript dipakai membangun server, alat baris perintah, hingga aplikasi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 Dahl menciptakan Node.js karena frustrasi terhadap server yang memblokir proses saat menunggu operasi I/O. Contoh yang sering ia pakai adalah bilah kemajuan unggah berkas yang tidak dapat diperbarui secara real time. Kehadiran NPM setahun kemudian menjadi faktor kunci pertumbuhan ekosistem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karakteristik ini saling terkait. Sifat non-blocking hanya bermakna karena ada event loop, event loop efisien karena V8 cepat, dan produktivitas tinggi karena NPM menyediakan paket siap pakai. Ingatkan bahwa keunggulan Node.js terletak pada beban kerja I/O-intensif, bukan CPU-intensif.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penting: sintaks JavaScript identik di kedua lingkungan. Yang berbeda adalah API yang disediakan lingkungan tersebut. Peramban menyediakan DOM dan window, sedangkan Node.js menyediakan fs, http, path, dan process. Karena itu kode yang memanggil document tidak akan berjalan di Node.js, begitu pula sebaliknya.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adalah inti pemahaman Node.js. Banyak bug dan masalah performa berakar pada kesalahpahaman tentang event loop, sehingga bagian ini layak dibahas perlahan.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Ketika Anda memanggil fs.readFile, pemanggilan JavaScript itu diteruskan melalui Node bindings ke libuv. libuv menjalankan pembacaan berkas di thread pool, lalu setelah selesai menaruh callback ke antrean event loop. V8 sendiri hanya bertugas mengeksekusi JavaScript, bukan menangani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bahwa tidak semua operasi asinkron memakai thread pool. Operasi jaringan menggunakan mekanisme kernel seperti epoll sehingga sangat efisien. Yang memakai thread pool adalah operasi berkas, DNS lookup, kompresi zlib, dan sebagian fungsi kriptografi.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urutan pada contoh kode: kode sinkron selalu lebih dulu, lalu antrean nextTick, lalu microtask Promise, baru event loop masuk fase timers dan check. Pemahaman urutan ini penting saat menelusuri perilaku asinkron yang tampak tidak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praktis: hindari fungsi berakhiran Sync di dalam server yang melayani permintaan. Satu pemanggilan readFileSync yang lambat akan membuat seluruh server berhenti melayani permintaan lain, karena hanya ada satu thread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yang mudah diingat: satu pelayan restoran yang cekatan dapat melayani banyak meja karena ia tidak berdiri diam menunggu dapur memasak. Ia mencatat pesanan meja lain sambil menunggu. Tetapi jika pelayan itu sendiri disuruh mencuci semua piring, yaitu tugas CPU-intensif, seluruh restoran berhenti terlayani.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bersifat praktis. Sarankan peserta membuka terminal dan mengikuti langkah demi langkah agar pemahaman lebih melekat.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Rekomendasi praktis: pemula cukup memakai installer resmi, sedangkan pengembang yang menangani banyak proyek sebaiknya memakai NVM sejak awal karena setiap proyek sering menuntut versi Node.js berbeda. Selalu pilih versi LTS untuk aplikasi yang akan dijalankan di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 sangat berguna untuk mencoba potongan kode singkat atau memeriksa perilaku sebuah fungsi. Namun untuk aplikasi nyata, kode selalu ditulis dalam berkas. Sejak Node.js 18 tersedia opsi watch bawaan sehingga nodemon tidak selalu diperlukan.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bahwa hanya dengan sebelas baris kode, Node.js sudah mampu menjalankan server HTTP tanpa perangkat lunak tambahan seperti Apache atau Nginx. Inilah salah satu daya tarik utama Node.js bagi pengembang pemula.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ini bukan aturan wajib dari Node.js, melainkan konvensi yang berkembang di komunitas. Prinsipnya adalah pemisahan tanggung jawab: rute hanya mengatur alamat, controller mengatur alur permintaan, service memuat aturan bisnis, dan model berurusan dengan basis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Kemampuan memecah kode menjadi modul adalah fondasi proyek yang dapat dirawat. Bagian ini juga menjelaskan mengapa NPM menjadi alasan utama popularitas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konsep cakupan modul. Di peramban, variabel global mudah bertabrakan antarberkas. Di Node.js, setiap berkas otomatis terisolasi sehingga tabrakan nama jauh berkurang. Konsep cache modul juga penting: modul yang sama tidak dieksekusi berulang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baru, ES Modules lebih disarankan karena merupakan standar resmi JavaScript dan berlaku sama di peramban maupun Node.js. Namun CommonJS masih sangat banyak dipakai, sehingga pengembang perlu memahami keduanya. Perhatikan bahwa ESM mewajibkan ekstensi berkas ditulis lengkap pada jalur impor.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modul ini menjadi fondasi hampir semua aplikasi Node.js. Sarankan peserta membuka dokumentasi resmi untuk melihat daftar lengkapnya. Modul lain yang juga sering dipakai adalah util, child_process, worker_threads, zlib, dan readline.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adalah alasan terbesar mengapa pengembangan dengan Node.js terasa cepat. Namun kemudahan ini punya sisi lain: ketergantungan berlebihan pada paket kecil dapat menimbulkan risiko keamanan dan pemeliharaan. Ajarkan peserta menilai kualitas paket sebelum memasangnya.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scripts sering diremehkan padahal sangat berguna. Dengan mendefinisikan skrip, seluruh anggota tim menjalankan perintah yang sama tanpa harus menghafal argumen panjang. Berkas package-lock.json yang dihasilkan otomatis juga penting karena mengunci versi persis setiap dependensi.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Perintah npm ci layak ditekankan untuk lingkungan otomasi. Berbeda dengan npm install, perintah ini menghapus node_modules lalu memasang persis sesuai lock file, sehingga hasil build selalu dapat direproduksi.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umum pemula adalah mengabaikan arti tanda sisipan dan tilde, lalu heran ketika aplikasi tiba-tiba rusak setelah npm install di komputer lain. Berkas package-lock.json ada justru untuk mencegah masalah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tersulit sekaligus terpenting bagi pemula. Jelaskan bahwa ketiga pola ini sebenarnya menyelesaikan masalah yang sama, hanya dengan gaya penulisan yang berbeda dan semakin mudah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tetap penting dipahami karena banyak pustaka lama dan sebagian API inti Node.js masih memakainya. Namun untuk kode baru, sebaiknya langsung memakai Promise atau async/await. Node.js menyediakan modul util.promisify dan fs/promises untuk mengubah API berbasis callback menjadi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keadaan Promise hanya berubah satu kali dan bersifat final. Setelah fulfilled, sebuah Promise tidak dapat menjadi rejected. Promise.all cocok untuk operasi paralel yang saling bergantung, sedangkan Promise.allSettled dipakai bila kita tetap ingin melanjutkan meskipun sebagian gagal.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performa yang paling sering terjadi adalah meng-await beberapa operasi independen secara berurutan padahal bisa dijalankan bersamaan dengan Promise.all. Tunjukkan perbedaan tiga detik versus satu detik pada contoh di sebelah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contoh kode melakukan hal yang persis sama. Perbedaannya hanya pada keterbacaan. Sarankan peserta memakai async/await sebagai gaya utama, namun tetap memahami Promise karena async/await sesungguhnya berjalan di atas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event-driven adalah cara berpikir yang perlu dibiasakan. Alih-alih memanggil fungsi secara langsung, kita memancarkan peristiwa dan membiarkan bagian lain program bereaksi. Ini membuat modul saling terpisah dan lebih mudah dikembangkan.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yang mudah: membaca berkas tanpa stream seperti memindahkan air kolam dengan satu ember raksasa, sedangkan stream seperti mengalirkannya lewat selang. Untuk berkas berukuran satu gigabita, pendekatan tanpa stream dapat membuat proses kehabisan memori.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menyatukan teori sebelumnya menjadi aplikasi yang benar-benar berjalan. Sarankan peserta mengetik ulang contoh kode agar terbiasa dengan pola penulisannya.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agar versi Sync hanya dipakai pada skrip sekali jalan atau saat proses startup, bukan di dalam penanganan permintaan. Modul fs/promises tersedia sejak Node.js 10 dan merupakan pilihan terbaik untuk kode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ini penting agar peserta memahami bahwa Express bukanlah keajaiban, melainkan lapisan tipis di atas modul http. Setelah menulis routing manual seperti ini, kemudahan Express akan jauh lebih terasa.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 menjadi standar de facto karena sederhana dan stabil. Kelemahannya adalah tidak memberi struktur baku, sehingga proyek besar mudah menjadi berantakan bila tim tidak menyepakati konvensi sejak awal. Alternatifnya adalah NestJS yang memberikan struktur lebih tegas.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 kunci middleware adalah fungsi next. Lupa memanggil next membuat permintaan menggantung tanpa respons — ini adalah bug yang sangat sering dialami pemula. Urutan pendaftaran middleware juga menentukan urutan eksekusinya.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REST yang perlu ditekankan: alamat menunjuk pada sumber daya berupa kata benda jamak, sedangkan aksi ditentukan oleh metode HTTP. Gunakan kode status yang tepat agar klien dapat menangani respons dengan benar. Untuk pengujian, gunakan Postman atau perintah curl.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penggunaan parameter berupa tanda dolar satu pada kueri PostgreSQL. Ini adalah prepared statement yang mencegah serangan SQL injection. Jangan pernah menyambung string kueri langsung dengan masukan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dua belas faktor menyatakan bahwa konfigurasi harus disimpan pada lingkungan, bukan di dalam kode. Dengan begitu, kode yang sama dapat dijalankan di komputer pengembang maupun server produksi hanya dengan mengganti nilai variabel.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dua jenis galat. Galat operasional adalah bagian normal dari aplikasi dan harus ditangani. Galat pemrograman adalah bug yang sebaiknya membuat proses berhenti agar segera ketahuan, lalu proses dijalankan ulang oleh PM2 atau orkestrator kontainer.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penutup ini sering dilewatkan pada materi pemula, padahal justru inilah yang membedakan proyek latihan dengan aplikasi yang benar-benar dipakai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peserta memulai dari unit test pada fungsi-fungsi logika bisnis, karena itulah yang paling mudah diuji sekaligus paling sering berubah. Piramida pengujian menganjurkan banyak unit test, sedikit lebih sedikit integration test, dan sedikit end-to-end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bahwa console.log memang berguna, tetapi debugger sesungguhnya jauh lebih efisien karena memungkinkan kita memeriksa seluruh keadaan program pada satu titik waktu tanpa menambah baris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bukan fitur tambahan yang dikerjakan belakangan, melainkan bagian dari proses sejak awal. Rujukan yang baik adalah OWASP Top Ten dan Node.js Security Best Practices dari OpenJS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cluster dan worker threads perlu ditegaskan. Cluster menjalankan beberapa proses Node.js terpisah untuk memanfaatkan banyak inti CPU pada beban permintaan tinggi. Worker threads menjalankan thread di dalam satu proses, cocok untuk komputasi berat seperti pengolahan gambar.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belajar atau portofolio, platform PaaS seperti Railway dan Render adalah pilihan tercepat karena tidak menuntut pengetahuan infrastruktur. Docker menjadi penting ketika tim membesar dan aplikasi perlu dijalankan konsisten di berbagai lingkungan.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 praktis untuk pemula: kuasai Express terlebih dahulu karena konsepnya paling transparan. Setelah paham middleware dan routing, berpindah ke NestJS atau Fastify akan terasa mudah karena keduanya membangun di atas ide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teknologi yang unggul untuk semua kasus. Node.js sangat kuat pada beban I/O dan aplikasi real-time, tetapi bukan pilihan terbaik untuk pengolahan citra besar, komputasi ilmiah, atau sistem dengan transaksi basis data yang sangat rumit.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Ajarkan peserta memilih teknologi berdasarkan karakter beban kerja, bukan berdasarkan tren. Pertanyaan kuncinya sederhana: apakah aplikasi ini lebih banyak menunggu data atau lebih banyak menghitung? Bila jawabannya menunggu, Node.js adalah pilihan yang sangat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alokasi waktu yang realistis: sekitar dua pekan untuk tahap satu, satu bulan untuk tahap dua, dua bulan untuk tahap tiga, dan berkelanjutan untuk tahap empat. Yang terpenting adalah konsistensi membangun proyek, bukan kecepatan menyelesaikan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pentingnya memeriksa tanggal publikasi setiap tutorial yang dibaca. Materi Node.js yang ditulis sebelum tahun 2020 kemungkinan besar belum mencakup ES Modules, fetch bawaan, maupun test runner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sesi dengan mengajak peserta langsung mempraktikkan materi: buat satu proyek REST API sederhana dalam waktu satu pekan. Pengalaman membangun sendiri jauh lebih membekas dibanding sekadar mengikuti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slideLayout" Target="../slideLayouts/slideLayout1.xm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image" Target="../media/image-46-10.png"/><Relationship Id="rId11" Type="http://schemas.openxmlformats.org/officeDocument/2006/relationships/slideLayout" Target="../slideLayouts/slideLayout1.xml"/><Relationship Id="rId1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slideLayout" Target="../slideLayouts/slideLayout1.xml"/><Relationship Id="rId9"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image" Target="../media/image-49-11.png"/><Relationship Id="rId12" Type="http://schemas.openxmlformats.org/officeDocument/2006/relationships/image" Target="../media/image-49-12.png"/><Relationship Id="rId13" Type="http://schemas.openxmlformats.org/officeDocument/2006/relationships/image" Target="../media/image-49-13.png"/><Relationship Id="rId14" Type="http://schemas.openxmlformats.org/officeDocument/2006/relationships/slideLayout" Target="../slideLayouts/slideLayout1.xml"/><Relationship Id="rId1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0-10.png"/><Relationship Id="rId11" Type="http://schemas.openxmlformats.org/officeDocument/2006/relationships/image" Target="../media/image-50-11.png"/><Relationship Id="rId12" Type="http://schemas.openxmlformats.org/officeDocument/2006/relationships/image" Target="../media/image-50-12.png"/><Relationship Id="rId13" Type="http://schemas.openxmlformats.org/officeDocument/2006/relationships/image" Target="../media/image-50-13.png"/><Relationship Id="rId14" Type="http://schemas.openxmlformats.org/officeDocument/2006/relationships/slideLayout" Target="../slideLayouts/slideLayout1.xml"/><Relationship Id="rId1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image" Target="../media/image-51-10.png"/><Relationship Id="rId11" Type="http://schemas.openxmlformats.org/officeDocument/2006/relationships/image" Target="../media/image-51-11.png"/><Relationship Id="rId12" Type="http://schemas.openxmlformats.org/officeDocument/2006/relationships/slideLayout" Target="../slideLayouts/slideLayout1.xml"/><Relationship Id="rId1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slideLayout" Target="../slideLayouts/slideLayout1.xml"/><Relationship Id="rId9"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slideLayout" Target="../slideLayouts/slideLayout1.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1.xml"/><Relationship Id="rId8"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7818120" y="-1463040"/>
            <a:ext cx="6035040" cy="9784080"/>
          </a:xfrm>
          <a:prstGeom prst="roundRect">
            <a:avLst>
              <a:gd name="adj" fmla="val 8333"/>
            </a:avLst>
          </a:prstGeom>
          <a:solidFill>
            <a:srgbClr val="12301F"/>
          </a:solidFill>
          <a:ln w="12700">
            <a:solidFill>
              <a:srgbClr val="12301F"/>
            </a:solidFill>
            <a:prstDash val="solid"/>
          </a:ln>
        </p:spPr>
      </p:sp>
      <p:pic>
        <p:nvPicPr>
          <p:cNvPr id="3" name="Image 0" descr="preencoded.png">    </p:cNvPr>
          <p:cNvPicPr>
            <a:picLocks noChangeAspect="1"/>
          </p:cNvPicPr>
          <p:nvPr/>
        </p:nvPicPr>
        <p:blipFill>
          <a:blip r:embed="rId1"/>
          <a:stretch>
            <a:fillRect/>
          </a:stretch>
        </p:blipFill>
        <p:spPr>
          <a:xfrm>
            <a:off x="822960" y="1188720"/>
            <a:ext cx="1325880" cy="1325880"/>
          </a:xfrm>
          <a:prstGeom prst="rect">
            <a:avLst/>
          </a:prstGeom>
        </p:spPr>
      </p:pic>
      <p:sp>
        <p:nvSpPr>
          <p:cNvPr id="4" name="Text 1"/>
          <p:cNvSpPr txBox="1"/>
          <p:nvPr/>
        </p:nvSpPr>
        <p:spPr>
          <a:xfrm>
            <a:off x="822960" y="2697480"/>
            <a:ext cx="6583680" cy="274320"/>
          </a:xfrm>
          <a:prstGeom prst="rect">
            <a:avLst/>
          </a:prstGeom>
          <a:noFill/>
          <a:ln/>
        </p:spPr>
        <p:txBody>
          <a:bodyPr wrap="square" lIns="0" tIns="0" rIns="0" bIns="0" rtlCol="0" anchor="ctr"/>
          <a:lstStyle/>
          <a:p>
            <a:pPr indent="0" marL="0">
              <a:buNone/>
            </a:pPr>
            <a:r>
              <a:rPr lang="en-US" sz="1200" b="1" spc="240" kern="0" dirty="0">
                <a:solidFill>
                  <a:srgbClr val="8CC84B"/>
                </a:solidFill>
                <a:latin typeface="Calibri" pitchFamily="34" charset="0"/>
                <a:ea typeface="Calibri" pitchFamily="34" charset="-122"/>
                <a:cs typeface="Calibri" pitchFamily="34" charset="-120"/>
              </a:rPr>
              <a:t>PEMROGRAMAN JAVASCRIPT SISI SERVER</a:t>
            </a:r>
            <a:endParaRPr lang="en-US" sz="1200" dirty="0"/>
          </a:p>
        </p:txBody>
      </p:sp>
      <p:sp>
        <p:nvSpPr>
          <p:cNvPr id="5" name="Text 2"/>
          <p:cNvSpPr txBox="1"/>
          <p:nvPr/>
        </p:nvSpPr>
        <p:spPr>
          <a:xfrm>
            <a:off x="777240" y="2962656"/>
            <a:ext cx="6675120" cy="114300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Node.js</a:t>
            </a:r>
            <a:endParaRPr lang="en-US" sz="6400" dirty="0"/>
          </a:p>
        </p:txBody>
      </p:sp>
      <p:sp>
        <p:nvSpPr>
          <p:cNvPr id="6" name="Text 3"/>
          <p:cNvSpPr txBox="1"/>
          <p:nvPr/>
        </p:nvSpPr>
        <p:spPr>
          <a:xfrm>
            <a:off x="822960" y="4114800"/>
            <a:ext cx="6675120" cy="822960"/>
          </a:xfrm>
          <a:prstGeom prst="rect">
            <a:avLst/>
          </a:prstGeom>
          <a:noFill/>
          <a:ln/>
        </p:spPr>
        <p:txBody>
          <a:bodyPr wrap="square" lIns="0" tIns="0" rIns="0" bIns="0" rtlCol="0" anchor="ctr"/>
          <a:lstStyle/>
          <a:p>
            <a:pPr indent="0" marL="0">
              <a:lnSpc>
                <a:spcPct val="120000"/>
              </a:lnSpc>
              <a:buNone/>
            </a:pPr>
            <a:r>
              <a:rPr lang="en-US" sz="1450" dirty="0">
                <a:solidFill>
                  <a:srgbClr val="BFD6C4"/>
                </a:solidFill>
                <a:latin typeface="Calibri" pitchFamily="34" charset="0"/>
                <a:ea typeface="Calibri" pitchFamily="34" charset="-122"/>
                <a:cs typeface="Calibri" pitchFamily="34" charset="-120"/>
              </a:rPr>
              <a:t>Materi Komprehensif: Arsitektur, Event Loop, Modul &amp; NPM,</a:t>
            </a:r>
            <a:endParaRPr lang="en-US" sz="1450" dirty="0"/>
          </a:p>
          <a:p>
            <a:pPr indent="0" marL="0">
              <a:lnSpc>
                <a:spcPct val="120000"/>
              </a:lnSpc>
              <a:buNone/>
            </a:pPr>
            <a:r>
              <a:rPr lang="en-US" sz="1450" dirty="0">
                <a:solidFill>
                  <a:srgbClr val="BFD6C4"/>
                </a:solidFill>
                <a:latin typeface="Calibri" pitchFamily="34" charset="0"/>
                <a:ea typeface="Calibri" pitchFamily="34" charset="-122"/>
                <a:cs typeface="Calibri" pitchFamily="34" charset="-120"/>
              </a:rPr>
              <a:t>Pemrograman Asinkron, REST API, hingga Deployment Produksi</a:t>
            </a:r>
            <a:endParaRPr lang="en-US" sz="1450" dirty="0"/>
          </a:p>
        </p:txBody>
      </p:sp>
      <p:sp>
        <p:nvSpPr>
          <p:cNvPr id="7" name="Shape 4"/>
          <p:cNvSpPr/>
          <p:nvPr/>
        </p:nvSpPr>
        <p:spPr>
          <a:xfrm>
            <a:off x="822960" y="5138928"/>
            <a:ext cx="1801368" cy="384048"/>
          </a:xfrm>
          <a:prstGeom prst="roundRect">
            <a:avLst>
              <a:gd name="adj" fmla="val 47619"/>
            </a:avLst>
          </a:prstGeom>
          <a:solidFill>
            <a:srgbClr val="1B4429"/>
          </a:solidFill>
          <a:ln w="12700">
            <a:solidFill>
              <a:srgbClr val="2C5F3A"/>
            </a:solidFill>
            <a:prstDash val="solid"/>
          </a:ln>
        </p:spPr>
      </p:sp>
      <p:sp>
        <p:nvSpPr>
          <p:cNvPr id="8" name="Text 5"/>
          <p:cNvSpPr txBox="1"/>
          <p:nvPr/>
        </p:nvSpPr>
        <p:spPr>
          <a:xfrm>
            <a:off x="822960" y="5138928"/>
            <a:ext cx="1801368"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JavaScript Runtime</a:t>
            </a:r>
            <a:endParaRPr lang="en-US" sz="1050" dirty="0"/>
          </a:p>
        </p:txBody>
      </p:sp>
      <p:sp>
        <p:nvSpPr>
          <p:cNvPr id="9" name="Shape 6"/>
          <p:cNvSpPr/>
          <p:nvPr/>
        </p:nvSpPr>
        <p:spPr>
          <a:xfrm>
            <a:off x="2788920" y="5138928"/>
            <a:ext cx="1019556" cy="384048"/>
          </a:xfrm>
          <a:prstGeom prst="roundRect">
            <a:avLst>
              <a:gd name="adj" fmla="val 47619"/>
            </a:avLst>
          </a:prstGeom>
          <a:solidFill>
            <a:srgbClr val="1B4429"/>
          </a:solidFill>
          <a:ln w="12700">
            <a:solidFill>
              <a:srgbClr val="2C5F3A"/>
            </a:solidFill>
            <a:prstDash val="solid"/>
          </a:ln>
        </p:spPr>
      </p:sp>
      <p:sp>
        <p:nvSpPr>
          <p:cNvPr id="10" name="Text 7"/>
          <p:cNvSpPr txBox="1"/>
          <p:nvPr/>
        </p:nvSpPr>
        <p:spPr>
          <a:xfrm>
            <a:off x="2788920" y="5138928"/>
            <a:ext cx="1019556"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V8 Engine</a:t>
            </a:r>
            <a:endParaRPr lang="en-US" sz="1050" dirty="0"/>
          </a:p>
        </p:txBody>
      </p:sp>
      <p:sp>
        <p:nvSpPr>
          <p:cNvPr id="11" name="Shape 8"/>
          <p:cNvSpPr/>
          <p:nvPr/>
        </p:nvSpPr>
        <p:spPr>
          <a:xfrm>
            <a:off x="3973068" y="5138928"/>
            <a:ext cx="1193292" cy="384048"/>
          </a:xfrm>
          <a:prstGeom prst="roundRect">
            <a:avLst>
              <a:gd name="adj" fmla="val 47619"/>
            </a:avLst>
          </a:prstGeom>
          <a:solidFill>
            <a:srgbClr val="1B4429"/>
          </a:solidFill>
          <a:ln w="12700">
            <a:solidFill>
              <a:srgbClr val="2C5F3A"/>
            </a:solidFill>
            <a:prstDash val="solid"/>
          </a:ln>
        </p:spPr>
      </p:sp>
      <p:sp>
        <p:nvSpPr>
          <p:cNvPr id="12" name="Text 9"/>
          <p:cNvSpPr txBox="1"/>
          <p:nvPr/>
        </p:nvSpPr>
        <p:spPr>
          <a:xfrm>
            <a:off x="3973068" y="5138928"/>
            <a:ext cx="1193292"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Open Source</a:t>
            </a:r>
            <a:endParaRPr lang="en-US" sz="1050" dirty="0"/>
          </a:p>
        </p:txBody>
      </p:sp>
      <p:sp>
        <p:nvSpPr>
          <p:cNvPr id="13" name="Shape 10"/>
          <p:cNvSpPr/>
          <p:nvPr/>
        </p:nvSpPr>
        <p:spPr>
          <a:xfrm>
            <a:off x="5330952" y="5138928"/>
            <a:ext cx="1453896" cy="384048"/>
          </a:xfrm>
          <a:prstGeom prst="roundRect">
            <a:avLst>
              <a:gd name="adj" fmla="val 47619"/>
            </a:avLst>
          </a:prstGeom>
          <a:solidFill>
            <a:srgbClr val="1B4429"/>
          </a:solidFill>
          <a:ln w="12700">
            <a:solidFill>
              <a:srgbClr val="2C5F3A"/>
            </a:solidFill>
            <a:prstDash val="solid"/>
          </a:ln>
        </p:spPr>
      </p:sp>
      <p:sp>
        <p:nvSpPr>
          <p:cNvPr id="14" name="Text 11"/>
          <p:cNvSpPr txBox="1"/>
          <p:nvPr/>
        </p:nvSpPr>
        <p:spPr>
          <a:xfrm>
            <a:off x="5330952" y="5138928"/>
            <a:ext cx="1453896"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Cross-Platform</a:t>
            </a:r>
            <a:endParaRPr lang="en-US" sz="1050" dirty="0"/>
          </a:p>
        </p:txBody>
      </p:sp>
      <p:pic>
        <p:nvPicPr>
          <p:cNvPr id="15" name="Image 1" descr="preencoded.png">    </p:cNvPr>
          <p:cNvPicPr>
            <a:picLocks noChangeAspect="1"/>
          </p:cNvPicPr>
          <p:nvPr/>
        </p:nvPicPr>
        <p:blipFill>
          <a:blip r:embed="rId2"/>
          <a:stretch>
            <a:fillRect/>
          </a:stretch>
        </p:blipFill>
        <p:spPr>
          <a:xfrm>
            <a:off x="8686800" y="1965960"/>
            <a:ext cx="402336" cy="402336"/>
          </a:xfrm>
          <a:prstGeom prst="rect">
            <a:avLst/>
          </a:prstGeom>
        </p:spPr>
      </p:pic>
      <p:sp>
        <p:nvSpPr>
          <p:cNvPr id="16" name="Text 12"/>
          <p:cNvSpPr txBox="1"/>
          <p:nvPr/>
        </p:nvSpPr>
        <p:spPr>
          <a:xfrm>
            <a:off x="9281160" y="1965960"/>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JavaScript</a:t>
            </a:r>
            <a:endParaRPr lang="en-US" sz="1200" dirty="0"/>
          </a:p>
        </p:txBody>
      </p:sp>
      <p:pic>
        <p:nvPicPr>
          <p:cNvPr id="17" name="Image 2" descr="preencoded.png">    </p:cNvPr>
          <p:cNvPicPr>
            <a:picLocks noChangeAspect="1"/>
          </p:cNvPicPr>
          <p:nvPr/>
        </p:nvPicPr>
        <p:blipFill>
          <a:blip r:embed="rId3"/>
          <a:stretch>
            <a:fillRect/>
          </a:stretch>
        </p:blipFill>
        <p:spPr>
          <a:xfrm>
            <a:off x="8686800" y="2624328"/>
            <a:ext cx="402336" cy="402336"/>
          </a:xfrm>
          <a:prstGeom prst="rect">
            <a:avLst/>
          </a:prstGeom>
        </p:spPr>
      </p:pic>
      <p:sp>
        <p:nvSpPr>
          <p:cNvPr id="18" name="Text 13"/>
          <p:cNvSpPr txBox="1"/>
          <p:nvPr/>
        </p:nvSpPr>
        <p:spPr>
          <a:xfrm>
            <a:off x="9281160" y="2624328"/>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NPM</a:t>
            </a:r>
            <a:endParaRPr lang="en-US" sz="1200" dirty="0"/>
          </a:p>
        </p:txBody>
      </p:sp>
      <p:pic>
        <p:nvPicPr>
          <p:cNvPr id="19" name="Image 3" descr="preencoded.png">    </p:cNvPr>
          <p:cNvPicPr>
            <a:picLocks noChangeAspect="1"/>
          </p:cNvPicPr>
          <p:nvPr/>
        </p:nvPicPr>
        <p:blipFill>
          <a:blip r:embed="rId4"/>
          <a:stretch>
            <a:fillRect/>
          </a:stretch>
        </p:blipFill>
        <p:spPr>
          <a:xfrm>
            <a:off x="8686800" y="3282696"/>
            <a:ext cx="402336" cy="402336"/>
          </a:xfrm>
          <a:prstGeom prst="rect">
            <a:avLst/>
          </a:prstGeom>
        </p:spPr>
      </p:pic>
      <p:sp>
        <p:nvSpPr>
          <p:cNvPr id="20" name="Text 14"/>
          <p:cNvSpPr txBox="1"/>
          <p:nvPr/>
        </p:nvSpPr>
        <p:spPr>
          <a:xfrm>
            <a:off x="9281160" y="3282696"/>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Express</a:t>
            </a:r>
            <a:endParaRPr lang="en-US" sz="1200" dirty="0"/>
          </a:p>
        </p:txBody>
      </p:sp>
      <p:pic>
        <p:nvPicPr>
          <p:cNvPr id="21" name="Image 4" descr="preencoded.png">    </p:cNvPr>
          <p:cNvPicPr>
            <a:picLocks noChangeAspect="1"/>
          </p:cNvPicPr>
          <p:nvPr/>
        </p:nvPicPr>
        <p:blipFill>
          <a:blip r:embed="rId5"/>
          <a:stretch>
            <a:fillRect/>
          </a:stretch>
        </p:blipFill>
        <p:spPr>
          <a:xfrm>
            <a:off x="8686800" y="3941064"/>
            <a:ext cx="402336" cy="402336"/>
          </a:xfrm>
          <a:prstGeom prst="rect">
            <a:avLst/>
          </a:prstGeom>
        </p:spPr>
      </p:pic>
      <p:sp>
        <p:nvSpPr>
          <p:cNvPr id="22" name="Text 15"/>
          <p:cNvSpPr txBox="1"/>
          <p:nvPr/>
        </p:nvSpPr>
        <p:spPr>
          <a:xfrm>
            <a:off x="9281160" y="3941064"/>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V8</a:t>
            </a:r>
            <a:endParaRPr lang="en-US" sz="1200" dirty="0"/>
          </a:p>
        </p:txBody>
      </p:sp>
      <p:pic>
        <p:nvPicPr>
          <p:cNvPr id="23" name="Image 5" descr="preencoded.png">    </p:cNvPr>
          <p:cNvPicPr>
            <a:picLocks noChangeAspect="1"/>
          </p:cNvPicPr>
          <p:nvPr/>
        </p:nvPicPr>
        <p:blipFill>
          <a:blip r:embed="rId6"/>
          <a:stretch>
            <a:fillRect/>
          </a:stretch>
        </p:blipFill>
        <p:spPr>
          <a:xfrm>
            <a:off x="8686800" y="4599432"/>
            <a:ext cx="402336" cy="402336"/>
          </a:xfrm>
          <a:prstGeom prst="rect">
            <a:avLst/>
          </a:prstGeom>
        </p:spPr>
      </p:pic>
      <p:sp>
        <p:nvSpPr>
          <p:cNvPr id="24" name="Text 16"/>
          <p:cNvSpPr txBox="1"/>
          <p:nvPr/>
        </p:nvSpPr>
        <p:spPr>
          <a:xfrm>
            <a:off x="9281160" y="4599432"/>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Docker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Agenda Pembahasan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Tujuh bagian utama yang disusun dari konsep dasar menuju penerapan produksi</a:t>
            </a:r>
            <a:endParaRPr lang="en-US" sz="1300" dirty="0"/>
          </a:p>
        </p:txBody>
      </p:sp>
      <p:sp>
        <p:nvSpPr>
          <p:cNvPr id="6" name="Shape 3"/>
          <p:cNvSpPr/>
          <p:nvPr/>
        </p:nvSpPr>
        <p:spPr>
          <a:xfrm>
            <a:off x="640080" y="160020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7452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992124" y="1988820"/>
            <a:ext cx="228600" cy="228600"/>
          </a:xfrm>
          <a:prstGeom prst="rect">
            <a:avLst/>
          </a:prstGeom>
        </p:spPr>
      </p:pic>
      <p:sp>
        <p:nvSpPr>
          <p:cNvPr id="9" name="Text 5"/>
          <p:cNvSpPr txBox="1"/>
          <p:nvPr/>
        </p:nvSpPr>
        <p:spPr>
          <a:xfrm>
            <a:off x="1463040" y="174650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Pengenalan Node.js</a:t>
            </a:r>
            <a:endParaRPr lang="en-US" sz="1350" dirty="0"/>
          </a:p>
        </p:txBody>
      </p:sp>
      <p:sp>
        <p:nvSpPr>
          <p:cNvPr id="10" name="Text 6"/>
          <p:cNvSpPr txBox="1"/>
          <p:nvPr/>
        </p:nvSpPr>
        <p:spPr>
          <a:xfrm>
            <a:off x="1463040" y="210312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Definisi, sejarah, karakteristik, dan perbandingan dengan JavaScript peramban</a:t>
            </a:r>
            <a:endParaRPr lang="en-US" sz="1050" dirty="0"/>
          </a:p>
        </p:txBody>
      </p:sp>
      <p:sp>
        <p:nvSpPr>
          <p:cNvPr id="11" name="Text 7"/>
          <p:cNvSpPr txBox="1"/>
          <p:nvPr/>
        </p:nvSpPr>
        <p:spPr>
          <a:xfrm>
            <a:off x="5157216" y="172821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01</a:t>
            </a:r>
            <a:endParaRPr lang="en-US" sz="1700" dirty="0"/>
          </a:p>
        </p:txBody>
      </p:sp>
      <p:sp>
        <p:nvSpPr>
          <p:cNvPr id="12" name="Shape 8"/>
          <p:cNvSpPr/>
          <p:nvPr/>
        </p:nvSpPr>
        <p:spPr>
          <a:xfrm>
            <a:off x="640080" y="278892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877824" y="3063240"/>
            <a:ext cx="457200" cy="457200"/>
          </a:xfrm>
          <a:prstGeom prst="roundRect">
            <a:avLst>
              <a:gd name="adj" fmla="val 26000"/>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992124" y="3177540"/>
            <a:ext cx="228600" cy="228600"/>
          </a:xfrm>
          <a:prstGeom prst="rect">
            <a:avLst/>
          </a:prstGeom>
        </p:spPr>
      </p:pic>
      <p:sp>
        <p:nvSpPr>
          <p:cNvPr id="15" name="Text 10"/>
          <p:cNvSpPr txBox="1"/>
          <p:nvPr/>
        </p:nvSpPr>
        <p:spPr>
          <a:xfrm>
            <a:off x="1463040" y="293522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Arsitektur &amp; Cara Kerja</a:t>
            </a:r>
            <a:endParaRPr lang="en-US" sz="1350" dirty="0"/>
          </a:p>
        </p:txBody>
      </p:sp>
      <p:sp>
        <p:nvSpPr>
          <p:cNvPr id="16" name="Text 11"/>
          <p:cNvSpPr txBox="1"/>
          <p:nvPr/>
        </p:nvSpPr>
        <p:spPr>
          <a:xfrm>
            <a:off x="1463040" y="329184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V8 Engine, libuv, event loop, non-blocking I/O, dan model single-thread</a:t>
            </a:r>
            <a:endParaRPr lang="en-US" sz="1050" dirty="0"/>
          </a:p>
        </p:txBody>
      </p:sp>
      <p:sp>
        <p:nvSpPr>
          <p:cNvPr id="17" name="Text 12"/>
          <p:cNvSpPr txBox="1"/>
          <p:nvPr/>
        </p:nvSpPr>
        <p:spPr>
          <a:xfrm>
            <a:off x="5157216" y="291693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02</a:t>
            </a:r>
            <a:endParaRPr lang="en-US" sz="1700" dirty="0"/>
          </a:p>
        </p:txBody>
      </p:sp>
      <p:sp>
        <p:nvSpPr>
          <p:cNvPr id="18" name="Shape 13"/>
          <p:cNvSpPr/>
          <p:nvPr/>
        </p:nvSpPr>
        <p:spPr>
          <a:xfrm>
            <a:off x="640080" y="397764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877824" y="4251960"/>
            <a:ext cx="457200" cy="457200"/>
          </a:xfrm>
          <a:prstGeom prst="roundRect">
            <a:avLst>
              <a:gd name="adj" fmla="val 26000"/>
            </a:avLst>
          </a:prstGeom>
          <a:solidFill>
            <a:srgbClr val="E8F2E2"/>
          </a:solidFill>
          <a:ln w="12700">
            <a:solidFill>
              <a:srgbClr val="E8F2E2"/>
            </a:solidFill>
            <a:prstDash val="solid"/>
          </a:ln>
        </p:spPr>
      </p:sp>
      <p:pic>
        <p:nvPicPr>
          <p:cNvPr id="20" name="Image 3" descr="preencoded.png">    </p:cNvPr>
          <p:cNvPicPr>
            <a:picLocks noChangeAspect="1"/>
          </p:cNvPicPr>
          <p:nvPr/>
        </p:nvPicPr>
        <p:blipFill>
          <a:blip r:embed="rId4"/>
          <a:stretch>
            <a:fillRect/>
          </a:stretch>
        </p:blipFill>
        <p:spPr>
          <a:xfrm>
            <a:off x="992124" y="4366260"/>
            <a:ext cx="228600" cy="228600"/>
          </a:xfrm>
          <a:prstGeom prst="rect">
            <a:avLst/>
          </a:prstGeom>
        </p:spPr>
      </p:pic>
      <p:sp>
        <p:nvSpPr>
          <p:cNvPr id="21" name="Text 15"/>
          <p:cNvSpPr txBox="1"/>
          <p:nvPr/>
        </p:nvSpPr>
        <p:spPr>
          <a:xfrm>
            <a:off x="1463040" y="412394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Memulai Node.js</a:t>
            </a:r>
            <a:endParaRPr lang="en-US" sz="1350" dirty="0"/>
          </a:p>
        </p:txBody>
      </p:sp>
      <p:sp>
        <p:nvSpPr>
          <p:cNvPr id="22" name="Text 16"/>
          <p:cNvSpPr txBox="1"/>
          <p:nvPr/>
        </p:nvSpPr>
        <p:spPr>
          <a:xfrm>
            <a:off x="1463040" y="448056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Instalasi, NVM, REPL, program pertama, dan struktur proyek</a:t>
            </a:r>
            <a:endParaRPr lang="en-US" sz="1050" dirty="0"/>
          </a:p>
        </p:txBody>
      </p:sp>
      <p:sp>
        <p:nvSpPr>
          <p:cNvPr id="23" name="Text 17"/>
          <p:cNvSpPr txBox="1"/>
          <p:nvPr/>
        </p:nvSpPr>
        <p:spPr>
          <a:xfrm>
            <a:off x="5157216" y="410565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03</a:t>
            </a:r>
            <a:endParaRPr lang="en-US" sz="1700" dirty="0"/>
          </a:p>
        </p:txBody>
      </p:sp>
      <p:sp>
        <p:nvSpPr>
          <p:cNvPr id="24" name="Shape 18"/>
          <p:cNvSpPr/>
          <p:nvPr/>
        </p:nvSpPr>
        <p:spPr>
          <a:xfrm>
            <a:off x="640080" y="516636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877824" y="5440680"/>
            <a:ext cx="457200" cy="457200"/>
          </a:xfrm>
          <a:prstGeom prst="roundRect">
            <a:avLst>
              <a:gd name="adj" fmla="val 26000"/>
            </a:avLst>
          </a:prstGeom>
          <a:solidFill>
            <a:srgbClr val="E8F2E2"/>
          </a:solidFill>
          <a:ln w="12700">
            <a:solidFill>
              <a:srgbClr val="E8F2E2"/>
            </a:solidFill>
            <a:prstDash val="solid"/>
          </a:ln>
        </p:spPr>
      </p:sp>
      <p:pic>
        <p:nvPicPr>
          <p:cNvPr id="26" name="Image 4" descr="preencoded.png">    </p:cNvPr>
          <p:cNvPicPr>
            <a:picLocks noChangeAspect="1"/>
          </p:cNvPicPr>
          <p:nvPr/>
        </p:nvPicPr>
        <p:blipFill>
          <a:blip r:embed="rId5"/>
          <a:stretch>
            <a:fillRect/>
          </a:stretch>
        </p:blipFill>
        <p:spPr>
          <a:xfrm>
            <a:off x="992124" y="5554980"/>
            <a:ext cx="228600" cy="228600"/>
          </a:xfrm>
          <a:prstGeom prst="rect">
            <a:avLst/>
          </a:prstGeom>
        </p:spPr>
      </p:pic>
      <p:sp>
        <p:nvSpPr>
          <p:cNvPr id="27" name="Text 20"/>
          <p:cNvSpPr txBox="1"/>
          <p:nvPr/>
        </p:nvSpPr>
        <p:spPr>
          <a:xfrm>
            <a:off x="1463040" y="531266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Modul &amp; NPM</a:t>
            </a:r>
            <a:endParaRPr lang="en-US" sz="1350" dirty="0"/>
          </a:p>
        </p:txBody>
      </p:sp>
      <p:sp>
        <p:nvSpPr>
          <p:cNvPr id="28" name="Text 21"/>
          <p:cNvSpPr txBox="1"/>
          <p:nvPr/>
        </p:nvSpPr>
        <p:spPr>
          <a:xfrm>
            <a:off x="1463040" y="566928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CommonJS vs ESM, core modules, package.json, dan semantic versioning</a:t>
            </a:r>
            <a:endParaRPr lang="en-US" sz="1050" dirty="0"/>
          </a:p>
        </p:txBody>
      </p:sp>
      <p:sp>
        <p:nvSpPr>
          <p:cNvPr id="29" name="Text 22"/>
          <p:cNvSpPr txBox="1"/>
          <p:nvPr/>
        </p:nvSpPr>
        <p:spPr>
          <a:xfrm>
            <a:off x="5157216" y="529437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04</a:t>
            </a:r>
            <a:endParaRPr lang="en-US" sz="1700" dirty="0"/>
          </a:p>
        </p:txBody>
      </p:sp>
      <p:sp>
        <p:nvSpPr>
          <p:cNvPr id="30" name="Shape 23"/>
          <p:cNvSpPr/>
          <p:nvPr/>
        </p:nvSpPr>
        <p:spPr>
          <a:xfrm>
            <a:off x="6318504" y="160020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4"/>
          <p:cNvSpPr/>
          <p:nvPr/>
        </p:nvSpPr>
        <p:spPr>
          <a:xfrm>
            <a:off x="6556248" y="1874520"/>
            <a:ext cx="457200" cy="457200"/>
          </a:xfrm>
          <a:prstGeom prst="roundRect">
            <a:avLst>
              <a:gd name="adj" fmla="val 26000"/>
            </a:avLst>
          </a:prstGeom>
          <a:solidFill>
            <a:srgbClr val="E8F2E2"/>
          </a:solidFill>
          <a:ln w="12700">
            <a:solidFill>
              <a:srgbClr val="E8F2E2"/>
            </a:solidFill>
            <a:prstDash val="solid"/>
          </a:ln>
        </p:spPr>
      </p:sp>
      <p:pic>
        <p:nvPicPr>
          <p:cNvPr id="32" name="Image 5" descr="preencoded.png">    </p:cNvPr>
          <p:cNvPicPr>
            <a:picLocks noChangeAspect="1"/>
          </p:cNvPicPr>
          <p:nvPr/>
        </p:nvPicPr>
        <p:blipFill>
          <a:blip r:embed="rId6"/>
          <a:stretch>
            <a:fillRect/>
          </a:stretch>
        </p:blipFill>
        <p:spPr>
          <a:xfrm>
            <a:off x="6670548" y="1988820"/>
            <a:ext cx="228600" cy="228600"/>
          </a:xfrm>
          <a:prstGeom prst="rect">
            <a:avLst/>
          </a:prstGeom>
        </p:spPr>
      </p:pic>
      <p:sp>
        <p:nvSpPr>
          <p:cNvPr id="33" name="Text 25"/>
          <p:cNvSpPr txBox="1"/>
          <p:nvPr/>
        </p:nvSpPr>
        <p:spPr>
          <a:xfrm>
            <a:off x="7141464" y="174650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Pemrograman Asinkron</a:t>
            </a:r>
            <a:endParaRPr lang="en-US" sz="1350" dirty="0"/>
          </a:p>
        </p:txBody>
      </p:sp>
      <p:sp>
        <p:nvSpPr>
          <p:cNvPr id="34" name="Text 26"/>
          <p:cNvSpPr txBox="1"/>
          <p:nvPr/>
        </p:nvSpPr>
        <p:spPr>
          <a:xfrm>
            <a:off x="7141464" y="210312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Callback, Promise, async/await, EventEmitter, Stream, dan Buffer</a:t>
            </a:r>
            <a:endParaRPr lang="en-US" sz="1050" dirty="0"/>
          </a:p>
        </p:txBody>
      </p:sp>
      <p:sp>
        <p:nvSpPr>
          <p:cNvPr id="35" name="Text 27"/>
          <p:cNvSpPr txBox="1"/>
          <p:nvPr/>
        </p:nvSpPr>
        <p:spPr>
          <a:xfrm>
            <a:off x="10835640" y="172821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05</a:t>
            </a:r>
            <a:endParaRPr lang="en-US" sz="1700" dirty="0"/>
          </a:p>
        </p:txBody>
      </p:sp>
      <p:sp>
        <p:nvSpPr>
          <p:cNvPr id="36" name="Shape 28"/>
          <p:cNvSpPr/>
          <p:nvPr/>
        </p:nvSpPr>
        <p:spPr>
          <a:xfrm>
            <a:off x="6318504" y="278892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9"/>
          <p:cNvSpPr/>
          <p:nvPr/>
        </p:nvSpPr>
        <p:spPr>
          <a:xfrm>
            <a:off x="6556248" y="3063240"/>
            <a:ext cx="457200" cy="457200"/>
          </a:xfrm>
          <a:prstGeom prst="roundRect">
            <a:avLst>
              <a:gd name="adj" fmla="val 26000"/>
            </a:avLst>
          </a:prstGeom>
          <a:solidFill>
            <a:srgbClr val="E8F2E2"/>
          </a:solidFill>
          <a:ln w="12700">
            <a:solidFill>
              <a:srgbClr val="E8F2E2"/>
            </a:solidFill>
            <a:prstDash val="solid"/>
          </a:ln>
        </p:spPr>
      </p:sp>
      <p:pic>
        <p:nvPicPr>
          <p:cNvPr id="38" name="Image 6" descr="preencoded.png">    </p:cNvPr>
          <p:cNvPicPr>
            <a:picLocks noChangeAspect="1"/>
          </p:cNvPicPr>
          <p:nvPr/>
        </p:nvPicPr>
        <p:blipFill>
          <a:blip r:embed="rId7"/>
          <a:stretch>
            <a:fillRect/>
          </a:stretch>
        </p:blipFill>
        <p:spPr>
          <a:xfrm>
            <a:off x="6670548" y="3177540"/>
            <a:ext cx="228600" cy="228600"/>
          </a:xfrm>
          <a:prstGeom prst="rect">
            <a:avLst/>
          </a:prstGeom>
        </p:spPr>
      </p:pic>
      <p:sp>
        <p:nvSpPr>
          <p:cNvPr id="39" name="Text 30"/>
          <p:cNvSpPr txBox="1"/>
          <p:nvPr/>
        </p:nvSpPr>
        <p:spPr>
          <a:xfrm>
            <a:off x="7141464" y="293522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Membangun Aplikasi</a:t>
            </a:r>
            <a:endParaRPr lang="en-US" sz="1350" dirty="0"/>
          </a:p>
        </p:txBody>
      </p:sp>
      <p:sp>
        <p:nvSpPr>
          <p:cNvPr id="40" name="Text 31"/>
          <p:cNvSpPr txBox="1"/>
          <p:nvPr/>
        </p:nvSpPr>
        <p:spPr>
          <a:xfrm>
            <a:off x="7141464" y="329184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File system, HTTP server, Express, REST API, database, dan konfigurasi</a:t>
            </a:r>
            <a:endParaRPr lang="en-US" sz="1050" dirty="0"/>
          </a:p>
        </p:txBody>
      </p:sp>
      <p:sp>
        <p:nvSpPr>
          <p:cNvPr id="41" name="Text 32"/>
          <p:cNvSpPr txBox="1"/>
          <p:nvPr/>
        </p:nvSpPr>
        <p:spPr>
          <a:xfrm>
            <a:off x="10835640" y="291693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06</a:t>
            </a:r>
            <a:endParaRPr lang="en-US" sz="1700" dirty="0"/>
          </a:p>
        </p:txBody>
      </p:sp>
      <p:sp>
        <p:nvSpPr>
          <p:cNvPr id="42" name="Shape 33"/>
          <p:cNvSpPr/>
          <p:nvPr/>
        </p:nvSpPr>
        <p:spPr>
          <a:xfrm>
            <a:off x="6318504" y="397764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3" name="Shape 34"/>
          <p:cNvSpPr/>
          <p:nvPr/>
        </p:nvSpPr>
        <p:spPr>
          <a:xfrm>
            <a:off x="6556248" y="4251960"/>
            <a:ext cx="457200" cy="457200"/>
          </a:xfrm>
          <a:prstGeom prst="roundRect">
            <a:avLst>
              <a:gd name="adj" fmla="val 26000"/>
            </a:avLst>
          </a:prstGeom>
          <a:solidFill>
            <a:srgbClr val="E8F2E2"/>
          </a:solidFill>
          <a:ln w="12700">
            <a:solidFill>
              <a:srgbClr val="E8F2E2"/>
            </a:solidFill>
            <a:prstDash val="solid"/>
          </a:ln>
        </p:spPr>
      </p:sp>
      <p:pic>
        <p:nvPicPr>
          <p:cNvPr id="44" name="Image 7" descr="preencoded.png">    </p:cNvPr>
          <p:cNvPicPr>
            <a:picLocks noChangeAspect="1"/>
          </p:cNvPicPr>
          <p:nvPr/>
        </p:nvPicPr>
        <p:blipFill>
          <a:blip r:embed="rId8"/>
          <a:stretch>
            <a:fillRect/>
          </a:stretch>
        </p:blipFill>
        <p:spPr>
          <a:xfrm>
            <a:off x="6670548" y="4366260"/>
            <a:ext cx="228600" cy="228600"/>
          </a:xfrm>
          <a:prstGeom prst="rect">
            <a:avLst/>
          </a:prstGeom>
        </p:spPr>
      </p:pic>
      <p:sp>
        <p:nvSpPr>
          <p:cNvPr id="45" name="Text 35"/>
          <p:cNvSpPr txBox="1"/>
          <p:nvPr/>
        </p:nvSpPr>
        <p:spPr>
          <a:xfrm>
            <a:off x="7141464" y="412394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Kualitas &amp; Produksi</a:t>
            </a:r>
            <a:endParaRPr lang="en-US" sz="1350" dirty="0"/>
          </a:p>
        </p:txBody>
      </p:sp>
      <p:sp>
        <p:nvSpPr>
          <p:cNvPr id="46" name="Text 36"/>
          <p:cNvSpPr txBox="1"/>
          <p:nvPr/>
        </p:nvSpPr>
        <p:spPr>
          <a:xfrm>
            <a:off x="7141464" y="448056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Testing, tooling, keamanan, performa, deployment, dan roadmap belajar</a:t>
            </a:r>
            <a:endParaRPr lang="en-US" sz="1050" dirty="0"/>
          </a:p>
        </p:txBody>
      </p:sp>
      <p:sp>
        <p:nvSpPr>
          <p:cNvPr id="47" name="Text 37"/>
          <p:cNvSpPr txBox="1"/>
          <p:nvPr/>
        </p:nvSpPr>
        <p:spPr>
          <a:xfrm>
            <a:off x="10835640" y="410565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07</a:t>
            </a:r>
            <a:endParaRPr lang="en-US" sz="1700" dirty="0"/>
          </a:p>
        </p:txBody>
      </p:sp>
      <p:sp>
        <p:nvSpPr>
          <p:cNvPr id="48" name="Text 38"/>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9" name="Text 39"/>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01</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Pengenalan Node.js</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Memahami apa itu Node.js, mengapa diciptakan, dan posisinya dalam ekosistem pengembangan perangkat lunak modern.</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Definisi dan karakteristik utama Node.js</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Sejarah dan garis waktu perkembangan</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Perbedaan JavaScript di peramban dan di Node.js</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Apa Itu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Runtime environment JavaScript yang berjalan di luar peramban</a:t>
            </a:r>
            <a:endParaRPr lang="en-US" sz="1300" dirty="0"/>
          </a:p>
        </p:txBody>
      </p:sp>
      <p:sp>
        <p:nvSpPr>
          <p:cNvPr id="6" name="Shape 3"/>
          <p:cNvSpPr/>
          <p:nvPr/>
        </p:nvSpPr>
        <p:spPr>
          <a:xfrm>
            <a:off x="640080" y="1572768"/>
            <a:ext cx="10972800" cy="1207008"/>
          </a:xfrm>
          <a:prstGeom prst="roundRect">
            <a:avLst>
              <a:gd name="adj" fmla="val 6818"/>
            </a:avLst>
          </a:prstGeom>
          <a:solidFill>
            <a:srgbClr val="E8F2E2"/>
          </a:solidFill>
          <a:ln w="12700">
            <a:solidFill>
              <a:srgbClr val="D2E5C8"/>
            </a:solidFill>
            <a:prstDash val="solid"/>
          </a:ln>
        </p:spPr>
      </p:sp>
      <p:sp>
        <p:nvSpPr>
          <p:cNvPr id="7" name="Text 4"/>
          <p:cNvSpPr txBox="1"/>
          <p:nvPr/>
        </p:nvSpPr>
        <p:spPr>
          <a:xfrm>
            <a:off x="914400" y="1719072"/>
            <a:ext cx="10424160" cy="914400"/>
          </a:xfrm>
          <a:prstGeom prst="rect">
            <a:avLst/>
          </a:prstGeom>
          <a:noFill/>
          <a:ln/>
        </p:spPr>
        <p:txBody>
          <a:bodyPr wrap="square" lIns="0" tIns="0" rIns="0" bIns="0" rtlCol="0" anchor="ctr"/>
          <a:lstStyle/>
          <a:p>
            <a:pPr indent="0" marL="0">
              <a:lnSpc>
                <a:spcPct val="118000"/>
              </a:lnSpc>
              <a:buNone/>
            </a:pPr>
            <a:r>
              <a:rPr lang="en-US" sz="1350" b="1" dirty="0">
                <a:solidFill>
                  <a:srgbClr val="3C873A"/>
                </a:solidFill>
                <a:latin typeface="Calibri" pitchFamily="34" charset="0"/>
                <a:ea typeface="Calibri" pitchFamily="34" charset="-122"/>
                <a:cs typeface="Calibri" pitchFamily="34" charset="-120"/>
              </a:rPr>
              <a:t>Node.js</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adalah runtime environment sumber terbuka dan lintas platform yang memungkinkan kode JavaScript dieksekusi di luar peramban. Node.js dibangun di atas mesin JavaScript </a:t>
            </a:r>
            <a:pPr indent="0" marL="0">
              <a:lnSpc>
                <a:spcPct val="118000"/>
              </a:lnSpc>
              <a:buNone/>
            </a:pPr>
            <a:r>
              <a:rPr lang="en-US" sz="1350" b="1" dirty="0">
                <a:solidFill>
                  <a:srgbClr val="16241B"/>
                </a:solidFill>
                <a:latin typeface="Calibri" pitchFamily="34" charset="0"/>
                <a:ea typeface="Calibri" pitchFamily="34" charset="-122"/>
                <a:cs typeface="Calibri" pitchFamily="34" charset="-120"/>
              </a:rPr>
              <a:t>V8</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milik Google Chrome dan menggunakan pustaka </a:t>
            </a:r>
            <a:pPr indent="0" marL="0">
              <a:lnSpc>
                <a:spcPct val="118000"/>
              </a:lnSpc>
              <a:buNone/>
            </a:pPr>
            <a:r>
              <a:rPr lang="en-US" sz="1350" b="1" dirty="0">
                <a:solidFill>
                  <a:srgbClr val="16241B"/>
                </a:solidFill>
                <a:latin typeface="Calibri" pitchFamily="34" charset="0"/>
                <a:ea typeface="Calibri" pitchFamily="34" charset="-122"/>
                <a:cs typeface="Calibri" pitchFamily="34" charset="-120"/>
              </a:rPr>
              <a:t>libuv</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untuk menangani operasi I/O secara asinkron dan non-blocking.</a:t>
            </a:r>
            <a:endParaRPr lang="en-US" sz="1350" dirty="0"/>
          </a:p>
        </p:txBody>
      </p:sp>
      <p:sp>
        <p:nvSpPr>
          <p:cNvPr id="8" name="Shape 5"/>
          <p:cNvSpPr/>
          <p:nvPr/>
        </p:nvSpPr>
        <p:spPr>
          <a:xfrm>
            <a:off x="640080" y="2962656"/>
            <a:ext cx="5349240" cy="1371600"/>
          </a:xfrm>
          <a:prstGeom prst="roundRect">
            <a:avLst>
              <a:gd name="adj" fmla="val 6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9" name="Shape 6"/>
          <p:cNvSpPr/>
          <p:nvPr/>
        </p:nvSpPr>
        <p:spPr>
          <a:xfrm>
            <a:off x="896112" y="3182112"/>
            <a:ext cx="457200" cy="457200"/>
          </a:xfrm>
          <a:prstGeom prst="roundRect">
            <a:avLst>
              <a:gd name="adj" fmla="val 26000"/>
            </a:avLst>
          </a:prstGeom>
          <a:solidFill>
            <a:srgbClr val="FBE9E7"/>
          </a:solidFill>
          <a:ln w="12700">
            <a:solidFill>
              <a:srgbClr val="FBE9E7"/>
            </a:solidFill>
            <a:prstDash val="solid"/>
          </a:ln>
        </p:spPr>
      </p:sp>
      <p:pic>
        <p:nvPicPr>
          <p:cNvPr id="10" name="Image 1" descr="preencoded.png">    </p:cNvPr>
          <p:cNvPicPr>
            <a:picLocks noChangeAspect="1"/>
          </p:cNvPicPr>
          <p:nvPr/>
        </p:nvPicPr>
        <p:blipFill>
          <a:blip r:embed="rId2"/>
          <a:stretch>
            <a:fillRect/>
          </a:stretch>
        </p:blipFill>
        <p:spPr>
          <a:xfrm>
            <a:off x="1010412" y="3296412"/>
            <a:ext cx="228600" cy="228600"/>
          </a:xfrm>
          <a:prstGeom prst="rect">
            <a:avLst/>
          </a:prstGeom>
        </p:spPr>
      </p:pic>
      <p:sp>
        <p:nvSpPr>
          <p:cNvPr id="11" name="Text 7"/>
          <p:cNvSpPr txBox="1"/>
          <p:nvPr/>
        </p:nvSpPr>
        <p:spPr>
          <a:xfrm>
            <a:off x="1499616" y="3182112"/>
            <a:ext cx="4233672" cy="45720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Node.js BUKAN...</a:t>
            </a:r>
            <a:endParaRPr lang="en-US" sz="1350" dirty="0"/>
          </a:p>
        </p:txBody>
      </p:sp>
      <p:sp>
        <p:nvSpPr>
          <p:cNvPr id="12" name="Text 8"/>
          <p:cNvSpPr txBox="1"/>
          <p:nvPr/>
        </p:nvSpPr>
        <p:spPr>
          <a:xfrm>
            <a:off x="896112" y="3749040"/>
            <a:ext cx="4837176" cy="420624"/>
          </a:xfrm>
          <a:prstGeom prst="rect">
            <a:avLst/>
          </a:prstGeom>
          <a:noFill/>
          <a:ln/>
        </p:spPr>
        <p:txBody>
          <a:bodyPr wrap="square" lIns="0" tIns="0" rIns="0" bIns="0" rtlCol="0" anchor="t"/>
          <a:lstStyle/>
          <a:p>
            <a:pPr indent="0" marL="0">
              <a:lnSpc>
                <a:spcPct val="112000"/>
              </a:lnSpc>
              <a:buNone/>
            </a:pPr>
            <a:r>
              <a:rPr lang="en-US" sz="1150" dirty="0">
                <a:solidFill>
                  <a:srgbClr val="5F6F62"/>
                </a:solidFill>
                <a:latin typeface="Calibri" pitchFamily="34" charset="0"/>
                <a:ea typeface="Calibri" pitchFamily="34" charset="-122"/>
                <a:cs typeface="Calibri" pitchFamily="34" charset="-120"/>
              </a:rPr>
              <a:t>Bukan bahasa pemrograman, bukan framework, dan bukan pustaka. Bahasa yang digunakan tetap JavaScript.</a:t>
            </a:r>
            <a:endParaRPr lang="en-US" sz="1150" dirty="0"/>
          </a:p>
        </p:txBody>
      </p:sp>
      <p:sp>
        <p:nvSpPr>
          <p:cNvPr id="13" name="Shape 9"/>
          <p:cNvSpPr/>
          <p:nvPr/>
        </p:nvSpPr>
        <p:spPr>
          <a:xfrm>
            <a:off x="6263640" y="2962656"/>
            <a:ext cx="5349240" cy="1371600"/>
          </a:xfrm>
          <a:prstGeom prst="roundRect">
            <a:avLst>
              <a:gd name="adj" fmla="val 6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6519672" y="3182112"/>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6633972" y="3296412"/>
            <a:ext cx="228600" cy="228600"/>
          </a:xfrm>
          <a:prstGeom prst="rect">
            <a:avLst/>
          </a:prstGeom>
        </p:spPr>
      </p:pic>
      <p:sp>
        <p:nvSpPr>
          <p:cNvPr id="16" name="Text 11"/>
          <p:cNvSpPr txBox="1"/>
          <p:nvPr/>
        </p:nvSpPr>
        <p:spPr>
          <a:xfrm>
            <a:off x="7123176" y="3182112"/>
            <a:ext cx="4233672" cy="45720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Node.js ADALAH...</a:t>
            </a:r>
            <a:endParaRPr lang="en-US" sz="1350" dirty="0"/>
          </a:p>
        </p:txBody>
      </p:sp>
      <p:sp>
        <p:nvSpPr>
          <p:cNvPr id="17" name="Text 12"/>
          <p:cNvSpPr txBox="1"/>
          <p:nvPr/>
        </p:nvSpPr>
        <p:spPr>
          <a:xfrm>
            <a:off x="6519672" y="3749040"/>
            <a:ext cx="4837176" cy="420624"/>
          </a:xfrm>
          <a:prstGeom prst="rect">
            <a:avLst/>
          </a:prstGeom>
          <a:noFill/>
          <a:ln/>
        </p:spPr>
        <p:txBody>
          <a:bodyPr wrap="square" lIns="0" tIns="0" rIns="0" bIns="0" rtlCol="0" anchor="t"/>
          <a:lstStyle/>
          <a:p>
            <a:pPr indent="0" marL="0">
              <a:lnSpc>
                <a:spcPct val="112000"/>
              </a:lnSpc>
              <a:buNone/>
            </a:pPr>
            <a:r>
              <a:rPr lang="en-US" sz="1150" dirty="0">
                <a:solidFill>
                  <a:srgbClr val="5F6F62"/>
                </a:solidFill>
                <a:latin typeface="Calibri" pitchFamily="34" charset="0"/>
                <a:ea typeface="Calibri" pitchFamily="34" charset="-122"/>
                <a:cs typeface="Calibri" pitchFamily="34" charset="-120"/>
              </a:rPr>
              <a:t>Lingkungan eksekusi yang menyediakan API sistem: berkas, jaringan, proses, dan kriptografi.</a:t>
            </a:r>
            <a:endParaRPr lang="en-US" sz="1150" dirty="0"/>
          </a:p>
        </p:txBody>
      </p:sp>
      <p:sp>
        <p:nvSpPr>
          <p:cNvPr id="18" name="Shape 13"/>
          <p:cNvSpPr/>
          <p:nvPr/>
        </p:nvSpPr>
        <p:spPr>
          <a:xfrm>
            <a:off x="640080" y="4572000"/>
            <a:ext cx="2606040" cy="1188720"/>
          </a:xfrm>
          <a:prstGeom prst="roundRect">
            <a:avLst>
              <a:gd name="adj" fmla="val 6923"/>
            </a:avLst>
          </a:prstGeom>
          <a:solidFill>
            <a:srgbClr val="FFFFFF"/>
          </a:solidFill>
          <a:ln w="12700">
            <a:solidFill>
              <a:srgbClr val="E3EBDF"/>
            </a:solidFill>
            <a:prstDash val="solid"/>
          </a:ln>
        </p:spPr>
      </p:sp>
      <p:sp>
        <p:nvSpPr>
          <p:cNvPr id="19" name="Text 14"/>
          <p:cNvSpPr txBox="1"/>
          <p:nvPr/>
        </p:nvSpPr>
        <p:spPr>
          <a:xfrm>
            <a:off x="84124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2009</a:t>
            </a:r>
            <a:endParaRPr lang="en-US" sz="2300" dirty="0"/>
          </a:p>
        </p:txBody>
      </p:sp>
      <p:sp>
        <p:nvSpPr>
          <p:cNvPr id="20" name="Text 15"/>
          <p:cNvSpPr txBox="1"/>
          <p:nvPr/>
        </p:nvSpPr>
        <p:spPr>
          <a:xfrm>
            <a:off x="84124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Tahun rilis pertama Node.js</a:t>
            </a:r>
            <a:endParaRPr lang="en-US" sz="1050" dirty="0"/>
          </a:p>
        </p:txBody>
      </p:sp>
      <p:sp>
        <p:nvSpPr>
          <p:cNvPr id="21" name="Shape 16"/>
          <p:cNvSpPr/>
          <p:nvPr/>
        </p:nvSpPr>
        <p:spPr>
          <a:xfrm>
            <a:off x="3429000" y="4572000"/>
            <a:ext cx="2606040" cy="1188720"/>
          </a:xfrm>
          <a:prstGeom prst="roundRect">
            <a:avLst>
              <a:gd name="adj" fmla="val 6923"/>
            </a:avLst>
          </a:prstGeom>
          <a:solidFill>
            <a:srgbClr val="FFFFFF"/>
          </a:solidFill>
          <a:ln w="12700">
            <a:solidFill>
              <a:srgbClr val="E3EBDF"/>
            </a:solidFill>
            <a:prstDash val="solid"/>
          </a:ln>
        </p:spPr>
      </p:sp>
      <p:sp>
        <p:nvSpPr>
          <p:cNvPr id="22" name="Text 17"/>
          <p:cNvSpPr txBox="1"/>
          <p:nvPr/>
        </p:nvSpPr>
        <p:spPr>
          <a:xfrm>
            <a:off x="363016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3+ juta</a:t>
            </a:r>
            <a:endParaRPr lang="en-US" sz="2300" dirty="0"/>
          </a:p>
        </p:txBody>
      </p:sp>
      <p:sp>
        <p:nvSpPr>
          <p:cNvPr id="23" name="Text 18"/>
          <p:cNvSpPr txBox="1"/>
          <p:nvPr/>
        </p:nvSpPr>
        <p:spPr>
          <a:xfrm>
            <a:off x="363016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Paket tersedia di registry NPM</a:t>
            </a:r>
            <a:endParaRPr lang="en-US" sz="1050" dirty="0"/>
          </a:p>
        </p:txBody>
      </p:sp>
      <p:sp>
        <p:nvSpPr>
          <p:cNvPr id="24" name="Shape 19"/>
          <p:cNvSpPr/>
          <p:nvPr/>
        </p:nvSpPr>
        <p:spPr>
          <a:xfrm>
            <a:off x="6217920" y="4572000"/>
            <a:ext cx="2606040" cy="1188720"/>
          </a:xfrm>
          <a:prstGeom prst="roundRect">
            <a:avLst>
              <a:gd name="adj" fmla="val 6923"/>
            </a:avLst>
          </a:prstGeom>
          <a:solidFill>
            <a:srgbClr val="FFFFFF"/>
          </a:solidFill>
          <a:ln w="12700">
            <a:solidFill>
              <a:srgbClr val="E3EBDF"/>
            </a:solidFill>
            <a:prstDash val="solid"/>
          </a:ln>
        </p:spPr>
      </p:sp>
      <p:sp>
        <p:nvSpPr>
          <p:cNvPr id="25" name="Text 20"/>
          <p:cNvSpPr txBox="1"/>
          <p:nvPr/>
        </p:nvSpPr>
        <p:spPr>
          <a:xfrm>
            <a:off x="641908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30 bulan</a:t>
            </a:r>
            <a:endParaRPr lang="en-US" sz="2300" dirty="0"/>
          </a:p>
        </p:txBody>
      </p:sp>
      <p:sp>
        <p:nvSpPr>
          <p:cNvPr id="26" name="Text 21"/>
          <p:cNvSpPr txBox="1"/>
          <p:nvPr/>
        </p:nvSpPr>
        <p:spPr>
          <a:xfrm>
            <a:off x="641908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Masa dukungan setiap rilis LTS</a:t>
            </a:r>
            <a:endParaRPr lang="en-US" sz="1050" dirty="0"/>
          </a:p>
        </p:txBody>
      </p:sp>
      <p:sp>
        <p:nvSpPr>
          <p:cNvPr id="27" name="Shape 22"/>
          <p:cNvSpPr/>
          <p:nvPr/>
        </p:nvSpPr>
        <p:spPr>
          <a:xfrm>
            <a:off x="9006840" y="4572000"/>
            <a:ext cx="2606040" cy="1188720"/>
          </a:xfrm>
          <a:prstGeom prst="roundRect">
            <a:avLst>
              <a:gd name="adj" fmla="val 6923"/>
            </a:avLst>
          </a:prstGeom>
          <a:solidFill>
            <a:srgbClr val="FFFFFF"/>
          </a:solidFill>
          <a:ln w="12700">
            <a:solidFill>
              <a:srgbClr val="E3EBDF"/>
            </a:solidFill>
            <a:prstDash val="solid"/>
          </a:ln>
        </p:spPr>
      </p:sp>
      <p:sp>
        <p:nvSpPr>
          <p:cNvPr id="28" name="Text 23"/>
          <p:cNvSpPr txBox="1"/>
          <p:nvPr/>
        </p:nvSpPr>
        <p:spPr>
          <a:xfrm>
            <a:off x="920800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V8</a:t>
            </a:r>
            <a:endParaRPr lang="en-US" sz="2300" dirty="0"/>
          </a:p>
        </p:txBody>
      </p:sp>
      <p:sp>
        <p:nvSpPr>
          <p:cNvPr id="29" name="Text 24"/>
          <p:cNvSpPr txBox="1"/>
          <p:nvPr/>
        </p:nvSpPr>
        <p:spPr>
          <a:xfrm>
            <a:off x="920800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Mesin JavaScript yang digunakan</a:t>
            </a:r>
            <a:endParaRPr lang="en-US" sz="1050" dirty="0"/>
          </a:p>
        </p:txBody>
      </p:sp>
      <p:sp>
        <p:nvSpPr>
          <p:cNvPr id="30"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1"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Sejarah &amp; Perkembangan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Dari eksperimen Ryan Dahl hingga proyek OpenJS Foundation berskala global</a:t>
            </a:r>
            <a:endParaRPr lang="en-US" sz="1300" dirty="0"/>
          </a:p>
        </p:txBody>
      </p:sp>
      <p:sp>
        <p:nvSpPr>
          <p:cNvPr id="6" name="Shape 3"/>
          <p:cNvSpPr/>
          <p:nvPr/>
        </p:nvSpPr>
        <p:spPr>
          <a:xfrm>
            <a:off x="640080"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41248" y="1828800"/>
            <a:ext cx="969264" cy="365760"/>
          </a:xfrm>
          <a:prstGeom prst="roundRect">
            <a:avLst>
              <a:gd name="adj" fmla="val 50000"/>
            </a:avLst>
          </a:prstGeom>
          <a:solidFill>
            <a:srgbClr val="3C873A"/>
          </a:solidFill>
          <a:ln w="12700">
            <a:solidFill>
              <a:srgbClr val="3C873A"/>
            </a:solidFill>
            <a:prstDash val="solid"/>
          </a:ln>
        </p:spPr>
      </p:sp>
      <p:sp>
        <p:nvSpPr>
          <p:cNvPr id="8" name="Text 5"/>
          <p:cNvSpPr txBox="1"/>
          <p:nvPr/>
        </p:nvSpPr>
        <p:spPr>
          <a:xfrm>
            <a:off x="841248"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2009</a:t>
            </a:r>
            <a:endParaRPr lang="en-US" sz="1200" dirty="0"/>
          </a:p>
        </p:txBody>
      </p:sp>
      <p:sp>
        <p:nvSpPr>
          <p:cNvPr id="9" name="Text 6"/>
          <p:cNvSpPr txBox="1"/>
          <p:nvPr/>
        </p:nvSpPr>
        <p:spPr>
          <a:xfrm>
            <a:off x="841248"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Kelahiran</a:t>
            </a:r>
            <a:endParaRPr lang="en-US" sz="1250" dirty="0"/>
          </a:p>
        </p:txBody>
      </p:sp>
      <p:sp>
        <p:nvSpPr>
          <p:cNvPr id="10" name="Text 7"/>
          <p:cNvSpPr txBox="1"/>
          <p:nvPr/>
        </p:nvSpPr>
        <p:spPr>
          <a:xfrm>
            <a:off x="841248"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Ryan Dahl memperkenalkan Node.js di JSConf EU sebagai jawaban atas masalah blocking I/O pada server tradisional.</a:t>
            </a:r>
            <a:endParaRPr lang="en-US" sz="1020" dirty="0"/>
          </a:p>
        </p:txBody>
      </p:sp>
      <p:pic>
        <p:nvPicPr>
          <p:cNvPr id="11" name="Image 1" descr="preencoded.png">    </p:cNvPr>
          <p:cNvPicPr>
            <a:picLocks noChangeAspect="1"/>
          </p:cNvPicPr>
          <p:nvPr/>
        </p:nvPicPr>
        <p:blipFill>
          <a:blip r:embed="rId2"/>
          <a:stretch>
            <a:fillRect/>
          </a:stretch>
        </p:blipFill>
        <p:spPr>
          <a:xfrm>
            <a:off x="2642616" y="2743200"/>
            <a:ext cx="201168" cy="201168"/>
          </a:xfrm>
          <a:prstGeom prst="rect">
            <a:avLst/>
          </a:prstGeom>
        </p:spPr>
      </p:pic>
      <p:sp>
        <p:nvSpPr>
          <p:cNvPr id="12" name="Shape 8"/>
          <p:cNvSpPr/>
          <p:nvPr/>
        </p:nvSpPr>
        <p:spPr>
          <a:xfrm>
            <a:off x="2871216"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3072384" y="1828800"/>
            <a:ext cx="969264" cy="365760"/>
          </a:xfrm>
          <a:prstGeom prst="roundRect">
            <a:avLst>
              <a:gd name="adj" fmla="val 50000"/>
            </a:avLst>
          </a:prstGeom>
          <a:solidFill>
            <a:srgbClr val="3C873A"/>
          </a:solidFill>
          <a:ln w="12700">
            <a:solidFill>
              <a:srgbClr val="3C873A"/>
            </a:solidFill>
            <a:prstDash val="solid"/>
          </a:ln>
        </p:spPr>
      </p:sp>
      <p:sp>
        <p:nvSpPr>
          <p:cNvPr id="14" name="Text 10"/>
          <p:cNvSpPr txBox="1"/>
          <p:nvPr/>
        </p:nvSpPr>
        <p:spPr>
          <a:xfrm>
            <a:off x="3072384"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2010</a:t>
            </a:r>
            <a:endParaRPr lang="en-US" sz="1200" dirty="0"/>
          </a:p>
        </p:txBody>
      </p:sp>
      <p:sp>
        <p:nvSpPr>
          <p:cNvPr id="15" name="Text 11"/>
          <p:cNvSpPr txBox="1"/>
          <p:nvPr/>
        </p:nvSpPr>
        <p:spPr>
          <a:xfrm>
            <a:off x="3072384"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NPM Hadir</a:t>
            </a:r>
            <a:endParaRPr lang="en-US" sz="1250" dirty="0"/>
          </a:p>
        </p:txBody>
      </p:sp>
      <p:sp>
        <p:nvSpPr>
          <p:cNvPr id="16" name="Text 12"/>
          <p:cNvSpPr txBox="1"/>
          <p:nvPr/>
        </p:nvSpPr>
        <p:spPr>
          <a:xfrm>
            <a:off x="3072384"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Isaac Schlueter merilis NPM sebagai package manager, yang kemudian menjadi registry perangkat lunak terbesar di dunia.</a:t>
            </a:r>
            <a:endParaRPr lang="en-US" sz="1020" dirty="0"/>
          </a:p>
        </p:txBody>
      </p:sp>
      <p:pic>
        <p:nvPicPr>
          <p:cNvPr id="17" name="Image 2" descr="preencoded.png">    </p:cNvPr>
          <p:cNvPicPr>
            <a:picLocks noChangeAspect="1"/>
          </p:cNvPicPr>
          <p:nvPr/>
        </p:nvPicPr>
        <p:blipFill>
          <a:blip r:embed="rId3"/>
          <a:stretch>
            <a:fillRect/>
          </a:stretch>
        </p:blipFill>
        <p:spPr>
          <a:xfrm>
            <a:off x="4873752" y="2743200"/>
            <a:ext cx="201168" cy="201168"/>
          </a:xfrm>
          <a:prstGeom prst="rect">
            <a:avLst/>
          </a:prstGeom>
        </p:spPr>
      </p:pic>
      <p:sp>
        <p:nvSpPr>
          <p:cNvPr id="18" name="Shape 13"/>
          <p:cNvSpPr/>
          <p:nvPr/>
        </p:nvSpPr>
        <p:spPr>
          <a:xfrm>
            <a:off x="5102352"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5303520" y="1828800"/>
            <a:ext cx="969264" cy="365760"/>
          </a:xfrm>
          <a:prstGeom prst="roundRect">
            <a:avLst>
              <a:gd name="adj" fmla="val 50000"/>
            </a:avLst>
          </a:prstGeom>
          <a:solidFill>
            <a:srgbClr val="3C873A"/>
          </a:solidFill>
          <a:ln w="12700">
            <a:solidFill>
              <a:srgbClr val="3C873A"/>
            </a:solidFill>
            <a:prstDash val="solid"/>
          </a:ln>
        </p:spPr>
      </p:sp>
      <p:sp>
        <p:nvSpPr>
          <p:cNvPr id="20" name="Text 15"/>
          <p:cNvSpPr txBox="1"/>
          <p:nvPr/>
        </p:nvSpPr>
        <p:spPr>
          <a:xfrm>
            <a:off x="5303520"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2015</a:t>
            </a:r>
            <a:endParaRPr lang="en-US" sz="1200" dirty="0"/>
          </a:p>
        </p:txBody>
      </p:sp>
      <p:sp>
        <p:nvSpPr>
          <p:cNvPr id="21" name="Text 16"/>
          <p:cNvSpPr txBox="1"/>
          <p:nvPr/>
        </p:nvSpPr>
        <p:spPr>
          <a:xfrm>
            <a:off x="5303520"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Penyatuan io.js</a:t>
            </a:r>
            <a:endParaRPr lang="en-US" sz="1250" dirty="0"/>
          </a:p>
        </p:txBody>
      </p:sp>
      <p:sp>
        <p:nvSpPr>
          <p:cNvPr id="22" name="Text 17"/>
          <p:cNvSpPr txBox="1"/>
          <p:nvPr/>
        </p:nvSpPr>
        <p:spPr>
          <a:xfrm>
            <a:off x="5303520"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Setelah perpecahan menjadi io.js, kedua proyek bersatu di bawah Node.js Foundation dan merilis Node.js 4.0.</a:t>
            </a:r>
            <a:endParaRPr lang="en-US" sz="1020" dirty="0"/>
          </a:p>
        </p:txBody>
      </p:sp>
      <p:pic>
        <p:nvPicPr>
          <p:cNvPr id="23" name="Image 3" descr="preencoded.png">    </p:cNvPr>
          <p:cNvPicPr>
            <a:picLocks noChangeAspect="1"/>
          </p:cNvPicPr>
          <p:nvPr/>
        </p:nvPicPr>
        <p:blipFill>
          <a:blip r:embed="rId4"/>
          <a:stretch>
            <a:fillRect/>
          </a:stretch>
        </p:blipFill>
        <p:spPr>
          <a:xfrm>
            <a:off x="7104888" y="2743200"/>
            <a:ext cx="201168" cy="201168"/>
          </a:xfrm>
          <a:prstGeom prst="rect">
            <a:avLst/>
          </a:prstGeom>
        </p:spPr>
      </p:pic>
      <p:sp>
        <p:nvSpPr>
          <p:cNvPr id="24" name="Shape 18"/>
          <p:cNvSpPr/>
          <p:nvPr/>
        </p:nvSpPr>
        <p:spPr>
          <a:xfrm>
            <a:off x="7333488"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7534656" y="1828800"/>
            <a:ext cx="969264" cy="365760"/>
          </a:xfrm>
          <a:prstGeom prst="roundRect">
            <a:avLst>
              <a:gd name="adj" fmla="val 50000"/>
            </a:avLst>
          </a:prstGeom>
          <a:solidFill>
            <a:srgbClr val="3C873A"/>
          </a:solidFill>
          <a:ln w="12700">
            <a:solidFill>
              <a:srgbClr val="3C873A"/>
            </a:solidFill>
            <a:prstDash val="solid"/>
          </a:ln>
        </p:spPr>
      </p:sp>
      <p:sp>
        <p:nvSpPr>
          <p:cNvPr id="26" name="Text 20"/>
          <p:cNvSpPr txBox="1"/>
          <p:nvPr/>
        </p:nvSpPr>
        <p:spPr>
          <a:xfrm>
            <a:off x="7534656"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27" name="Text 21"/>
          <p:cNvSpPr txBox="1"/>
          <p:nvPr/>
        </p:nvSpPr>
        <p:spPr>
          <a:xfrm>
            <a:off x="7534656"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OpenJS Foundation</a:t>
            </a:r>
            <a:endParaRPr lang="en-US" sz="1250" dirty="0"/>
          </a:p>
        </p:txBody>
      </p:sp>
      <p:sp>
        <p:nvSpPr>
          <p:cNvPr id="28" name="Text 22"/>
          <p:cNvSpPr txBox="1"/>
          <p:nvPr/>
        </p:nvSpPr>
        <p:spPr>
          <a:xfrm>
            <a:off x="7534656"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Node.js Foundation bergabung dengan JS Foundation membentuk OpenJS Foundation sebagai pengelola resmi.</a:t>
            </a:r>
            <a:endParaRPr lang="en-US" sz="1020" dirty="0"/>
          </a:p>
        </p:txBody>
      </p:sp>
      <p:pic>
        <p:nvPicPr>
          <p:cNvPr id="29" name="Image 4" descr="preencoded.png">    </p:cNvPr>
          <p:cNvPicPr>
            <a:picLocks noChangeAspect="1"/>
          </p:cNvPicPr>
          <p:nvPr/>
        </p:nvPicPr>
        <p:blipFill>
          <a:blip r:embed="rId5"/>
          <a:stretch>
            <a:fillRect/>
          </a:stretch>
        </p:blipFill>
        <p:spPr>
          <a:xfrm>
            <a:off x="9336024" y="2743200"/>
            <a:ext cx="201168" cy="201168"/>
          </a:xfrm>
          <a:prstGeom prst="rect">
            <a:avLst/>
          </a:prstGeom>
        </p:spPr>
      </p:pic>
      <p:sp>
        <p:nvSpPr>
          <p:cNvPr id="30" name="Shape 23"/>
          <p:cNvSpPr/>
          <p:nvPr/>
        </p:nvSpPr>
        <p:spPr>
          <a:xfrm>
            <a:off x="9564624"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4"/>
          <p:cNvSpPr/>
          <p:nvPr/>
        </p:nvSpPr>
        <p:spPr>
          <a:xfrm>
            <a:off x="9765792" y="1828800"/>
            <a:ext cx="969264" cy="365760"/>
          </a:xfrm>
          <a:prstGeom prst="roundRect">
            <a:avLst>
              <a:gd name="adj" fmla="val 50000"/>
            </a:avLst>
          </a:prstGeom>
          <a:solidFill>
            <a:srgbClr val="3C873A"/>
          </a:solidFill>
          <a:ln w="12700">
            <a:solidFill>
              <a:srgbClr val="3C873A"/>
            </a:solidFill>
            <a:prstDash val="solid"/>
          </a:ln>
        </p:spPr>
      </p:sp>
      <p:sp>
        <p:nvSpPr>
          <p:cNvPr id="32" name="Text 25"/>
          <p:cNvSpPr txBox="1"/>
          <p:nvPr/>
        </p:nvSpPr>
        <p:spPr>
          <a:xfrm>
            <a:off x="9765792"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Kini</a:t>
            </a:r>
            <a:endParaRPr lang="en-US" sz="1200" dirty="0"/>
          </a:p>
        </p:txBody>
      </p:sp>
      <p:sp>
        <p:nvSpPr>
          <p:cNvPr id="33" name="Text 26"/>
          <p:cNvSpPr txBox="1"/>
          <p:nvPr/>
        </p:nvSpPr>
        <p:spPr>
          <a:xfrm>
            <a:off x="9765792"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Matang &amp; Stabil</a:t>
            </a:r>
            <a:endParaRPr lang="en-US" sz="1250" dirty="0"/>
          </a:p>
        </p:txBody>
      </p:sp>
      <p:sp>
        <p:nvSpPr>
          <p:cNvPr id="34" name="Text 27"/>
          <p:cNvSpPr txBox="1"/>
          <p:nvPr/>
        </p:nvSpPr>
        <p:spPr>
          <a:xfrm>
            <a:off x="9765792"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Rilis LTS berkala tiap tahun, dukungan ESM penuh, worker threads, test runner bawaan, dan fetch API native.</a:t>
            </a:r>
            <a:endParaRPr lang="en-US" sz="1020" dirty="0"/>
          </a:p>
        </p:txBody>
      </p:sp>
      <p:sp>
        <p:nvSpPr>
          <p:cNvPr id="35" name="Shape 28"/>
          <p:cNvSpPr/>
          <p:nvPr/>
        </p:nvSpPr>
        <p:spPr>
          <a:xfrm>
            <a:off x="640080" y="4315968"/>
            <a:ext cx="10972800" cy="1170432"/>
          </a:xfrm>
          <a:prstGeom prst="roundRect">
            <a:avLst>
              <a:gd name="adj" fmla="val 7031"/>
            </a:avLst>
          </a:prstGeom>
          <a:solidFill>
            <a:srgbClr val="E8F2E2"/>
          </a:solidFill>
          <a:ln w="12700">
            <a:solidFill>
              <a:srgbClr val="D2E5C8"/>
            </a:solidFill>
            <a:prstDash val="solid"/>
          </a:ln>
        </p:spPr>
      </p:sp>
      <p:pic>
        <p:nvPicPr>
          <p:cNvPr id="36" name="Image 5" descr="preencoded.png">    </p:cNvPr>
          <p:cNvPicPr>
            <a:picLocks noChangeAspect="1"/>
          </p:cNvPicPr>
          <p:nvPr/>
        </p:nvPicPr>
        <p:blipFill>
          <a:blip r:embed="rId6"/>
          <a:stretch>
            <a:fillRect/>
          </a:stretch>
        </p:blipFill>
        <p:spPr>
          <a:xfrm>
            <a:off x="914400" y="4709160"/>
            <a:ext cx="384048" cy="384048"/>
          </a:xfrm>
          <a:prstGeom prst="rect">
            <a:avLst/>
          </a:prstGeom>
        </p:spPr>
      </p:pic>
      <p:sp>
        <p:nvSpPr>
          <p:cNvPr id="37" name="Text 29"/>
          <p:cNvSpPr txBox="1"/>
          <p:nvPr/>
        </p:nvSpPr>
        <p:spPr>
          <a:xfrm>
            <a:off x="1481328" y="4462272"/>
            <a:ext cx="9921240" cy="877824"/>
          </a:xfrm>
          <a:prstGeom prst="rect">
            <a:avLst/>
          </a:prstGeom>
          <a:noFill/>
          <a:ln/>
        </p:spPr>
        <p:txBody>
          <a:bodyPr wrap="square" lIns="0" tIns="0" rIns="0" bIns="0" rtlCol="0" anchor="ctr"/>
          <a:lstStyle/>
          <a:p>
            <a:pPr indent="0" marL="0">
              <a:lnSpc>
                <a:spcPct val="115000"/>
              </a:lnSpc>
              <a:buNone/>
            </a:pPr>
            <a:r>
              <a:rPr lang="en-US" sz="1200" b="1" dirty="0">
                <a:solidFill>
                  <a:srgbClr val="3C873A"/>
                </a:solidFill>
                <a:latin typeface="Calibri" pitchFamily="34" charset="0"/>
                <a:ea typeface="Calibri" pitchFamily="34" charset="-122"/>
                <a:cs typeface="Calibri" pitchFamily="34" charset="-120"/>
              </a:rPr>
              <a:t>Masalah yang dipecahkan: </a:t>
            </a:r>
            <a:pPr indent="0" marL="0">
              <a:lnSpc>
                <a:spcPct val="115000"/>
              </a:lnSpc>
              <a:buNone/>
            </a:pPr>
            <a:r>
              <a:rPr lang="en-US" sz="1200" dirty="0">
                <a:solidFill>
                  <a:srgbClr val="2C4433"/>
                </a:solidFill>
                <a:latin typeface="Calibri" pitchFamily="34" charset="0"/>
                <a:ea typeface="Calibri" pitchFamily="34" charset="-122"/>
                <a:cs typeface="Calibri" pitchFamily="34" charset="-120"/>
              </a:rPr>
              <a:t>server konvensional membuat satu thread untuk setiap koneksi sehingga boros memori ketika ribuan koneksi terbuka bersamaan. Node.js menawarkan satu thread dengan event loop yang menangani banyak koneksi secara bergantian — pendekatan yang jauh lebih hemat sumber daya untuk aplikasi I/O-intensif.</a:t>
            </a:r>
            <a:endParaRPr lang="en-US" sz="1200" dirty="0"/>
          </a:p>
        </p:txBody>
      </p:sp>
      <p:sp>
        <p:nvSpPr>
          <p:cNvPr id="38" name="Text 3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Karakteristik Utama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Enam sifat mendasar yang membedakan Node.js dari platform server lain</a:t>
            </a:r>
            <a:endParaRPr lang="en-US" sz="1300" dirty="0"/>
          </a:p>
        </p:txBody>
      </p:sp>
      <p:sp>
        <p:nvSpPr>
          <p:cNvPr id="6" name="Shape 3"/>
          <p:cNvSpPr/>
          <p:nvPr/>
        </p:nvSpPr>
        <p:spPr>
          <a:xfrm>
            <a:off x="640080"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65376"/>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79676"/>
            <a:ext cx="228600" cy="228600"/>
          </a:xfrm>
          <a:prstGeom prst="rect">
            <a:avLst/>
          </a:prstGeom>
        </p:spPr>
      </p:pic>
      <p:sp>
        <p:nvSpPr>
          <p:cNvPr id="9" name="Text 5"/>
          <p:cNvSpPr txBox="1"/>
          <p:nvPr/>
        </p:nvSpPr>
        <p:spPr>
          <a:xfrm>
            <a:off x="1499616"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Asinkron &amp; Non-Blocking</a:t>
            </a:r>
            <a:endParaRPr lang="en-US" sz="1250" dirty="0"/>
          </a:p>
        </p:txBody>
      </p:sp>
      <p:sp>
        <p:nvSpPr>
          <p:cNvPr id="10" name="Text 6"/>
          <p:cNvSpPr txBox="1"/>
          <p:nvPr/>
        </p:nvSpPr>
        <p:spPr>
          <a:xfrm>
            <a:off x="896112"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I/O berjalan tanpa menghentikan eksekusi. Node.js melanjutkan tugas lain sambil menunggu hasil.</a:t>
            </a:r>
            <a:endParaRPr lang="en-US" sz="1080" dirty="0"/>
          </a:p>
        </p:txBody>
      </p:sp>
      <p:sp>
        <p:nvSpPr>
          <p:cNvPr id="11" name="Shape 7"/>
          <p:cNvSpPr/>
          <p:nvPr/>
        </p:nvSpPr>
        <p:spPr>
          <a:xfrm>
            <a:off x="4443984"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65376"/>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79676"/>
            <a:ext cx="228600" cy="228600"/>
          </a:xfrm>
          <a:prstGeom prst="rect">
            <a:avLst/>
          </a:prstGeom>
        </p:spPr>
      </p:pic>
      <p:sp>
        <p:nvSpPr>
          <p:cNvPr id="14" name="Text 9"/>
          <p:cNvSpPr txBox="1"/>
          <p:nvPr/>
        </p:nvSpPr>
        <p:spPr>
          <a:xfrm>
            <a:off x="5303520"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Single-Threaded Event Loop</a:t>
            </a:r>
            <a:endParaRPr lang="en-US" sz="1250" dirty="0"/>
          </a:p>
        </p:txBody>
      </p:sp>
      <p:sp>
        <p:nvSpPr>
          <p:cNvPr id="15" name="Text 10"/>
          <p:cNvSpPr txBox="1"/>
          <p:nvPr/>
        </p:nvSpPr>
        <p:spPr>
          <a:xfrm>
            <a:off x="4700016"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Satu thread utama menangani banyak permintaan melalui event loop, dibantu thread pool untuk tugas berat.</a:t>
            </a:r>
            <a:endParaRPr lang="en-US" sz="1080" dirty="0"/>
          </a:p>
        </p:txBody>
      </p:sp>
      <p:sp>
        <p:nvSpPr>
          <p:cNvPr id="16" name="Shape 11"/>
          <p:cNvSpPr/>
          <p:nvPr/>
        </p:nvSpPr>
        <p:spPr>
          <a:xfrm>
            <a:off x="8247888"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65376"/>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8618220" y="1979676"/>
            <a:ext cx="228600" cy="228600"/>
          </a:xfrm>
          <a:prstGeom prst="rect">
            <a:avLst/>
          </a:prstGeom>
        </p:spPr>
      </p:pic>
      <p:sp>
        <p:nvSpPr>
          <p:cNvPr id="19" name="Text 13"/>
          <p:cNvSpPr txBox="1"/>
          <p:nvPr/>
        </p:nvSpPr>
        <p:spPr>
          <a:xfrm>
            <a:off x="9107424"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Cepat &amp; Ringan</a:t>
            </a:r>
            <a:endParaRPr lang="en-US" sz="1250" dirty="0"/>
          </a:p>
        </p:txBody>
      </p:sp>
      <p:sp>
        <p:nvSpPr>
          <p:cNvPr id="20" name="Text 14"/>
          <p:cNvSpPr txBox="1"/>
          <p:nvPr/>
        </p:nvSpPr>
        <p:spPr>
          <a:xfrm>
            <a:off x="8503920"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Mesin V8 mengompilasi JavaScript langsung ke kode mesin sehingga eksekusi sangat cepat.</a:t>
            </a:r>
            <a:endParaRPr lang="en-US" sz="1080" dirty="0"/>
          </a:p>
        </p:txBody>
      </p:sp>
      <p:sp>
        <p:nvSpPr>
          <p:cNvPr id="21" name="Shape 15"/>
          <p:cNvSpPr/>
          <p:nvPr/>
        </p:nvSpPr>
        <p:spPr>
          <a:xfrm>
            <a:off x="640080"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896112" y="3803904"/>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1010412" y="3918204"/>
            <a:ext cx="228600" cy="228600"/>
          </a:xfrm>
          <a:prstGeom prst="rect">
            <a:avLst/>
          </a:prstGeom>
        </p:spPr>
      </p:pic>
      <p:sp>
        <p:nvSpPr>
          <p:cNvPr id="24" name="Text 17"/>
          <p:cNvSpPr txBox="1"/>
          <p:nvPr/>
        </p:nvSpPr>
        <p:spPr>
          <a:xfrm>
            <a:off x="1499616"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Ekosistem NPM Terbesar</a:t>
            </a:r>
            <a:endParaRPr lang="en-US" sz="1250" dirty="0"/>
          </a:p>
        </p:txBody>
      </p:sp>
      <p:sp>
        <p:nvSpPr>
          <p:cNvPr id="25" name="Text 18"/>
          <p:cNvSpPr txBox="1"/>
          <p:nvPr/>
        </p:nvSpPr>
        <p:spPr>
          <a:xfrm>
            <a:off x="896112"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Lebih dari tiga juta paket siap pakai mempercepat pengembangan dan mengurangi kode dari nol.</a:t>
            </a:r>
            <a:endParaRPr lang="en-US" sz="1080" dirty="0"/>
          </a:p>
        </p:txBody>
      </p:sp>
      <p:sp>
        <p:nvSpPr>
          <p:cNvPr id="26" name="Shape 19"/>
          <p:cNvSpPr/>
          <p:nvPr/>
        </p:nvSpPr>
        <p:spPr>
          <a:xfrm>
            <a:off x="4443984"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4700016" y="3803904"/>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4814316" y="3918204"/>
            <a:ext cx="228600" cy="228600"/>
          </a:xfrm>
          <a:prstGeom prst="rect">
            <a:avLst/>
          </a:prstGeom>
        </p:spPr>
      </p:pic>
      <p:sp>
        <p:nvSpPr>
          <p:cNvPr id="29" name="Text 21"/>
          <p:cNvSpPr txBox="1"/>
          <p:nvPr/>
        </p:nvSpPr>
        <p:spPr>
          <a:xfrm>
            <a:off x="5303520"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Satu Bahasa Penuh</a:t>
            </a:r>
            <a:endParaRPr lang="en-US" sz="1250" dirty="0"/>
          </a:p>
        </p:txBody>
      </p:sp>
      <p:sp>
        <p:nvSpPr>
          <p:cNvPr id="30" name="Text 22"/>
          <p:cNvSpPr txBox="1"/>
          <p:nvPr/>
        </p:nvSpPr>
        <p:spPr>
          <a:xfrm>
            <a:off x="4700016"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JavaScript dipakai di sisi klien maupun server sehingga alih konteks pengembang berkurang.</a:t>
            </a:r>
            <a:endParaRPr lang="en-US" sz="1080" dirty="0"/>
          </a:p>
        </p:txBody>
      </p:sp>
      <p:sp>
        <p:nvSpPr>
          <p:cNvPr id="31" name="Shape 23"/>
          <p:cNvSpPr/>
          <p:nvPr/>
        </p:nvSpPr>
        <p:spPr>
          <a:xfrm>
            <a:off x="8247888"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8503920" y="3803904"/>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8618220" y="3918204"/>
            <a:ext cx="228600" cy="228600"/>
          </a:xfrm>
          <a:prstGeom prst="rect">
            <a:avLst/>
          </a:prstGeom>
        </p:spPr>
      </p:pic>
      <p:sp>
        <p:nvSpPr>
          <p:cNvPr id="34" name="Text 25"/>
          <p:cNvSpPr txBox="1"/>
          <p:nvPr/>
        </p:nvSpPr>
        <p:spPr>
          <a:xfrm>
            <a:off x="9107424"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Lintas Platform</a:t>
            </a:r>
            <a:endParaRPr lang="en-US" sz="1250" dirty="0"/>
          </a:p>
        </p:txBody>
      </p:sp>
      <p:sp>
        <p:nvSpPr>
          <p:cNvPr id="35" name="Text 26"/>
          <p:cNvSpPr txBox="1"/>
          <p:nvPr/>
        </p:nvSpPr>
        <p:spPr>
          <a:xfrm>
            <a:off x="8503920"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Berjalan konsisten di Windows, macOS, Linux, kontainer Docker, hingga layanan serverless.</a:t>
            </a:r>
            <a:endParaRPr lang="en-US" sz="1080" dirty="0"/>
          </a:p>
        </p:txBody>
      </p:sp>
      <p:sp>
        <p:nvSpPr>
          <p:cNvPr id="36" name="Shape 27"/>
          <p:cNvSpPr/>
          <p:nvPr/>
        </p:nvSpPr>
        <p:spPr>
          <a:xfrm>
            <a:off x="640080" y="5504688"/>
            <a:ext cx="10972800" cy="621792"/>
          </a:xfrm>
          <a:prstGeom prst="roundRect">
            <a:avLst>
              <a:gd name="adj" fmla="val 13235"/>
            </a:avLst>
          </a:prstGeom>
          <a:solidFill>
            <a:srgbClr val="0B2015"/>
          </a:solidFill>
          <a:ln w="12700">
            <a:solidFill>
              <a:srgbClr val="0B2015"/>
            </a:solidFill>
            <a:prstDash val="solid"/>
          </a:ln>
        </p:spPr>
      </p:sp>
      <p:sp>
        <p:nvSpPr>
          <p:cNvPr id="37" name="Text 28"/>
          <p:cNvSpPr txBox="1"/>
          <p:nvPr/>
        </p:nvSpPr>
        <p:spPr>
          <a:xfrm>
            <a:off x="896112" y="5504688"/>
            <a:ext cx="10515600" cy="621792"/>
          </a:xfrm>
          <a:prstGeom prst="rect">
            <a:avLst/>
          </a:prstGeom>
          <a:noFill/>
          <a:ln/>
        </p:spPr>
        <p:txBody>
          <a:bodyPr wrap="square" lIns="0" tIns="0" rIns="0" bIns="0" rtlCol="0" anchor="ctr"/>
          <a:lstStyle/>
          <a:p>
            <a:pPr indent="0" marL="0">
              <a:buNone/>
            </a:pPr>
            <a:r>
              <a:rPr lang="en-US" sz="1250" dirty="0">
                <a:solidFill>
                  <a:srgbClr val="CFE6D2"/>
                </a:solidFill>
                <a:latin typeface="Calibri" pitchFamily="34" charset="0"/>
                <a:ea typeface="Calibri" pitchFamily="34" charset="-122"/>
                <a:cs typeface="Calibri" pitchFamily="34" charset="-120"/>
              </a:rPr>
              <a:t>Intinya: Node.js unggul pada aplikasi yang banyak menunggu I/O — bukan pada aplikasi yang banyak menghitung.</a:t>
            </a:r>
            <a:endParaRPr lang="en-US" sz="1250" dirty="0"/>
          </a:p>
        </p:txBody>
      </p:sp>
      <p:sp>
        <p:nvSpPr>
          <p:cNvPr id="38"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E0B33C"/>
          </a:solidFill>
          <a:ln w="12700">
            <a:solidFill>
              <a:srgbClr val="E0B33C"/>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JavaScript di Peramban vs di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Bahasa yang sama, lingkungan dan kemampuan yang berbeda</a:t>
            </a:r>
            <a:endParaRPr lang="en-US" sz="1300" dirty="0"/>
          </a:p>
        </p:txBody>
      </p:sp>
      <p:sp>
        <p:nvSpPr>
          <p:cNvPr id="6" name="Shape 3"/>
          <p:cNvSpPr/>
          <p:nvPr/>
        </p:nvSpPr>
        <p:spPr>
          <a:xfrm>
            <a:off x="640080" y="1664208"/>
            <a:ext cx="5349240" cy="4069080"/>
          </a:xfrm>
          <a:prstGeom prst="roundRect">
            <a:avLst>
              <a:gd name="adj" fmla="val 20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74520"/>
            <a:ext cx="512064" cy="512064"/>
          </a:xfrm>
          <a:prstGeom prst="roundRect">
            <a:avLst>
              <a:gd name="adj" fmla="val 25000"/>
            </a:avLst>
          </a:prstGeom>
          <a:solidFill>
            <a:srgbClr val="E5EEFB"/>
          </a:solidFill>
          <a:ln w="12700">
            <a:solidFill>
              <a:srgbClr val="E5EEFB"/>
            </a:solidFill>
            <a:prstDash val="solid"/>
          </a:ln>
        </p:spPr>
      </p:sp>
      <p:pic>
        <p:nvPicPr>
          <p:cNvPr id="8" name="Image 1" descr="preencoded.png">    </p:cNvPr>
          <p:cNvPicPr>
            <a:picLocks noChangeAspect="1"/>
          </p:cNvPicPr>
          <p:nvPr/>
        </p:nvPicPr>
        <p:blipFill>
          <a:blip r:embed="rId2"/>
          <a:stretch>
            <a:fillRect/>
          </a:stretch>
        </p:blipFill>
        <p:spPr>
          <a:xfrm>
            <a:off x="1024128" y="2002536"/>
            <a:ext cx="256032" cy="256032"/>
          </a:xfrm>
          <a:prstGeom prst="rect">
            <a:avLst/>
          </a:prstGeom>
        </p:spPr>
      </p:pic>
      <p:sp>
        <p:nvSpPr>
          <p:cNvPr id="9" name="Text 5"/>
          <p:cNvSpPr txBox="1"/>
          <p:nvPr/>
        </p:nvSpPr>
        <p:spPr>
          <a:xfrm>
            <a:off x="1554480" y="1874520"/>
            <a:ext cx="4114800" cy="51206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JavaScript di Peramban</a:t>
            </a:r>
            <a:endParaRPr lang="en-US" sz="1500" dirty="0"/>
          </a:p>
        </p:txBody>
      </p:sp>
      <p:sp>
        <p:nvSpPr>
          <p:cNvPr id="10" name="Text 6"/>
          <p:cNvSpPr txBox="1"/>
          <p:nvPr/>
        </p:nvSpPr>
        <p:spPr>
          <a:xfrm>
            <a:off x="896112" y="26151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Objek global</a:t>
            </a:r>
            <a:endParaRPr lang="en-US" sz="1100" dirty="0"/>
          </a:p>
        </p:txBody>
      </p:sp>
      <p:sp>
        <p:nvSpPr>
          <p:cNvPr id="11" name="Text 7"/>
          <p:cNvSpPr txBox="1"/>
          <p:nvPr/>
        </p:nvSpPr>
        <p:spPr>
          <a:xfrm>
            <a:off x="2615184" y="26151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window / document</a:t>
            </a:r>
            <a:endParaRPr lang="en-US" sz="1150" dirty="0"/>
          </a:p>
        </p:txBody>
      </p:sp>
      <p:sp>
        <p:nvSpPr>
          <p:cNvPr id="12" name="Text 8"/>
          <p:cNvSpPr txBox="1"/>
          <p:nvPr/>
        </p:nvSpPr>
        <p:spPr>
          <a:xfrm>
            <a:off x="896112" y="311810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DOM</a:t>
            </a:r>
            <a:endParaRPr lang="en-US" sz="1100" dirty="0"/>
          </a:p>
        </p:txBody>
      </p:sp>
      <p:sp>
        <p:nvSpPr>
          <p:cNvPr id="13" name="Text 9"/>
          <p:cNvSpPr txBox="1"/>
          <p:nvPr/>
        </p:nvSpPr>
        <p:spPr>
          <a:xfrm>
            <a:off x="2615184" y="311810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Tersedia penuh</a:t>
            </a:r>
            <a:endParaRPr lang="en-US" sz="1150" dirty="0"/>
          </a:p>
        </p:txBody>
      </p:sp>
      <p:sp>
        <p:nvSpPr>
          <p:cNvPr id="14" name="Text 10"/>
          <p:cNvSpPr txBox="1"/>
          <p:nvPr/>
        </p:nvSpPr>
        <p:spPr>
          <a:xfrm>
            <a:off x="896112" y="362102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berkas</a:t>
            </a:r>
            <a:endParaRPr lang="en-US" sz="1100" dirty="0"/>
          </a:p>
        </p:txBody>
      </p:sp>
      <p:sp>
        <p:nvSpPr>
          <p:cNvPr id="15" name="Text 11"/>
          <p:cNvSpPr txBox="1"/>
          <p:nvPr/>
        </p:nvSpPr>
        <p:spPr>
          <a:xfrm>
            <a:off x="2615184" y="362102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Terbatas dan tersandbox</a:t>
            </a:r>
            <a:endParaRPr lang="en-US" sz="1150" dirty="0"/>
          </a:p>
        </p:txBody>
      </p:sp>
      <p:sp>
        <p:nvSpPr>
          <p:cNvPr id="16" name="Text 12"/>
          <p:cNvSpPr txBox="1"/>
          <p:nvPr/>
        </p:nvSpPr>
        <p:spPr>
          <a:xfrm>
            <a:off x="896112" y="412394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Sistem modul</a:t>
            </a:r>
            <a:endParaRPr lang="en-US" sz="1100" dirty="0"/>
          </a:p>
        </p:txBody>
      </p:sp>
      <p:sp>
        <p:nvSpPr>
          <p:cNvPr id="17" name="Text 13"/>
          <p:cNvSpPr txBox="1"/>
          <p:nvPr/>
        </p:nvSpPr>
        <p:spPr>
          <a:xfrm>
            <a:off x="2615184" y="412394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ES Modules</a:t>
            </a:r>
            <a:endParaRPr lang="en-US" sz="1150" dirty="0"/>
          </a:p>
        </p:txBody>
      </p:sp>
      <p:sp>
        <p:nvSpPr>
          <p:cNvPr id="18" name="Text 14"/>
          <p:cNvSpPr txBox="1"/>
          <p:nvPr/>
        </p:nvSpPr>
        <p:spPr>
          <a:xfrm>
            <a:off x="896112" y="462686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Kegunaan</a:t>
            </a:r>
            <a:endParaRPr lang="en-US" sz="1100" dirty="0"/>
          </a:p>
        </p:txBody>
      </p:sp>
      <p:sp>
        <p:nvSpPr>
          <p:cNvPr id="19" name="Text 15"/>
          <p:cNvSpPr txBox="1"/>
          <p:nvPr/>
        </p:nvSpPr>
        <p:spPr>
          <a:xfrm>
            <a:off x="2615184" y="462686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Antarmuka dan interaksi pengguna</a:t>
            </a:r>
            <a:endParaRPr lang="en-US" sz="1150" dirty="0"/>
          </a:p>
        </p:txBody>
      </p:sp>
      <p:sp>
        <p:nvSpPr>
          <p:cNvPr id="20" name="Text 16"/>
          <p:cNvSpPr txBox="1"/>
          <p:nvPr/>
        </p:nvSpPr>
        <p:spPr>
          <a:xfrm>
            <a:off x="896112" y="51297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Keamanan</a:t>
            </a:r>
            <a:endParaRPr lang="en-US" sz="1100" dirty="0"/>
          </a:p>
        </p:txBody>
      </p:sp>
      <p:sp>
        <p:nvSpPr>
          <p:cNvPr id="21" name="Text 17"/>
          <p:cNvSpPr txBox="1"/>
          <p:nvPr/>
        </p:nvSpPr>
        <p:spPr>
          <a:xfrm>
            <a:off x="2615184" y="51297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Dibatasi kebijakan same-origin</a:t>
            </a:r>
            <a:endParaRPr lang="en-US" sz="1150" dirty="0"/>
          </a:p>
        </p:txBody>
      </p:sp>
      <p:sp>
        <p:nvSpPr>
          <p:cNvPr id="22" name="Shape 18"/>
          <p:cNvSpPr/>
          <p:nvPr/>
        </p:nvSpPr>
        <p:spPr>
          <a:xfrm>
            <a:off x="6263640" y="1664208"/>
            <a:ext cx="5349240" cy="4069080"/>
          </a:xfrm>
          <a:prstGeom prst="roundRect">
            <a:avLst>
              <a:gd name="adj" fmla="val 20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9"/>
          <p:cNvSpPr/>
          <p:nvPr/>
        </p:nvSpPr>
        <p:spPr>
          <a:xfrm>
            <a:off x="6519672" y="1874520"/>
            <a:ext cx="512064" cy="512064"/>
          </a:xfrm>
          <a:prstGeom prst="roundRect">
            <a:avLst>
              <a:gd name="adj" fmla="val 25000"/>
            </a:avLst>
          </a:prstGeom>
          <a:solidFill>
            <a:srgbClr val="E8F2E2"/>
          </a:solidFill>
          <a:ln w="12700">
            <a:solidFill>
              <a:srgbClr val="E8F2E2"/>
            </a:solidFill>
            <a:prstDash val="solid"/>
          </a:ln>
        </p:spPr>
      </p:sp>
      <p:pic>
        <p:nvPicPr>
          <p:cNvPr id="24" name="Image 2" descr="preencoded.png">    </p:cNvPr>
          <p:cNvPicPr>
            <a:picLocks noChangeAspect="1"/>
          </p:cNvPicPr>
          <p:nvPr/>
        </p:nvPicPr>
        <p:blipFill>
          <a:blip r:embed="rId3"/>
          <a:stretch>
            <a:fillRect/>
          </a:stretch>
        </p:blipFill>
        <p:spPr>
          <a:xfrm>
            <a:off x="6647688" y="2002536"/>
            <a:ext cx="256032" cy="256032"/>
          </a:xfrm>
          <a:prstGeom prst="rect">
            <a:avLst/>
          </a:prstGeom>
        </p:spPr>
      </p:pic>
      <p:sp>
        <p:nvSpPr>
          <p:cNvPr id="25" name="Text 20"/>
          <p:cNvSpPr txBox="1"/>
          <p:nvPr/>
        </p:nvSpPr>
        <p:spPr>
          <a:xfrm>
            <a:off x="7178040" y="1874520"/>
            <a:ext cx="4114800" cy="51206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JavaScript di Node.js</a:t>
            </a:r>
            <a:endParaRPr lang="en-US" sz="1500" dirty="0"/>
          </a:p>
        </p:txBody>
      </p:sp>
      <p:sp>
        <p:nvSpPr>
          <p:cNvPr id="26" name="Text 21"/>
          <p:cNvSpPr txBox="1"/>
          <p:nvPr/>
        </p:nvSpPr>
        <p:spPr>
          <a:xfrm>
            <a:off x="6519672" y="26151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Objek global</a:t>
            </a:r>
            <a:endParaRPr lang="en-US" sz="1100" dirty="0"/>
          </a:p>
        </p:txBody>
      </p:sp>
      <p:sp>
        <p:nvSpPr>
          <p:cNvPr id="27" name="Text 22"/>
          <p:cNvSpPr txBox="1"/>
          <p:nvPr/>
        </p:nvSpPr>
        <p:spPr>
          <a:xfrm>
            <a:off x="8238744" y="26151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global / globalThis</a:t>
            </a:r>
            <a:endParaRPr lang="en-US" sz="1150" dirty="0"/>
          </a:p>
        </p:txBody>
      </p:sp>
      <p:sp>
        <p:nvSpPr>
          <p:cNvPr id="28" name="Text 23"/>
          <p:cNvSpPr txBox="1"/>
          <p:nvPr/>
        </p:nvSpPr>
        <p:spPr>
          <a:xfrm>
            <a:off x="6519672" y="311810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DOM</a:t>
            </a:r>
            <a:endParaRPr lang="en-US" sz="1100" dirty="0"/>
          </a:p>
        </p:txBody>
      </p:sp>
      <p:sp>
        <p:nvSpPr>
          <p:cNvPr id="29" name="Text 24"/>
          <p:cNvSpPr txBox="1"/>
          <p:nvPr/>
        </p:nvSpPr>
        <p:spPr>
          <a:xfrm>
            <a:off x="8238744" y="311810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Tidak tersedia</a:t>
            </a:r>
            <a:endParaRPr lang="en-US" sz="1150" dirty="0"/>
          </a:p>
        </p:txBody>
      </p:sp>
      <p:sp>
        <p:nvSpPr>
          <p:cNvPr id="30" name="Text 25"/>
          <p:cNvSpPr txBox="1"/>
          <p:nvPr/>
        </p:nvSpPr>
        <p:spPr>
          <a:xfrm>
            <a:off x="6519672" y="362102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berkas</a:t>
            </a:r>
            <a:endParaRPr lang="en-US" sz="1100" dirty="0"/>
          </a:p>
        </p:txBody>
      </p:sp>
      <p:sp>
        <p:nvSpPr>
          <p:cNvPr id="31" name="Text 26"/>
          <p:cNvSpPr txBox="1"/>
          <p:nvPr/>
        </p:nvSpPr>
        <p:spPr>
          <a:xfrm>
            <a:off x="8238744" y="362102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Penuh melalui modul fs</a:t>
            </a:r>
            <a:endParaRPr lang="en-US" sz="1150" dirty="0"/>
          </a:p>
        </p:txBody>
      </p:sp>
      <p:sp>
        <p:nvSpPr>
          <p:cNvPr id="32" name="Text 27"/>
          <p:cNvSpPr txBox="1"/>
          <p:nvPr/>
        </p:nvSpPr>
        <p:spPr>
          <a:xfrm>
            <a:off x="6519672" y="412394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Sistem modul</a:t>
            </a:r>
            <a:endParaRPr lang="en-US" sz="1100" dirty="0"/>
          </a:p>
        </p:txBody>
      </p:sp>
      <p:sp>
        <p:nvSpPr>
          <p:cNvPr id="33" name="Text 28"/>
          <p:cNvSpPr txBox="1"/>
          <p:nvPr/>
        </p:nvSpPr>
        <p:spPr>
          <a:xfrm>
            <a:off x="8238744" y="412394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CommonJS dan ES Modules</a:t>
            </a:r>
            <a:endParaRPr lang="en-US" sz="1150" dirty="0"/>
          </a:p>
        </p:txBody>
      </p:sp>
      <p:sp>
        <p:nvSpPr>
          <p:cNvPr id="34" name="Text 29"/>
          <p:cNvSpPr txBox="1"/>
          <p:nvPr/>
        </p:nvSpPr>
        <p:spPr>
          <a:xfrm>
            <a:off x="6519672" y="462686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Kegunaan</a:t>
            </a:r>
            <a:endParaRPr lang="en-US" sz="1100" dirty="0"/>
          </a:p>
        </p:txBody>
      </p:sp>
      <p:sp>
        <p:nvSpPr>
          <p:cNvPr id="35" name="Text 30"/>
          <p:cNvSpPr txBox="1"/>
          <p:nvPr/>
        </p:nvSpPr>
        <p:spPr>
          <a:xfrm>
            <a:off x="8238744" y="462686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Server, API, CLI, dan otomasi</a:t>
            </a:r>
            <a:endParaRPr lang="en-US" sz="1150" dirty="0"/>
          </a:p>
        </p:txBody>
      </p:sp>
      <p:sp>
        <p:nvSpPr>
          <p:cNvPr id="36" name="Text 31"/>
          <p:cNvSpPr txBox="1"/>
          <p:nvPr/>
        </p:nvSpPr>
        <p:spPr>
          <a:xfrm>
            <a:off x="6519672" y="51297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Keamanan</a:t>
            </a:r>
            <a:endParaRPr lang="en-US" sz="1100" dirty="0"/>
          </a:p>
        </p:txBody>
      </p:sp>
      <p:sp>
        <p:nvSpPr>
          <p:cNvPr id="37" name="Text 32"/>
          <p:cNvSpPr txBox="1"/>
          <p:nvPr/>
        </p:nvSpPr>
        <p:spPr>
          <a:xfrm>
            <a:off x="8238744" y="51297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Setara hak akses pengguna sistem</a:t>
            </a:r>
            <a:endParaRPr lang="en-US" sz="1150" dirty="0"/>
          </a:p>
        </p:txBody>
      </p:sp>
      <p:sp>
        <p:nvSpPr>
          <p:cNvPr id="38"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02</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Arsitektur &amp; Cara Kerja</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Membedah bagaimana Node.js mengeksekusi JavaScript dan menangani ribuan operasi I/O hanya dengan satu thread utama.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Lapisan arsitektur: V8, libuv, dan Node API</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Enam fase event loop dan urutan eksekusinya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Perbandingan kode blocking dan non-blocking</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Arsitektur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Empat lapisan yang bekerja bersama saat sebuah program dijalankan</a:t>
            </a:r>
            <a:endParaRPr lang="en-US" sz="1300" dirty="0"/>
          </a:p>
        </p:txBody>
      </p:sp>
      <p:sp>
        <p:nvSpPr>
          <p:cNvPr id="6" name="Shape 3"/>
          <p:cNvSpPr/>
          <p:nvPr/>
        </p:nvSpPr>
        <p:spPr>
          <a:xfrm>
            <a:off x="640080" y="1664208"/>
            <a:ext cx="7635240" cy="932688"/>
          </a:xfrm>
          <a:prstGeom prst="roundRect">
            <a:avLst>
              <a:gd name="adj" fmla="val 8824"/>
            </a:avLst>
          </a:prstGeom>
          <a:solidFill>
            <a:srgbClr val="1E4A2E"/>
          </a:solidFill>
          <a:ln w="12700">
            <a:solidFill>
              <a:srgbClr val="1E4A2E"/>
            </a:solidFill>
            <a:prstDash val="solid"/>
          </a:ln>
        </p:spPr>
      </p:sp>
      <p:pic>
        <p:nvPicPr>
          <p:cNvPr id="7" name="Image 1" descr="preencoded.png">    </p:cNvPr>
          <p:cNvPicPr>
            <a:picLocks noChangeAspect="1"/>
          </p:cNvPicPr>
          <p:nvPr/>
        </p:nvPicPr>
        <p:blipFill>
          <a:blip r:embed="rId2"/>
          <a:stretch>
            <a:fillRect/>
          </a:stretch>
        </p:blipFill>
        <p:spPr>
          <a:xfrm>
            <a:off x="914400" y="1938528"/>
            <a:ext cx="384048" cy="384048"/>
          </a:xfrm>
          <a:prstGeom prst="rect">
            <a:avLst/>
          </a:prstGeom>
        </p:spPr>
      </p:pic>
      <p:sp>
        <p:nvSpPr>
          <p:cNvPr id="8" name="Text 4"/>
          <p:cNvSpPr txBox="1"/>
          <p:nvPr/>
        </p:nvSpPr>
        <p:spPr>
          <a:xfrm>
            <a:off x="1481328" y="1792224"/>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Kode Aplikasi Anda</a:t>
            </a:r>
            <a:endParaRPr lang="en-US" sz="1450" dirty="0"/>
          </a:p>
        </p:txBody>
      </p:sp>
      <p:sp>
        <p:nvSpPr>
          <p:cNvPr id="9" name="Text 5"/>
          <p:cNvSpPr txBox="1"/>
          <p:nvPr/>
        </p:nvSpPr>
        <p:spPr>
          <a:xfrm>
            <a:off x="1481328" y="2148840"/>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Berkas JavaScript yang Anda tulis beserta paket NPM yang digunakan</a:t>
            </a:r>
            <a:endParaRPr lang="en-US" sz="1080" dirty="0"/>
          </a:p>
        </p:txBody>
      </p:sp>
      <p:sp>
        <p:nvSpPr>
          <p:cNvPr id="10" name="Shape 6"/>
          <p:cNvSpPr/>
          <p:nvPr/>
        </p:nvSpPr>
        <p:spPr>
          <a:xfrm>
            <a:off x="640080" y="2697480"/>
            <a:ext cx="7635240" cy="932688"/>
          </a:xfrm>
          <a:prstGeom prst="roundRect">
            <a:avLst>
              <a:gd name="adj" fmla="val 8824"/>
            </a:avLst>
          </a:prstGeom>
          <a:solidFill>
            <a:srgbClr val="2C5F3A"/>
          </a:solidFill>
          <a:ln w="12700">
            <a:solidFill>
              <a:srgbClr val="2C5F3A"/>
            </a:solidFill>
            <a:prstDash val="solid"/>
          </a:ln>
        </p:spPr>
      </p:sp>
      <p:pic>
        <p:nvPicPr>
          <p:cNvPr id="11" name="Image 2" descr="preencoded.png">    </p:cNvPr>
          <p:cNvPicPr>
            <a:picLocks noChangeAspect="1"/>
          </p:cNvPicPr>
          <p:nvPr/>
        </p:nvPicPr>
        <p:blipFill>
          <a:blip r:embed="rId3"/>
          <a:stretch>
            <a:fillRect/>
          </a:stretch>
        </p:blipFill>
        <p:spPr>
          <a:xfrm>
            <a:off x="914400" y="2971800"/>
            <a:ext cx="384048" cy="384048"/>
          </a:xfrm>
          <a:prstGeom prst="rect">
            <a:avLst/>
          </a:prstGeom>
        </p:spPr>
      </p:pic>
      <p:sp>
        <p:nvSpPr>
          <p:cNvPr id="12" name="Text 7"/>
          <p:cNvSpPr txBox="1"/>
          <p:nvPr/>
        </p:nvSpPr>
        <p:spPr>
          <a:xfrm>
            <a:off x="1481328" y="2825496"/>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Node.js API &amp; Core Modules</a:t>
            </a:r>
            <a:endParaRPr lang="en-US" sz="1450" dirty="0"/>
          </a:p>
        </p:txBody>
      </p:sp>
      <p:sp>
        <p:nvSpPr>
          <p:cNvPr id="13" name="Text 8"/>
          <p:cNvSpPr txBox="1"/>
          <p:nvPr/>
        </p:nvSpPr>
        <p:spPr>
          <a:xfrm>
            <a:off x="1481328" y="3182112"/>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Antarmuka JavaScript untuk fs, http, path, crypto, events, dan stream</a:t>
            </a:r>
            <a:endParaRPr lang="en-US" sz="1080" dirty="0"/>
          </a:p>
        </p:txBody>
      </p:sp>
      <p:sp>
        <p:nvSpPr>
          <p:cNvPr id="14" name="Shape 9"/>
          <p:cNvSpPr/>
          <p:nvPr/>
        </p:nvSpPr>
        <p:spPr>
          <a:xfrm>
            <a:off x="640080" y="3730752"/>
            <a:ext cx="7635240" cy="932688"/>
          </a:xfrm>
          <a:prstGeom prst="roundRect">
            <a:avLst>
              <a:gd name="adj" fmla="val 8824"/>
            </a:avLst>
          </a:prstGeom>
          <a:solidFill>
            <a:srgbClr val="3C873A"/>
          </a:solidFill>
          <a:ln w="12700">
            <a:solidFill>
              <a:srgbClr val="3C873A"/>
            </a:solidFill>
            <a:prstDash val="solid"/>
          </a:ln>
        </p:spPr>
      </p:sp>
      <p:pic>
        <p:nvPicPr>
          <p:cNvPr id="15" name="Image 3" descr="preencoded.png">    </p:cNvPr>
          <p:cNvPicPr>
            <a:picLocks noChangeAspect="1"/>
          </p:cNvPicPr>
          <p:nvPr/>
        </p:nvPicPr>
        <p:blipFill>
          <a:blip r:embed="rId4"/>
          <a:stretch>
            <a:fillRect/>
          </a:stretch>
        </p:blipFill>
        <p:spPr>
          <a:xfrm>
            <a:off x="914400" y="4005072"/>
            <a:ext cx="384048" cy="384048"/>
          </a:xfrm>
          <a:prstGeom prst="rect">
            <a:avLst/>
          </a:prstGeom>
        </p:spPr>
      </p:pic>
      <p:sp>
        <p:nvSpPr>
          <p:cNvPr id="16" name="Text 10"/>
          <p:cNvSpPr txBox="1"/>
          <p:nvPr/>
        </p:nvSpPr>
        <p:spPr>
          <a:xfrm>
            <a:off x="1481328" y="3858768"/>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Node.js Bindings (C++)</a:t>
            </a:r>
            <a:endParaRPr lang="en-US" sz="1450" dirty="0"/>
          </a:p>
        </p:txBody>
      </p:sp>
      <p:sp>
        <p:nvSpPr>
          <p:cNvPr id="17" name="Text 11"/>
          <p:cNvSpPr txBox="1"/>
          <p:nvPr/>
        </p:nvSpPr>
        <p:spPr>
          <a:xfrm>
            <a:off x="1481328" y="4215384"/>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Jembatan yang menghubungkan pemanggilan JavaScript ke pustaka tingkat rendah</a:t>
            </a:r>
            <a:endParaRPr lang="en-US" sz="1080" dirty="0"/>
          </a:p>
        </p:txBody>
      </p:sp>
      <p:sp>
        <p:nvSpPr>
          <p:cNvPr id="18" name="Shape 12"/>
          <p:cNvSpPr/>
          <p:nvPr/>
        </p:nvSpPr>
        <p:spPr>
          <a:xfrm>
            <a:off x="640080" y="4764024"/>
            <a:ext cx="7635240" cy="932688"/>
          </a:xfrm>
          <a:prstGeom prst="roundRect">
            <a:avLst>
              <a:gd name="adj" fmla="val 8824"/>
            </a:avLst>
          </a:prstGeom>
          <a:solidFill>
            <a:srgbClr val="5D9E4B"/>
          </a:solidFill>
          <a:ln w="12700">
            <a:solidFill>
              <a:srgbClr val="5D9E4B"/>
            </a:solidFill>
            <a:prstDash val="solid"/>
          </a:ln>
        </p:spPr>
      </p:sp>
      <p:pic>
        <p:nvPicPr>
          <p:cNvPr id="19" name="Image 4" descr="preencoded.png">    </p:cNvPr>
          <p:cNvPicPr>
            <a:picLocks noChangeAspect="1"/>
          </p:cNvPicPr>
          <p:nvPr/>
        </p:nvPicPr>
        <p:blipFill>
          <a:blip r:embed="rId5"/>
          <a:stretch>
            <a:fillRect/>
          </a:stretch>
        </p:blipFill>
        <p:spPr>
          <a:xfrm>
            <a:off x="914400" y="5038344"/>
            <a:ext cx="384048" cy="384048"/>
          </a:xfrm>
          <a:prstGeom prst="rect">
            <a:avLst/>
          </a:prstGeom>
        </p:spPr>
      </p:pic>
      <p:sp>
        <p:nvSpPr>
          <p:cNvPr id="20" name="Text 13"/>
          <p:cNvSpPr txBox="1"/>
          <p:nvPr/>
        </p:nvSpPr>
        <p:spPr>
          <a:xfrm>
            <a:off x="1481328" y="4892040"/>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V8 Engine + libuv</a:t>
            </a:r>
            <a:endParaRPr lang="en-US" sz="1450" dirty="0"/>
          </a:p>
        </p:txBody>
      </p:sp>
      <p:sp>
        <p:nvSpPr>
          <p:cNvPr id="21" name="Text 14"/>
          <p:cNvSpPr txBox="1"/>
          <p:nvPr/>
        </p:nvSpPr>
        <p:spPr>
          <a:xfrm>
            <a:off x="1481328" y="5248656"/>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V8 mengeksekusi JavaScript; libuv menyediakan event loop dan I/O asinkron</a:t>
            </a:r>
            <a:endParaRPr lang="en-US" sz="1080" dirty="0"/>
          </a:p>
        </p:txBody>
      </p:sp>
      <p:sp>
        <p:nvSpPr>
          <p:cNvPr id="22" name="Shape 15"/>
          <p:cNvSpPr/>
          <p:nvPr/>
        </p:nvSpPr>
        <p:spPr>
          <a:xfrm>
            <a:off x="8558784" y="1664208"/>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6"/>
          <p:cNvSpPr/>
          <p:nvPr/>
        </p:nvSpPr>
        <p:spPr>
          <a:xfrm>
            <a:off x="8814816" y="1883664"/>
            <a:ext cx="457200" cy="457200"/>
          </a:xfrm>
          <a:prstGeom prst="roundRect">
            <a:avLst>
              <a:gd name="adj" fmla="val 26000"/>
            </a:avLst>
          </a:prstGeom>
          <a:solidFill>
            <a:srgbClr val="E8F2E2"/>
          </a:solidFill>
          <a:ln w="12700">
            <a:solidFill>
              <a:srgbClr val="E8F2E2"/>
            </a:solidFill>
            <a:prstDash val="solid"/>
          </a:ln>
        </p:spPr>
      </p:sp>
      <p:pic>
        <p:nvPicPr>
          <p:cNvPr id="24" name="Image 5" descr="preencoded.png">    </p:cNvPr>
          <p:cNvPicPr>
            <a:picLocks noChangeAspect="1"/>
          </p:cNvPicPr>
          <p:nvPr/>
        </p:nvPicPr>
        <p:blipFill>
          <a:blip r:embed="rId6"/>
          <a:stretch>
            <a:fillRect/>
          </a:stretch>
        </p:blipFill>
        <p:spPr>
          <a:xfrm>
            <a:off x="8929116" y="1997964"/>
            <a:ext cx="228600" cy="228600"/>
          </a:xfrm>
          <a:prstGeom prst="rect">
            <a:avLst/>
          </a:prstGeom>
        </p:spPr>
      </p:pic>
      <p:sp>
        <p:nvSpPr>
          <p:cNvPr id="25" name="Text 17"/>
          <p:cNvSpPr txBox="1"/>
          <p:nvPr/>
        </p:nvSpPr>
        <p:spPr>
          <a:xfrm>
            <a:off x="9418320" y="1883664"/>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V8 Engine</a:t>
            </a:r>
            <a:endParaRPr lang="en-US" sz="1250" dirty="0"/>
          </a:p>
        </p:txBody>
      </p:sp>
      <p:sp>
        <p:nvSpPr>
          <p:cNvPr id="26" name="Text 18"/>
          <p:cNvSpPr txBox="1"/>
          <p:nvPr/>
        </p:nvSpPr>
        <p:spPr>
          <a:xfrm>
            <a:off x="8814816" y="2450592"/>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Mesin JavaScript dari Google yang mengompilasi kode langsung menjadi kode mesin.</a:t>
            </a:r>
            <a:endParaRPr lang="en-US" sz="1020" dirty="0"/>
          </a:p>
        </p:txBody>
      </p:sp>
      <p:sp>
        <p:nvSpPr>
          <p:cNvPr id="27" name="Shape 19"/>
          <p:cNvSpPr/>
          <p:nvPr/>
        </p:nvSpPr>
        <p:spPr>
          <a:xfrm>
            <a:off x="8558784" y="3236976"/>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8" name="Shape 20"/>
          <p:cNvSpPr/>
          <p:nvPr/>
        </p:nvSpPr>
        <p:spPr>
          <a:xfrm>
            <a:off x="8814816" y="3456432"/>
            <a:ext cx="457200" cy="457200"/>
          </a:xfrm>
          <a:prstGeom prst="roundRect">
            <a:avLst>
              <a:gd name="adj" fmla="val 26000"/>
            </a:avLst>
          </a:prstGeom>
          <a:solidFill>
            <a:srgbClr val="E8F2E2"/>
          </a:solidFill>
          <a:ln w="12700">
            <a:solidFill>
              <a:srgbClr val="E8F2E2"/>
            </a:solidFill>
            <a:prstDash val="solid"/>
          </a:ln>
        </p:spPr>
      </p:sp>
      <p:pic>
        <p:nvPicPr>
          <p:cNvPr id="29" name="Image 6" descr="preencoded.png">    </p:cNvPr>
          <p:cNvPicPr>
            <a:picLocks noChangeAspect="1"/>
          </p:cNvPicPr>
          <p:nvPr/>
        </p:nvPicPr>
        <p:blipFill>
          <a:blip r:embed="rId7"/>
          <a:stretch>
            <a:fillRect/>
          </a:stretch>
        </p:blipFill>
        <p:spPr>
          <a:xfrm>
            <a:off x="8929116" y="3570732"/>
            <a:ext cx="228600" cy="228600"/>
          </a:xfrm>
          <a:prstGeom prst="rect">
            <a:avLst/>
          </a:prstGeom>
        </p:spPr>
      </p:pic>
      <p:sp>
        <p:nvSpPr>
          <p:cNvPr id="30" name="Text 21"/>
          <p:cNvSpPr txBox="1"/>
          <p:nvPr/>
        </p:nvSpPr>
        <p:spPr>
          <a:xfrm>
            <a:off x="9418320" y="3456432"/>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libuv</a:t>
            </a:r>
            <a:endParaRPr lang="en-US" sz="1250" dirty="0"/>
          </a:p>
        </p:txBody>
      </p:sp>
      <p:sp>
        <p:nvSpPr>
          <p:cNvPr id="31" name="Text 22"/>
          <p:cNvSpPr txBox="1"/>
          <p:nvPr/>
        </p:nvSpPr>
        <p:spPr>
          <a:xfrm>
            <a:off x="8814816" y="4023360"/>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Pustaka C penyedia event loop, thread pool, dan abstraksi I/O lintas sistem operasi.</a:t>
            </a:r>
            <a:endParaRPr lang="en-US" sz="1020" dirty="0"/>
          </a:p>
        </p:txBody>
      </p:sp>
      <p:sp>
        <p:nvSpPr>
          <p:cNvPr id="32" name="Shape 23"/>
          <p:cNvSpPr/>
          <p:nvPr/>
        </p:nvSpPr>
        <p:spPr>
          <a:xfrm>
            <a:off x="8558784" y="4809744"/>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3" name="Shape 24"/>
          <p:cNvSpPr/>
          <p:nvPr/>
        </p:nvSpPr>
        <p:spPr>
          <a:xfrm>
            <a:off x="8814816" y="5029200"/>
            <a:ext cx="457200" cy="457200"/>
          </a:xfrm>
          <a:prstGeom prst="roundRect">
            <a:avLst>
              <a:gd name="adj" fmla="val 26000"/>
            </a:avLst>
          </a:prstGeom>
          <a:solidFill>
            <a:srgbClr val="E8F2E2"/>
          </a:solidFill>
          <a:ln w="12700">
            <a:solidFill>
              <a:srgbClr val="E8F2E2"/>
            </a:solidFill>
            <a:prstDash val="solid"/>
          </a:ln>
        </p:spPr>
      </p:sp>
      <p:pic>
        <p:nvPicPr>
          <p:cNvPr id="34" name="Image 7" descr="preencoded.png">    </p:cNvPr>
          <p:cNvPicPr>
            <a:picLocks noChangeAspect="1"/>
          </p:cNvPicPr>
          <p:nvPr/>
        </p:nvPicPr>
        <p:blipFill>
          <a:blip r:embed="rId8"/>
          <a:stretch>
            <a:fillRect/>
          </a:stretch>
        </p:blipFill>
        <p:spPr>
          <a:xfrm>
            <a:off x="8929116" y="5143500"/>
            <a:ext cx="228600" cy="228600"/>
          </a:xfrm>
          <a:prstGeom prst="rect">
            <a:avLst/>
          </a:prstGeom>
        </p:spPr>
      </p:pic>
      <p:sp>
        <p:nvSpPr>
          <p:cNvPr id="35" name="Text 25"/>
          <p:cNvSpPr txBox="1"/>
          <p:nvPr/>
        </p:nvSpPr>
        <p:spPr>
          <a:xfrm>
            <a:off x="9418320" y="5029200"/>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Dependensi Lain</a:t>
            </a:r>
            <a:endParaRPr lang="en-US" sz="1250" dirty="0"/>
          </a:p>
        </p:txBody>
      </p:sp>
      <p:sp>
        <p:nvSpPr>
          <p:cNvPr id="36" name="Text 26"/>
          <p:cNvSpPr txBox="1"/>
          <p:nvPr/>
        </p:nvSpPr>
        <p:spPr>
          <a:xfrm>
            <a:off x="8814816" y="5596128"/>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OpenSSL untuk kriptografi, zlib untuk kompresi, dan llhttp untuk parsing HTTP.</a:t>
            </a:r>
            <a:endParaRPr lang="en-US" sz="1020" dirty="0"/>
          </a:p>
        </p:txBody>
      </p:sp>
      <p:sp>
        <p:nvSpPr>
          <p:cNvPr id="37"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8"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V8 Engine dan libuv</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komponen inti yang menjadi mesin sesungguhnya di balik Node.js</a:t>
            </a:r>
            <a:endParaRPr lang="en-US" sz="1300" dirty="0"/>
          </a:p>
        </p:txBody>
      </p:sp>
      <p:sp>
        <p:nvSpPr>
          <p:cNvPr id="6" name="Shape 3"/>
          <p:cNvSpPr/>
          <p:nvPr/>
        </p:nvSpPr>
        <p:spPr>
          <a:xfrm>
            <a:off x="640080" y="1627632"/>
            <a:ext cx="5349240" cy="1975104"/>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5EEFB"/>
          </a:solidFill>
          <a:ln w="12700">
            <a:solidFill>
              <a:srgbClr val="E5EEFB"/>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4233672" cy="457200"/>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V8 — Eksekusi JavaScript</a:t>
            </a:r>
            <a:endParaRPr lang="en-US" sz="1450" dirty="0"/>
          </a:p>
        </p:txBody>
      </p:sp>
      <p:sp>
        <p:nvSpPr>
          <p:cNvPr id="10" name="Text 6"/>
          <p:cNvSpPr txBox="1"/>
          <p:nvPr/>
        </p:nvSpPr>
        <p:spPr>
          <a:xfrm>
            <a:off x="950976" y="2414016"/>
            <a:ext cx="4782312" cy="102412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Ditulis dalam C++ oleh Google untuk Chrome</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Mengompilasi JavaScript ke kode mesin (JIT)</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Menangani alokasi memori dan garbage collection</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Mengikuti standar ECMAScript terbaru</a:t>
            </a:r>
            <a:endParaRPr lang="en-US" sz="1100" dirty="0"/>
          </a:p>
        </p:txBody>
      </p:sp>
      <p:sp>
        <p:nvSpPr>
          <p:cNvPr id="11" name="Shape 7"/>
          <p:cNvSpPr/>
          <p:nvPr/>
        </p:nvSpPr>
        <p:spPr>
          <a:xfrm>
            <a:off x="6263640" y="1627632"/>
            <a:ext cx="5349240" cy="1975104"/>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6519672" y="1847088"/>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6633972" y="1961388"/>
            <a:ext cx="228600" cy="228600"/>
          </a:xfrm>
          <a:prstGeom prst="rect">
            <a:avLst/>
          </a:prstGeom>
        </p:spPr>
      </p:pic>
      <p:sp>
        <p:nvSpPr>
          <p:cNvPr id="14" name="Text 9"/>
          <p:cNvSpPr txBox="1"/>
          <p:nvPr/>
        </p:nvSpPr>
        <p:spPr>
          <a:xfrm>
            <a:off x="7123176" y="1847088"/>
            <a:ext cx="4233672" cy="457200"/>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libuv — I/O Asinkron</a:t>
            </a:r>
            <a:endParaRPr lang="en-US" sz="1450" dirty="0"/>
          </a:p>
        </p:txBody>
      </p:sp>
      <p:sp>
        <p:nvSpPr>
          <p:cNvPr id="15" name="Text 10"/>
          <p:cNvSpPr txBox="1"/>
          <p:nvPr/>
        </p:nvSpPr>
        <p:spPr>
          <a:xfrm>
            <a:off x="6574536" y="2414016"/>
            <a:ext cx="4782312" cy="102412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Pustaka C lintas platform yang menjalankan event loop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Menyediakan thread pool (default empat thread)</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Membungkus epoll, kqueue, dan IOCP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Menangani berkas, DNS, kompresi, dan kriptografi</a:t>
            </a:r>
            <a:endParaRPr lang="en-US" sz="1100" dirty="0"/>
          </a:p>
        </p:txBody>
      </p:sp>
      <p:sp>
        <p:nvSpPr>
          <p:cNvPr id="16" name="Shape 11"/>
          <p:cNvSpPr/>
          <p:nvPr/>
        </p:nvSpPr>
        <p:spPr>
          <a:xfrm>
            <a:off x="640080" y="3803904"/>
            <a:ext cx="5943600" cy="2437790"/>
          </a:xfrm>
          <a:prstGeom prst="roundRect">
            <a:avLst>
              <a:gd name="adj" fmla="val 2626"/>
            </a:avLst>
          </a:prstGeom>
          <a:solidFill>
            <a:srgbClr val="0E2417"/>
          </a:solidFill>
          <a:ln w="12700">
            <a:solidFill>
              <a:srgbClr val="234A31"/>
            </a:solidFill>
            <a:prstDash val="solid"/>
          </a:ln>
        </p:spPr>
      </p:sp>
      <p:sp>
        <p:nvSpPr>
          <p:cNvPr id="17" name="Text 12"/>
          <p:cNvSpPr txBox="1"/>
          <p:nvPr/>
        </p:nvSpPr>
        <p:spPr>
          <a:xfrm>
            <a:off x="859536" y="3895344"/>
            <a:ext cx="55046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ALUR SEBUAH OPERASI I/O</a:t>
            </a:r>
            <a:endParaRPr lang="en-US" sz="950" dirty="0"/>
          </a:p>
        </p:txBody>
      </p:sp>
      <p:sp>
        <p:nvSpPr>
          <p:cNvPr id="18" name="Text 13"/>
          <p:cNvSpPr txBox="1"/>
          <p:nvPr/>
        </p:nvSpPr>
        <p:spPr>
          <a:xfrm>
            <a:off x="859536" y="4206240"/>
            <a:ext cx="5504688" cy="1925726"/>
          </a:xfrm>
          <a:prstGeom prst="rect">
            <a:avLst/>
          </a:prstGeom>
          <a:noFill/>
          <a:ln/>
        </p:spPr>
        <p:txBody>
          <a:bodyPr wrap="square" lIns="0" tIns="0" rIns="0" bIns="0" rtlCol="0" anchor="t"/>
          <a:lstStyle/>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1. JavaScript memanggil API Node</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(err, data) =&gt;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4. Callback dijalankan oleh event loop</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.log(data.toString());</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2. libuv membaca berkas di thread pool</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3. Event loop tetap bebas menerima tugas lain</a:t>
            </a:r>
            <a:endParaRPr lang="en-US" sz="1100" dirty="0"/>
          </a:p>
        </p:txBody>
      </p:sp>
      <p:sp>
        <p:nvSpPr>
          <p:cNvPr id="19" name="Shape 14"/>
          <p:cNvSpPr/>
          <p:nvPr/>
        </p:nvSpPr>
        <p:spPr>
          <a:xfrm>
            <a:off x="6858000" y="3931920"/>
            <a:ext cx="420624" cy="420624"/>
          </a:xfrm>
          <a:prstGeom prst="roundRect">
            <a:avLst>
              <a:gd name="adj" fmla="val 26087"/>
            </a:avLst>
          </a:prstGeom>
          <a:solidFill>
            <a:srgbClr val="E8F2E2"/>
          </a:solidFill>
          <a:ln w="12700">
            <a:solidFill>
              <a:srgbClr val="E8F2E2"/>
            </a:solidFill>
            <a:prstDash val="solid"/>
          </a:ln>
        </p:spPr>
      </p:sp>
      <p:pic>
        <p:nvPicPr>
          <p:cNvPr id="20" name="Image 3" descr="preencoded.png">    </p:cNvPr>
          <p:cNvPicPr>
            <a:picLocks noChangeAspect="1"/>
          </p:cNvPicPr>
          <p:nvPr/>
        </p:nvPicPr>
        <p:blipFill>
          <a:blip r:embed="rId4"/>
          <a:stretch>
            <a:fillRect/>
          </a:stretch>
        </p:blipFill>
        <p:spPr>
          <a:xfrm>
            <a:off x="6963156" y="4037076"/>
            <a:ext cx="210312" cy="210312"/>
          </a:xfrm>
          <a:prstGeom prst="rect">
            <a:avLst/>
          </a:prstGeom>
        </p:spPr>
      </p:pic>
      <p:sp>
        <p:nvSpPr>
          <p:cNvPr id="21" name="Text 15"/>
          <p:cNvSpPr txBox="1"/>
          <p:nvPr/>
        </p:nvSpPr>
        <p:spPr>
          <a:xfrm>
            <a:off x="7424928" y="3913632"/>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Kompilasi JIT</a:t>
            </a:r>
            <a:endParaRPr lang="en-US" sz="1250" dirty="0"/>
          </a:p>
        </p:txBody>
      </p:sp>
      <p:sp>
        <p:nvSpPr>
          <p:cNvPr id="22" name="Text 16"/>
          <p:cNvSpPr txBox="1"/>
          <p:nvPr/>
        </p:nvSpPr>
        <p:spPr>
          <a:xfrm>
            <a:off x="7424928" y="4169664"/>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V8 mengoptimalkan fungsi yang sering dipanggil menjadi kode mesin yang sangat cepat.</a:t>
            </a:r>
            <a:endParaRPr lang="en-US" sz="1100" dirty="0"/>
          </a:p>
        </p:txBody>
      </p:sp>
      <p:sp>
        <p:nvSpPr>
          <p:cNvPr id="23" name="Shape 17"/>
          <p:cNvSpPr/>
          <p:nvPr/>
        </p:nvSpPr>
        <p:spPr>
          <a:xfrm>
            <a:off x="6858000" y="4681728"/>
            <a:ext cx="420624" cy="420624"/>
          </a:xfrm>
          <a:prstGeom prst="roundRect">
            <a:avLst>
              <a:gd name="adj" fmla="val 26087"/>
            </a:avLst>
          </a:prstGeom>
          <a:solidFill>
            <a:srgbClr val="E8F2E2"/>
          </a:solidFill>
          <a:ln w="12700">
            <a:solidFill>
              <a:srgbClr val="E8F2E2"/>
            </a:solidFill>
            <a:prstDash val="solid"/>
          </a:ln>
        </p:spPr>
      </p:sp>
      <p:pic>
        <p:nvPicPr>
          <p:cNvPr id="24" name="Image 4" descr="preencoded.png">    </p:cNvPr>
          <p:cNvPicPr>
            <a:picLocks noChangeAspect="1"/>
          </p:cNvPicPr>
          <p:nvPr/>
        </p:nvPicPr>
        <p:blipFill>
          <a:blip r:embed="rId5"/>
          <a:stretch>
            <a:fillRect/>
          </a:stretch>
        </p:blipFill>
        <p:spPr>
          <a:xfrm>
            <a:off x="6963156" y="4786884"/>
            <a:ext cx="210312" cy="210312"/>
          </a:xfrm>
          <a:prstGeom prst="rect">
            <a:avLst/>
          </a:prstGeom>
        </p:spPr>
      </p:pic>
      <p:sp>
        <p:nvSpPr>
          <p:cNvPr id="25" name="Text 18"/>
          <p:cNvSpPr txBox="1"/>
          <p:nvPr/>
        </p:nvSpPr>
        <p:spPr>
          <a:xfrm>
            <a:off x="7424928" y="4663440"/>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Thread Pool</a:t>
            </a:r>
            <a:endParaRPr lang="en-US" sz="1250" dirty="0"/>
          </a:p>
        </p:txBody>
      </p:sp>
      <p:sp>
        <p:nvSpPr>
          <p:cNvPr id="26" name="Text 19"/>
          <p:cNvSpPr txBox="1"/>
          <p:nvPr/>
        </p:nvSpPr>
        <p:spPr>
          <a:xfrm>
            <a:off x="7424928" y="4919472"/>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Berukuran empat thread secara default, dapat diubah lewat UV_THREADPOOL_SIZE.</a:t>
            </a:r>
            <a:endParaRPr lang="en-US" sz="1100" dirty="0"/>
          </a:p>
        </p:txBody>
      </p:sp>
      <p:sp>
        <p:nvSpPr>
          <p:cNvPr id="27" name="Shape 20"/>
          <p:cNvSpPr/>
          <p:nvPr/>
        </p:nvSpPr>
        <p:spPr>
          <a:xfrm>
            <a:off x="6858000" y="5431536"/>
            <a:ext cx="420624" cy="420624"/>
          </a:xfrm>
          <a:prstGeom prst="roundRect">
            <a:avLst>
              <a:gd name="adj" fmla="val 26087"/>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6963156" y="5536692"/>
            <a:ext cx="210312" cy="210312"/>
          </a:xfrm>
          <a:prstGeom prst="rect">
            <a:avLst/>
          </a:prstGeom>
        </p:spPr>
      </p:pic>
      <p:sp>
        <p:nvSpPr>
          <p:cNvPr id="29" name="Text 21"/>
          <p:cNvSpPr txBox="1"/>
          <p:nvPr/>
        </p:nvSpPr>
        <p:spPr>
          <a:xfrm>
            <a:off x="7424928" y="5413248"/>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I/O Jaringan</a:t>
            </a:r>
            <a:endParaRPr lang="en-US" sz="1250" dirty="0"/>
          </a:p>
        </p:txBody>
      </p:sp>
      <p:sp>
        <p:nvSpPr>
          <p:cNvPr id="30" name="Text 22"/>
          <p:cNvSpPr txBox="1"/>
          <p:nvPr/>
        </p:nvSpPr>
        <p:spPr>
          <a:xfrm>
            <a:off x="7424928" y="5669280"/>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Operasi socket dan HTTP ditangani kernel langsung, tanpa memakai thread pool.</a:t>
            </a:r>
            <a:endParaRPr lang="en-US" sz="1100" dirty="0"/>
          </a:p>
        </p:txBody>
      </p:sp>
      <p:sp>
        <p:nvSpPr>
          <p:cNvPr id="31" name="Text 2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2" name="Text 2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Event Loop: Enam Fase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Setiap iterasi event loop melewati fase berikut secara berurutan</a:t>
            </a:r>
            <a:endParaRPr lang="en-US" sz="1300" dirty="0"/>
          </a:p>
        </p:txBody>
      </p:sp>
      <p:sp>
        <p:nvSpPr>
          <p:cNvPr id="6" name="Shape 3"/>
          <p:cNvSpPr/>
          <p:nvPr/>
        </p:nvSpPr>
        <p:spPr>
          <a:xfrm>
            <a:off x="640080"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47088"/>
            <a:ext cx="384048" cy="384048"/>
          </a:xfrm>
          <a:prstGeom prst="roundRect">
            <a:avLst>
              <a:gd name="adj" fmla="val 26190"/>
            </a:avLst>
          </a:prstGeom>
          <a:solidFill>
            <a:srgbClr val="3C873A"/>
          </a:solidFill>
          <a:ln w="12700">
            <a:solidFill>
              <a:srgbClr val="3C873A"/>
            </a:solidFill>
            <a:prstDash val="solid"/>
          </a:ln>
        </p:spPr>
      </p:sp>
      <p:sp>
        <p:nvSpPr>
          <p:cNvPr id="8" name="Text 5"/>
          <p:cNvSpPr txBox="1"/>
          <p:nvPr/>
        </p:nvSpPr>
        <p:spPr>
          <a:xfrm>
            <a:off x="877824"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9" name="Text 6"/>
          <p:cNvSpPr txBox="1"/>
          <p:nvPr/>
        </p:nvSpPr>
        <p:spPr>
          <a:xfrm>
            <a:off x="1371600"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Timers</a:t>
            </a:r>
            <a:endParaRPr lang="en-US" sz="1300" dirty="0"/>
          </a:p>
        </p:txBody>
      </p:sp>
      <p:sp>
        <p:nvSpPr>
          <p:cNvPr id="10" name="Text 7"/>
          <p:cNvSpPr txBox="1"/>
          <p:nvPr/>
        </p:nvSpPr>
        <p:spPr>
          <a:xfrm>
            <a:off x="877824"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dari setTimeout dan setInterval yang waktunya telah tiba.</a:t>
            </a:r>
            <a:endParaRPr lang="en-US" sz="1030" dirty="0"/>
          </a:p>
        </p:txBody>
      </p:sp>
      <p:sp>
        <p:nvSpPr>
          <p:cNvPr id="11" name="Shape 8"/>
          <p:cNvSpPr/>
          <p:nvPr/>
        </p:nvSpPr>
        <p:spPr>
          <a:xfrm>
            <a:off x="4443984"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9"/>
          <p:cNvSpPr/>
          <p:nvPr/>
        </p:nvSpPr>
        <p:spPr>
          <a:xfrm>
            <a:off x="4681728" y="1847088"/>
            <a:ext cx="384048" cy="384048"/>
          </a:xfrm>
          <a:prstGeom prst="roundRect">
            <a:avLst>
              <a:gd name="adj" fmla="val 26190"/>
            </a:avLst>
          </a:prstGeom>
          <a:solidFill>
            <a:srgbClr val="3C873A"/>
          </a:solidFill>
          <a:ln w="12700">
            <a:solidFill>
              <a:srgbClr val="3C873A"/>
            </a:solidFill>
            <a:prstDash val="solid"/>
          </a:ln>
        </p:spPr>
      </p:sp>
      <p:sp>
        <p:nvSpPr>
          <p:cNvPr id="13" name="Text 10"/>
          <p:cNvSpPr txBox="1"/>
          <p:nvPr/>
        </p:nvSpPr>
        <p:spPr>
          <a:xfrm>
            <a:off x="4681728"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4" name="Text 11"/>
          <p:cNvSpPr txBox="1"/>
          <p:nvPr/>
        </p:nvSpPr>
        <p:spPr>
          <a:xfrm>
            <a:off x="5175504"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Pending Callbacks</a:t>
            </a:r>
            <a:endParaRPr lang="en-US" sz="1300" dirty="0"/>
          </a:p>
        </p:txBody>
      </p:sp>
      <p:sp>
        <p:nvSpPr>
          <p:cNvPr id="15" name="Text 12"/>
          <p:cNvSpPr txBox="1"/>
          <p:nvPr/>
        </p:nvSpPr>
        <p:spPr>
          <a:xfrm>
            <a:off x="4681728"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I/O tertentu yang ditunda dari iterasi sebelumnya.</a:t>
            </a:r>
            <a:endParaRPr lang="en-US" sz="1030" dirty="0"/>
          </a:p>
        </p:txBody>
      </p:sp>
      <p:sp>
        <p:nvSpPr>
          <p:cNvPr id="16" name="Shape 13"/>
          <p:cNvSpPr/>
          <p:nvPr/>
        </p:nvSpPr>
        <p:spPr>
          <a:xfrm>
            <a:off x="8247888"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4"/>
          <p:cNvSpPr/>
          <p:nvPr/>
        </p:nvSpPr>
        <p:spPr>
          <a:xfrm>
            <a:off x="8485632" y="1847088"/>
            <a:ext cx="384048" cy="384048"/>
          </a:xfrm>
          <a:prstGeom prst="roundRect">
            <a:avLst>
              <a:gd name="adj" fmla="val 26190"/>
            </a:avLst>
          </a:prstGeom>
          <a:solidFill>
            <a:srgbClr val="3C873A"/>
          </a:solidFill>
          <a:ln w="12700">
            <a:solidFill>
              <a:srgbClr val="3C873A"/>
            </a:solidFill>
            <a:prstDash val="solid"/>
          </a:ln>
        </p:spPr>
      </p:sp>
      <p:sp>
        <p:nvSpPr>
          <p:cNvPr id="18" name="Text 15"/>
          <p:cNvSpPr txBox="1"/>
          <p:nvPr/>
        </p:nvSpPr>
        <p:spPr>
          <a:xfrm>
            <a:off x="8485632"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6"/>
          <p:cNvSpPr txBox="1"/>
          <p:nvPr/>
        </p:nvSpPr>
        <p:spPr>
          <a:xfrm>
            <a:off x="8979408"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Idle / Prepare</a:t>
            </a:r>
            <a:endParaRPr lang="en-US" sz="1300" dirty="0"/>
          </a:p>
        </p:txBody>
      </p:sp>
      <p:sp>
        <p:nvSpPr>
          <p:cNvPr id="20" name="Text 17"/>
          <p:cNvSpPr txBox="1"/>
          <p:nvPr/>
        </p:nvSpPr>
        <p:spPr>
          <a:xfrm>
            <a:off x="8485632"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Fase internal Node.js, tidak digunakan langsung oleh kode aplikasi.</a:t>
            </a:r>
            <a:endParaRPr lang="en-US" sz="1030" dirty="0"/>
          </a:p>
        </p:txBody>
      </p:sp>
      <p:sp>
        <p:nvSpPr>
          <p:cNvPr id="21" name="Shape 18"/>
          <p:cNvSpPr/>
          <p:nvPr/>
        </p:nvSpPr>
        <p:spPr>
          <a:xfrm>
            <a:off x="640080"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9"/>
          <p:cNvSpPr/>
          <p:nvPr/>
        </p:nvSpPr>
        <p:spPr>
          <a:xfrm>
            <a:off x="877824" y="3236976"/>
            <a:ext cx="384048" cy="384048"/>
          </a:xfrm>
          <a:prstGeom prst="roundRect">
            <a:avLst>
              <a:gd name="adj" fmla="val 26190"/>
            </a:avLst>
          </a:prstGeom>
          <a:solidFill>
            <a:srgbClr val="3C873A"/>
          </a:solidFill>
          <a:ln w="12700">
            <a:solidFill>
              <a:srgbClr val="3C873A"/>
            </a:solidFill>
            <a:prstDash val="solid"/>
          </a:ln>
        </p:spPr>
      </p:sp>
      <p:sp>
        <p:nvSpPr>
          <p:cNvPr id="23" name="Text 20"/>
          <p:cNvSpPr txBox="1"/>
          <p:nvPr/>
        </p:nvSpPr>
        <p:spPr>
          <a:xfrm>
            <a:off x="877824"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4" name="Text 21"/>
          <p:cNvSpPr txBox="1"/>
          <p:nvPr/>
        </p:nvSpPr>
        <p:spPr>
          <a:xfrm>
            <a:off x="1371600"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Poll</a:t>
            </a:r>
            <a:endParaRPr lang="en-US" sz="1300" dirty="0"/>
          </a:p>
        </p:txBody>
      </p:sp>
      <p:sp>
        <p:nvSpPr>
          <p:cNvPr id="25" name="Text 22"/>
          <p:cNvSpPr txBox="1"/>
          <p:nvPr/>
        </p:nvSpPr>
        <p:spPr>
          <a:xfrm>
            <a:off x="877824"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Mengambil event I/O baru dan menjalankan callback-nya. Fase paling sibuk.</a:t>
            </a:r>
            <a:endParaRPr lang="en-US" sz="1030" dirty="0"/>
          </a:p>
        </p:txBody>
      </p:sp>
      <p:sp>
        <p:nvSpPr>
          <p:cNvPr id="26" name="Shape 23"/>
          <p:cNvSpPr/>
          <p:nvPr/>
        </p:nvSpPr>
        <p:spPr>
          <a:xfrm>
            <a:off x="4443984"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4"/>
          <p:cNvSpPr/>
          <p:nvPr/>
        </p:nvSpPr>
        <p:spPr>
          <a:xfrm>
            <a:off x="4681728" y="3236976"/>
            <a:ext cx="384048" cy="384048"/>
          </a:xfrm>
          <a:prstGeom prst="roundRect">
            <a:avLst>
              <a:gd name="adj" fmla="val 26190"/>
            </a:avLst>
          </a:prstGeom>
          <a:solidFill>
            <a:srgbClr val="3C873A"/>
          </a:solidFill>
          <a:ln w="12700">
            <a:solidFill>
              <a:srgbClr val="3C873A"/>
            </a:solidFill>
            <a:prstDash val="solid"/>
          </a:ln>
        </p:spPr>
      </p:sp>
      <p:sp>
        <p:nvSpPr>
          <p:cNvPr id="28" name="Text 25"/>
          <p:cNvSpPr txBox="1"/>
          <p:nvPr/>
        </p:nvSpPr>
        <p:spPr>
          <a:xfrm>
            <a:off x="4681728"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29" name="Text 26"/>
          <p:cNvSpPr txBox="1"/>
          <p:nvPr/>
        </p:nvSpPr>
        <p:spPr>
          <a:xfrm>
            <a:off x="5175504"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Check</a:t>
            </a:r>
            <a:endParaRPr lang="en-US" sz="1300" dirty="0"/>
          </a:p>
        </p:txBody>
      </p:sp>
      <p:sp>
        <p:nvSpPr>
          <p:cNvPr id="30" name="Text 27"/>
          <p:cNvSpPr txBox="1"/>
          <p:nvPr/>
        </p:nvSpPr>
        <p:spPr>
          <a:xfrm>
            <a:off x="4681728"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yang didaftarkan melalui setImmediate.</a:t>
            </a:r>
            <a:endParaRPr lang="en-US" sz="1030" dirty="0"/>
          </a:p>
        </p:txBody>
      </p:sp>
      <p:sp>
        <p:nvSpPr>
          <p:cNvPr id="31" name="Shape 28"/>
          <p:cNvSpPr/>
          <p:nvPr/>
        </p:nvSpPr>
        <p:spPr>
          <a:xfrm>
            <a:off x="8247888"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9"/>
          <p:cNvSpPr/>
          <p:nvPr/>
        </p:nvSpPr>
        <p:spPr>
          <a:xfrm>
            <a:off x="8485632" y="3236976"/>
            <a:ext cx="384048" cy="384048"/>
          </a:xfrm>
          <a:prstGeom prst="roundRect">
            <a:avLst>
              <a:gd name="adj" fmla="val 26190"/>
            </a:avLst>
          </a:prstGeom>
          <a:solidFill>
            <a:srgbClr val="3C873A"/>
          </a:solidFill>
          <a:ln w="12700">
            <a:solidFill>
              <a:srgbClr val="3C873A"/>
            </a:solidFill>
            <a:prstDash val="solid"/>
          </a:ln>
        </p:spPr>
      </p:sp>
      <p:sp>
        <p:nvSpPr>
          <p:cNvPr id="33" name="Text 30"/>
          <p:cNvSpPr txBox="1"/>
          <p:nvPr/>
        </p:nvSpPr>
        <p:spPr>
          <a:xfrm>
            <a:off x="8485632"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6</a:t>
            </a:r>
            <a:endParaRPr lang="en-US" sz="1250" dirty="0"/>
          </a:p>
        </p:txBody>
      </p:sp>
      <p:sp>
        <p:nvSpPr>
          <p:cNvPr id="34" name="Text 31"/>
          <p:cNvSpPr txBox="1"/>
          <p:nvPr/>
        </p:nvSpPr>
        <p:spPr>
          <a:xfrm>
            <a:off x="8979408"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Close Callbacks</a:t>
            </a:r>
            <a:endParaRPr lang="en-US" sz="1300" dirty="0"/>
          </a:p>
        </p:txBody>
      </p:sp>
      <p:sp>
        <p:nvSpPr>
          <p:cNvPr id="35" name="Text 32"/>
          <p:cNvSpPr txBox="1"/>
          <p:nvPr/>
        </p:nvSpPr>
        <p:spPr>
          <a:xfrm>
            <a:off x="8485632"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penutupan, misalnya socket.on('close').</a:t>
            </a:r>
            <a:endParaRPr lang="en-US" sz="1030" dirty="0"/>
          </a:p>
        </p:txBody>
      </p:sp>
      <p:sp>
        <p:nvSpPr>
          <p:cNvPr id="36" name="Shape 33"/>
          <p:cNvSpPr/>
          <p:nvPr/>
        </p:nvSpPr>
        <p:spPr>
          <a:xfrm>
            <a:off x="640080" y="4443984"/>
            <a:ext cx="5669280" cy="1682496"/>
          </a:xfrm>
          <a:prstGeom prst="roundRect">
            <a:avLst>
              <a:gd name="adj" fmla="val 4891"/>
            </a:avLst>
          </a:prstGeom>
          <a:solidFill>
            <a:srgbClr val="FDF7E3"/>
          </a:solidFill>
          <a:ln w="12700">
            <a:solidFill>
              <a:srgbClr val="EFDFAE"/>
            </a:solidFill>
            <a:prstDash val="solid"/>
          </a:ln>
        </p:spPr>
      </p:sp>
      <p:pic>
        <p:nvPicPr>
          <p:cNvPr id="37" name="Image 1" descr="preencoded.png">    </p:cNvPr>
          <p:cNvPicPr>
            <a:picLocks noChangeAspect="1"/>
          </p:cNvPicPr>
          <p:nvPr/>
        </p:nvPicPr>
        <p:blipFill>
          <a:blip r:embed="rId2"/>
          <a:stretch>
            <a:fillRect/>
          </a:stretch>
        </p:blipFill>
        <p:spPr>
          <a:xfrm>
            <a:off x="896112" y="4645152"/>
            <a:ext cx="292608" cy="292608"/>
          </a:xfrm>
          <a:prstGeom prst="rect">
            <a:avLst/>
          </a:prstGeom>
        </p:spPr>
      </p:pic>
      <p:sp>
        <p:nvSpPr>
          <p:cNvPr id="38" name="Text 34"/>
          <p:cNvSpPr txBox="1"/>
          <p:nvPr/>
        </p:nvSpPr>
        <p:spPr>
          <a:xfrm>
            <a:off x="1316736" y="4608576"/>
            <a:ext cx="4754880" cy="365760"/>
          </a:xfrm>
          <a:prstGeom prst="rect">
            <a:avLst/>
          </a:prstGeom>
          <a:noFill/>
          <a:ln/>
        </p:spPr>
        <p:txBody>
          <a:bodyPr wrap="square" lIns="0" tIns="0" rIns="0" bIns="0" rtlCol="0" anchor="ctr"/>
          <a:lstStyle/>
          <a:p>
            <a:pPr indent="0" marL="0">
              <a:buNone/>
            </a:pPr>
            <a:r>
              <a:rPr lang="en-US" sz="1300" b="1" dirty="0">
                <a:solidFill>
                  <a:srgbClr val="6B5312"/>
                </a:solidFill>
                <a:latin typeface="Arial" pitchFamily="34" charset="0"/>
                <a:ea typeface="Arial" pitchFamily="34" charset="-122"/>
                <a:cs typeface="Arial" pitchFamily="34" charset="-120"/>
              </a:rPr>
              <a:t>Antrean Berprioritas Tinggi</a:t>
            </a:r>
            <a:endParaRPr lang="en-US" sz="1300" dirty="0"/>
          </a:p>
        </p:txBody>
      </p:sp>
      <p:sp>
        <p:nvSpPr>
          <p:cNvPr id="39" name="Text 35"/>
          <p:cNvSpPr txBox="1"/>
          <p:nvPr/>
        </p:nvSpPr>
        <p:spPr>
          <a:xfrm>
            <a:off x="896112" y="5029200"/>
            <a:ext cx="5157216" cy="987552"/>
          </a:xfrm>
          <a:prstGeom prst="rect">
            <a:avLst/>
          </a:prstGeom>
          <a:noFill/>
          <a:ln/>
        </p:spPr>
        <p:txBody>
          <a:bodyPr wrap="square" lIns="0" tIns="0" rIns="0" bIns="0" rtlCol="0" anchor="t"/>
          <a:lstStyle/>
          <a:p>
            <a:pPr indent="0" marL="0">
              <a:lnSpc>
                <a:spcPct val="114000"/>
              </a:lnSpc>
              <a:buNone/>
            </a:pPr>
            <a:r>
              <a:rPr lang="en-US" sz="1080" b="1" dirty="0">
                <a:solidFill>
                  <a:srgbClr val="6B5312"/>
                </a:solidFill>
                <a:latin typeface="Courier New" pitchFamily="34" charset="0"/>
                <a:ea typeface="Courier New" pitchFamily="34" charset="-122"/>
                <a:cs typeface="Courier New" pitchFamily="34" charset="-120"/>
              </a:rPr>
              <a:t>process.nextTick()</a:t>
            </a:r>
            <a:pPr indent="0" marL="0">
              <a:lnSpc>
                <a:spcPct val="114000"/>
              </a:lnSpc>
              <a:buNone/>
            </a:pPr>
            <a:r>
              <a:rPr lang="en-US" sz="1080" dirty="0">
                <a:solidFill>
                  <a:srgbClr val="6B5312"/>
                </a:solidFill>
                <a:latin typeface="Calibri" pitchFamily="34" charset="0"/>
                <a:ea typeface="Calibri" pitchFamily="34" charset="-122"/>
                <a:cs typeface="Calibri" pitchFamily="34" charset="-120"/>
              </a:rPr>
              <a:t> dan </a:t>
            </a:r>
            <a:pPr indent="0" marL="0">
              <a:lnSpc>
                <a:spcPct val="114000"/>
              </a:lnSpc>
              <a:buNone/>
            </a:pPr>
            <a:r>
              <a:rPr lang="en-US" sz="1080" b="1" dirty="0">
                <a:solidFill>
                  <a:srgbClr val="6B5312"/>
                </a:solidFill>
                <a:latin typeface="Courier New" pitchFamily="34" charset="0"/>
                <a:ea typeface="Courier New" pitchFamily="34" charset="-122"/>
                <a:cs typeface="Courier New" pitchFamily="34" charset="-120"/>
              </a:rPr>
              <a:t>Promise</a:t>
            </a:r>
            <a:pPr indent="0" marL="0">
              <a:lnSpc>
                <a:spcPct val="114000"/>
              </a:lnSpc>
              <a:buNone/>
            </a:pPr>
            <a:r>
              <a:rPr lang="en-US" sz="1080" dirty="0">
                <a:solidFill>
                  <a:srgbClr val="6B5312"/>
                </a:solidFill>
                <a:latin typeface="Calibri" pitchFamily="34" charset="0"/>
                <a:ea typeface="Calibri" pitchFamily="34" charset="-122"/>
                <a:cs typeface="Calibri" pitchFamily="34" charset="-120"/>
              </a:rPr>
              <a:t> (microtask) dijalankan di antara setiap fase, bukan di dalam fase tertentu. Keduanya selalu didahulukan sebelum event loop melanjutkan ke fase berikutnya, sehingga kode yang menumpuk di antrean ini dapat membuat event loop kelaparan.</a:t>
            </a:r>
            <a:endParaRPr lang="en-US" sz="1080" dirty="0"/>
          </a:p>
        </p:txBody>
      </p:sp>
      <p:sp>
        <p:nvSpPr>
          <p:cNvPr id="40" name="Shape 36"/>
          <p:cNvSpPr/>
          <p:nvPr/>
        </p:nvSpPr>
        <p:spPr>
          <a:xfrm>
            <a:off x="6583680" y="4443984"/>
            <a:ext cx="5029200" cy="1638422"/>
          </a:xfrm>
          <a:prstGeom prst="roundRect">
            <a:avLst>
              <a:gd name="adj" fmla="val 3907"/>
            </a:avLst>
          </a:prstGeom>
          <a:solidFill>
            <a:srgbClr val="0E2417"/>
          </a:solidFill>
          <a:ln w="12700">
            <a:solidFill>
              <a:srgbClr val="234A31"/>
            </a:solidFill>
            <a:prstDash val="solid"/>
          </a:ln>
        </p:spPr>
      </p:sp>
      <p:sp>
        <p:nvSpPr>
          <p:cNvPr id="41" name="Text 37"/>
          <p:cNvSpPr txBox="1"/>
          <p:nvPr/>
        </p:nvSpPr>
        <p:spPr>
          <a:xfrm>
            <a:off x="6803136" y="4535424"/>
            <a:ext cx="45902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URUTAN EKSEKUSI</a:t>
            </a:r>
            <a:endParaRPr lang="en-US" sz="950" dirty="0"/>
          </a:p>
        </p:txBody>
      </p:sp>
      <p:sp>
        <p:nvSpPr>
          <p:cNvPr id="42" name="Text 38"/>
          <p:cNvSpPr txBox="1"/>
          <p:nvPr/>
        </p:nvSpPr>
        <p:spPr>
          <a:xfrm>
            <a:off x="6803136" y="4846320"/>
            <a:ext cx="4590288" cy="1126358"/>
          </a:xfrm>
          <a:prstGeom prst="rect">
            <a:avLst/>
          </a:prstGeom>
          <a:noFill/>
          <a:ln/>
        </p:spPr>
        <p:txBody>
          <a:bodyPr wrap="square" lIns="0" tIns="0" rIns="0" bIns="0" rtlCol="0" anchor="t"/>
          <a:lstStyle/>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'1 sinkron'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setTimeout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'4 timer'</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setImmediate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'5 check'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.resolve().then(()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'3 micro'</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.nextTick(()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'2 nextTick'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Output: 1 -&gt; 2 -&gt; 3 -&gt; 4 -&gt; 5</a:t>
            </a:r>
            <a:endParaRPr lang="en-US" sz="1050" dirty="0"/>
          </a:p>
        </p:txBody>
      </p:sp>
      <p:sp>
        <p:nvSpPr>
          <p:cNvPr id="43"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4"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Blocking vs Non-Blocking I/O</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Perbedaan mendasar yang menentukan skalabilitas aplikasi Node.js</a:t>
            </a:r>
            <a:endParaRPr lang="en-US" sz="1300" dirty="0"/>
          </a:p>
        </p:txBody>
      </p:sp>
      <p:sp>
        <p:nvSpPr>
          <p:cNvPr id="6" name="Shape 3"/>
          <p:cNvSpPr/>
          <p:nvPr/>
        </p:nvSpPr>
        <p:spPr>
          <a:xfrm>
            <a:off x="640080" y="1627632"/>
            <a:ext cx="5349240" cy="457200"/>
          </a:xfrm>
          <a:prstGeom prst="roundRect">
            <a:avLst>
              <a:gd name="adj" fmla="val 18000"/>
            </a:avLst>
          </a:prstGeom>
          <a:solidFill>
            <a:srgbClr val="C0392B"/>
          </a:solidFill>
          <a:ln w="12700">
            <a:solidFill>
              <a:srgbClr val="C0392B"/>
            </a:solidFill>
            <a:prstDash val="solid"/>
          </a:ln>
        </p:spPr>
      </p:sp>
      <p:sp>
        <p:nvSpPr>
          <p:cNvPr id="7" name="Text 4"/>
          <p:cNvSpPr txBox="1"/>
          <p:nvPr/>
        </p:nvSpPr>
        <p:spPr>
          <a:xfrm>
            <a:off x="868680" y="1627632"/>
            <a:ext cx="489204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BLOCKING — Menghentikan Thread</a:t>
            </a:r>
            <a:endParaRPr lang="en-US" sz="1250" dirty="0"/>
          </a:p>
        </p:txBody>
      </p:sp>
      <p:sp>
        <p:nvSpPr>
          <p:cNvPr id="8" name="Shape 5"/>
          <p:cNvSpPr/>
          <p:nvPr/>
        </p:nvSpPr>
        <p:spPr>
          <a:xfrm>
            <a:off x="6263640" y="1627632"/>
            <a:ext cx="5349240" cy="457200"/>
          </a:xfrm>
          <a:prstGeom prst="roundRect">
            <a:avLst>
              <a:gd name="adj" fmla="val 18000"/>
            </a:avLst>
          </a:prstGeom>
          <a:solidFill>
            <a:srgbClr val="3C873A"/>
          </a:solidFill>
          <a:ln w="12700">
            <a:solidFill>
              <a:srgbClr val="3C873A"/>
            </a:solidFill>
            <a:prstDash val="solid"/>
          </a:ln>
        </p:spPr>
      </p:sp>
      <p:sp>
        <p:nvSpPr>
          <p:cNvPr id="9" name="Text 6"/>
          <p:cNvSpPr txBox="1"/>
          <p:nvPr/>
        </p:nvSpPr>
        <p:spPr>
          <a:xfrm>
            <a:off x="6492240" y="1627632"/>
            <a:ext cx="489204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NON-BLOCKING — Melanjutkan Eksekusi</a:t>
            </a:r>
            <a:endParaRPr lang="en-US" sz="1250" dirty="0"/>
          </a:p>
        </p:txBody>
      </p:sp>
      <p:sp>
        <p:nvSpPr>
          <p:cNvPr id="10" name="Shape 7"/>
          <p:cNvSpPr/>
          <p:nvPr/>
        </p:nvSpPr>
        <p:spPr>
          <a:xfrm>
            <a:off x="640080" y="2212848"/>
            <a:ext cx="5349240" cy="1862450"/>
          </a:xfrm>
          <a:prstGeom prst="roundRect">
            <a:avLst>
              <a:gd name="adj" fmla="val 3437"/>
            </a:avLst>
          </a:prstGeom>
          <a:solidFill>
            <a:srgbClr val="0E2417"/>
          </a:solidFill>
          <a:ln w="12700">
            <a:solidFill>
              <a:srgbClr val="234A31"/>
            </a:solidFill>
            <a:prstDash val="solid"/>
          </a:ln>
        </p:spPr>
      </p:sp>
      <p:sp>
        <p:nvSpPr>
          <p:cNvPr id="11" name="Text 8"/>
          <p:cNvSpPr txBox="1"/>
          <p:nvPr/>
        </p:nvSpPr>
        <p:spPr>
          <a:xfrm>
            <a:off x="859536" y="2414016"/>
            <a:ext cx="4910328" cy="1551554"/>
          </a:xfrm>
          <a:prstGeom prst="rect">
            <a:avLst/>
          </a:prstGeom>
          <a:noFill/>
          <a:ln/>
        </p:spPr>
        <p:txBody>
          <a:bodyPr wrap="square" lIns="0" tIns="0" rIns="0" bIns="0" rtlCol="0" anchor="t"/>
          <a:lstStyle/>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Thread berhenti sampai berkas selesai dibaca</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data = fs.readFileSync(</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Baris ini menunggu baris di atas selesai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prosesLain();</a:t>
            </a:r>
            <a:endParaRPr lang="en-US" sz="1100" dirty="0"/>
          </a:p>
        </p:txBody>
      </p:sp>
      <p:sp>
        <p:nvSpPr>
          <p:cNvPr id="12" name="Shape 9"/>
          <p:cNvSpPr/>
          <p:nvPr/>
        </p:nvSpPr>
        <p:spPr>
          <a:xfrm>
            <a:off x="6263640" y="2212848"/>
            <a:ext cx="5349240" cy="2049536"/>
          </a:xfrm>
          <a:prstGeom prst="roundRect">
            <a:avLst>
              <a:gd name="adj" fmla="val 3123"/>
            </a:avLst>
          </a:prstGeom>
          <a:solidFill>
            <a:srgbClr val="0E2417"/>
          </a:solidFill>
          <a:ln w="12700">
            <a:solidFill>
              <a:srgbClr val="234A31"/>
            </a:solidFill>
            <a:prstDash val="solid"/>
          </a:ln>
        </p:spPr>
      </p:sp>
      <p:sp>
        <p:nvSpPr>
          <p:cNvPr id="13" name="Text 10"/>
          <p:cNvSpPr txBox="1"/>
          <p:nvPr/>
        </p:nvSpPr>
        <p:spPr>
          <a:xfrm>
            <a:off x="6483096" y="2414016"/>
            <a:ext cx="4910328" cy="1738640"/>
          </a:xfrm>
          <a:prstGeom prst="rect">
            <a:avLst/>
          </a:prstGeom>
          <a:noFill/>
          <a:ln/>
        </p:spPr>
        <p:txBody>
          <a:bodyPr wrap="square" lIns="0" tIns="0" rIns="0" bIns="0" rtlCol="0" anchor="t"/>
          <a:lstStyle/>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Pembacaan berjalan di latar belakang</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(err, data) =&gt;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Baris ini langsung dijalankan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prosesLain();</a:t>
            </a:r>
            <a:endParaRPr lang="en-US" sz="1100" dirty="0"/>
          </a:p>
        </p:txBody>
      </p:sp>
      <p:sp>
        <p:nvSpPr>
          <p:cNvPr id="14" name="Shape 11"/>
          <p:cNvSpPr/>
          <p:nvPr/>
        </p:nvSpPr>
        <p:spPr>
          <a:xfrm>
            <a:off x="640080" y="4224528"/>
            <a:ext cx="10972800" cy="365760"/>
          </a:xfrm>
          <a:prstGeom prst="roundRect">
            <a:avLst>
              <a:gd name="adj" fmla="val 12500"/>
            </a:avLst>
          </a:prstGeom>
          <a:solidFill>
            <a:srgbClr val="0B2015"/>
          </a:solidFill>
          <a:ln w="12700">
            <a:solidFill>
              <a:srgbClr val="0B2015"/>
            </a:solidFill>
            <a:prstDash val="solid"/>
          </a:ln>
        </p:spPr>
      </p:sp>
      <p:sp>
        <p:nvSpPr>
          <p:cNvPr id="15" name="Text 12"/>
          <p:cNvSpPr txBox="1"/>
          <p:nvPr/>
        </p:nvSpPr>
        <p:spPr>
          <a:xfrm>
            <a:off x="868680" y="4224528"/>
            <a:ext cx="27432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Aspek</a:t>
            </a:r>
            <a:endParaRPr lang="en-US" sz="1100" dirty="0"/>
          </a:p>
        </p:txBody>
      </p:sp>
      <p:sp>
        <p:nvSpPr>
          <p:cNvPr id="16" name="Text 13"/>
          <p:cNvSpPr txBox="1"/>
          <p:nvPr/>
        </p:nvSpPr>
        <p:spPr>
          <a:xfrm>
            <a:off x="3703320" y="4224528"/>
            <a:ext cx="4023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Blocking</a:t>
            </a:r>
            <a:endParaRPr lang="en-US" sz="1100" dirty="0"/>
          </a:p>
        </p:txBody>
      </p:sp>
      <p:sp>
        <p:nvSpPr>
          <p:cNvPr id="17" name="Text 14"/>
          <p:cNvSpPr txBox="1"/>
          <p:nvPr/>
        </p:nvSpPr>
        <p:spPr>
          <a:xfrm>
            <a:off x="7772400" y="4224528"/>
            <a:ext cx="4023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Non-Blocking</a:t>
            </a:r>
            <a:endParaRPr lang="en-US" sz="1100" dirty="0"/>
          </a:p>
        </p:txBody>
      </p:sp>
      <p:sp>
        <p:nvSpPr>
          <p:cNvPr id="18" name="Shape 15"/>
          <p:cNvSpPr/>
          <p:nvPr/>
        </p:nvSpPr>
        <p:spPr>
          <a:xfrm>
            <a:off x="640080" y="4626864"/>
            <a:ext cx="10972800" cy="365760"/>
          </a:xfrm>
          <a:prstGeom prst="roundRect">
            <a:avLst>
              <a:gd name="adj" fmla="val 12500"/>
            </a:avLst>
          </a:prstGeom>
          <a:solidFill>
            <a:srgbClr val="FFFFFF"/>
          </a:solidFill>
          <a:ln w="12700">
            <a:solidFill>
              <a:srgbClr val="E3EBDF"/>
            </a:solidFill>
            <a:prstDash val="solid"/>
          </a:ln>
        </p:spPr>
      </p:sp>
      <p:sp>
        <p:nvSpPr>
          <p:cNvPr id="19" name="Text 16"/>
          <p:cNvSpPr txBox="1"/>
          <p:nvPr/>
        </p:nvSpPr>
        <p:spPr>
          <a:xfrm>
            <a:off x="868680" y="4626864"/>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Eksekusi</a:t>
            </a:r>
            <a:endParaRPr lang="en-US" sz="1100" dirty="0"/>
          </a:p>
        </p:txBody>
      </p:sp>
      <p:sp>
        <p:nvSpPr>
          <p:cNvPr id="20" name="Text 17"/>
          <p:cNvSpPr txBox="1"/>
          <p:nvPr/>
        </p:nvSpPr>
        <p:spPr>
          <a:xfrm>
            <a:off x="3703320" y="4626864"/>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Berurutan dan menunggu</a:t>
            </a:r>
            <a:endParaRPr lang="en-US" sz="1100" dirty="0"/>
          </a:p>
        </p:txBody>
      </p:sp>
      <p:sp>
        <p:nvSpPr>
          <p:cNvPr id="21" name="Text 18"/>
          <p:cNvSpPr txBox="1"/>
          <p:nvPr/>
        </p:nvSpPr>
        <p:spPr>
          <a:xfrm>
            <a:off x="7772400" y="4626864"/>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Berlanjut tanpa menunggu</a:t>
            </a:r>
            <a:endParaRPr lang="en-US" sz="1100" dirty="0"/>
          </a:p>
        </p:txBody>
      </p:sp>
      <p:sp>
        <p:nvSpPr>
          <p:cNvPr id="22" name="Shape 19"/>
          <p:cNvSpPr/>
          <p:nvPr/>
        </p:nvSpPr>
        <p:spPr>
          <a:xfrm>
            <a:off x="640080" y="5029200"/>
            <a:ext cx="10972800" cy="365760"/>
          </a:xfrm>
          <a:prstGeom prst="roundRect">
            <a:avLst>
              <a:gd name="adj" fmla="val 12500"/>
            </a:avLst>
          </a:prstGeom>
          <a:solidFill>
            <a:srgbClr val="EDF3E9"/>
          </a:solidFill>
          <a:ln w="12700">
            <a:solidFill>
              <a:srgbClr val="E3EBDF"/>
            </a:solidFill>
            <a:prstDash val="solid"/>
          </a:ln>
        </p:spPr>
      </p:sp>
      <p:sp>
        <p:nvSpPr>
          <p:cNvPr id="23" name="Text 20"/>
          <p:cNvSpPr txBox="1"/>
          <p:nvPr/>
        </p:nvSpPr>
        <p:spPr>
          <a:xfrm>
            <a:off x="868680" y="5029200"/>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Penamaan API</a:t>
            </a:r>
            <a:endParaRPr lang="en-US" sz="1100" dirty="0"/>
          </a:p>
        </p:txBody>
      </p:sp>
      <p:sp>
        <p:nvSpPr>
          <p:cNvPr id="24" name="Text 21"/>
          <p:cNvSpPr txBox="1"/>
          <p:nvPr/>
        </p:nvSpPr>
        <p:spPr>
          <a:xfrm>
            <a:off x="3703320" y="5029200"/>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Berakhiran Sync</a:t>
            </a:r>
            <a:endParaRPr lang="en-US" sz="1100" dirty="0"/>
          </a:p>
        </p:txBody>
      </p:sp>
      <p:sp>
        <p:nvSpPr>
          <p:cNvPr id="25" name="Text 22"/>
          <p:cNvSpPr txBox="1"/>
          <p:nvPr/>
        </p:nvSpPr>
        <p:spPr>
          <a:xfrm>
            <a:off x="7772400" y="5029200"/>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Callback, Promise, atau async</a:t>
            </a:r>
            <a:endParaRPr lang="en-US" sz="1100" dirty="0"/>
          </a:p>
        </p:txBody>
      </p:sp>
      <p:sp>
        <p:nvSpPr>
          <p:cNvPr id="26" name="Shape 23"/>
          <p:cNvSpPr/>
          <p:nvPr/>
        </p:nvSpPr>
        <p:spPr>
          <a:xfrm>
            <a:off x="640080" y="5431536"/>
            <a:ext cx="10972800" cy="365760"/>
          </a:xfrm>
          <a:prstGeom prst="roundRect">
            <a:avLst>
              <a:gd name="adj" fmla="val 12500"/>
            </a:avLst>
          </a:prstGeom>
          <a:solidFill>
            <a:srgbClr val="FFFFFF"/>
          </a:solidFill>
          <a:ln w="12700">
            <a:solidFill>
              <a:srgbClr val="E3EBDF"/>
            </a:solidFill>
            <a:prstDash val="solid"/>
          </a:ln>
        </p:spPr>
      </p:sp>
      <p:sp>
        <p:nvSpPr>
          <p:cNvPr id="27" name="Text 24"/>
          <p:cNvSpPr txBox="1"/>
          <p:nvPr/>
        </p:nvSpPr>
        <p:spPr>
          <a:xfrm>
            <a:off x="868680" y="5431536"/>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Skalabilitas</a:t>
            </a:r>
            <a:endParaRPr lang="en-US" sz="1100" dirty="0"/>
          </a:p>
        </p:txBody>
      </p:sp>
      <p:sp>
        <p:nvSpPr>
          <p:cNvPr id="28" name="Text 25"/>
          <p:cNvSpPr txBox="1"/>
          <p:nvPr/>
        </p:nvSpPr>
        <p:spPr>
          <a:xfrm>
            <a:off x="3703320" y="5431536"/>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Rendah pada beban tinggi</a:t>
            </a:r>
            <a:endParaRPr lang="en-US" sz="1100" dirty="0"/>
          </a:p>
        </p:txBody>
      </p:sp>
      <p:sp>
        <p:nvSpPr>
          <p:cNvPr id="29" name="Text 26"/>
          <p:cNvSpPr txBox="1"/>
          <p:nvPr/>
        </p:nvSpPr>
        <p:spPr>
          <a:xfrm>
            <a:off x="7772400" y="5431536"/>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Tinggi untuk ribuan koneksi</a:t>
            </a:r>
            <a:endParaRPr lang="en-US" sz="1100" dirty="0"/>
          </a:p>
        </p:txBody>
      </p:sp>
      <p:sp>
        <p:nvSpPr>
          <p:cNvPr id="30" name="Shape 27"/>
          <p:cNvSpPr/>
          <p:nvPr/>
        </p:nvSpPr>
        <p:spPr>
          <a:xfrm>
            <a:off x="640080" y="5833872"/>
            <a:ext cx="10972800" cy="365760"/>
          </a:xfrm>
          <a:prstGeom prst="roundRect">
            <a:avLst>
              <a:gd name="adj" fmla="val 12500"/>
            </a:avLst>
          </a:prstGeom>
          <a:solidFill>
            <a:srgbClr val="EDF3E9"/>
          </a:solidFill>
          <a:ln w="12700">
            <a:solidFill>
              <a:srgbClr val="E3EBDF"/>
            </a:solidFill>
            <a:prstDash val="solid"/>
          </a:ln>
        </p:spPr>
      </p:sp>
      <p:sp>
        <p:nvSpPr>
          <p:cNvPr id="31" name="Text 28"/>
          <p:cNvSpPr txBox="1"/>
          <p:nvPr/>
        </p:nvSpPr>
        <p:spPr>
          <a:xfrm>
            <a:off x="868680" y="5833872"/>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Kapan dipakai</a:t>
            </a:r>
            <a:endParaRPr lang="en-US" sz="1100" dirty="0"/>
          </a:p>
        </p:txBody>
      </p:sp>
      <p:sp>
        <p:nvSpPr>
          <p:cNvPr id="32" name="Text 29"/>
          <p:cNvSpPr txBox="1"/>
          <p:nvPr/>
        </p:nvSpPr>
        <p:spPr>
          <a:xfrm>
            <a:off x="3703320" y="5833872"/>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Skrip CLI dan proses startup</a:t>
            </a:r>
            <a:endParaRPr lang="en-US" sz="1100" dirty="0"/>
          </a:p>
        </p:txBody>
      </p:sp>
      <p:sp>
        <p:nvSpPr>
          <p:cNvPr id="33" name="Text 30"/>
          <p:cNvSpPr txBox="1"/>
          <p:nvPr/>
        </p:nvSpPr>
        <p:spPr>
          <a:xfrm>
            <a:off x="7772400" y="5833872"/>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Server dan aplikasi produksi</a:t>
            </a:r>
            <a:endParaRPr lang="en-US" sz="110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Model Single-Thread &amp; Thread Pool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Bagaimana satu thread dapat melayani ribuan permintaan sekaligus</a:t>
            </a:r>
            <a:endParaRPr lang="en-US" sz="1300" dirty="0"/>
          </a:p>
        </p:txBody>
      </p:sp>
      <p:sp>
        <p:nvSpPr>
          <p:cNvPr id="6" name="Shape 3"/>
          <p:cNvSpPr/>
          <p:nvPr/>
        </p:nvSpPr>
        <p:spPr>
          <a:xfrm>
            <a:off x="640080"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1220724" y="1883664"/>
            <a:ext cx="512064" cy="512064"/>
          </a:xfrm>
          <a:prstGeom prst="roundRect">
            <a:avLst>
              <a:gd name="adj" fmla="val 25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348740" y="2011680"/>
            <a:ext cx="256032" cy="256032"/>
          </a:xfrm>
          <a:prstGeom prst="rect">
            <a:avLst/>
          </a:prstGeom>
        </p:spPr>
      </p:pic>
      <p:sp>
        <p:nvSpPr>
          <p:cNvPr id="9" name="Text 5"/>
          <p:cNvSpPr txBox="1"/>
          <p:nvPr/>
        </p:nvSpPr>
        <p:spPr>
          <a:xfrm>
            <a:off x="749808"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Permintaan Masuk</a:t>
            </a:r>
            <a:endParaRPr lang="en-US" sz="1100" dirty="0"/>
          </a:p>
        </p:txBody>
      </p:sp>
      <p:sp>
        <p:nvSpPr>
          <p:cNvPr id="10" name="Text 6"/>
          <p:cNvSpPr txBox="1"/>
          <p:nvPr/>
        </p:nvSpPr>
        <p:spPr>
          <a:xfrm>
            <a:off x="749808"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Ribuan klien mengirim permintaan ke server secara bersamaan.</a:t>
            </a:r>
            <a:endParaRPr lang="en-US" sz="960" dirty="0"/>
          </a:p>
        </p:txBody>
      </p:sp>
      <p:pic>
        <p:nvPicPr>
          <p:cNvPr id="11" name="Image 2" descr="preencoded.png">    </p:cNvPr>
          <p:cNvPicPr>
            <a:picLocks noChangeAspect="1"/>
          </p:cNvPicPr>
          <p:nvPr/>
        </p:nvPicPr>
        <p:blipFill>
          <a:blip r:embed="rId3"/>
          <a:stretch>
            <a:fillRect/>
          </a:stretch>
        </p:blipFill>
        <p:spPr>
          <a:xfrm>
            <a:off x="2318004" y="2697480"/>
            <a:ext cx="164592" cy="164592"/>
          </a:xfrm>
          <a:prstGeom prst="rect">
            <a:avLst/>
          </a:prstGeom>
        </p:spPr>
      </p:pic>
      <p:sp>
        <p:nvSpPr>
          <p:cNvPr id="12" name="Shape 7"/>
          <p:cNvSpPr/>
          <p:nvPr/>
        </p:nvSpPr>
        <p:spPr>
          <a:xfrm>
            <a:off x="2487168"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8"/>
          <p:cNvSpPr/>
          <p:nvPr/>
        </p:nvSpPr>
        <p:spPr>
          <a:xfrm>
            <a:off x="3067812" y="1883664"/>
            <a:ext cx="512064" cy="512064"/>
          </a:xfrm>
          <a:prstGeom prst="roundRect">
            <a:avLst>
              <a:gd name="adj" fmla="val 25000"/>
            </a:avLst>
          </a:prstGeom>
          <a:solidFill>
            <a:srgbClr val="E8F2E2"/>
          </a:solidFill>
          <a:ln w="12700">
            <a:solidFill>
              <a:srgbClr val="E8F2E2"/>
            </a:solidFill>
            <a:prstDash val="solid"/>
          </a:ln>
        </p:spPr>
      </p:sp>
      <p:pic>
        <p:nvPicPr>
          <p:cNvPr id="14" name="Image 3" descr="preencoded.png">    </p:cNvPr>
          <p:cNvPicPr>
            <a:picLocks noChangeAspect="1"/>
          </p:cNvPicPr>
          <p:nvPr/>
        </p:nvPicPr>
        <p:blipFill>
          <a:blip r:embed="rId4"/>
          <a:stretch>
            <a:fillRect/>
          </a:stretch>
        </p:blipFill>
        <p:spPr>
          <a:xfrm>
            <a:off x="3195828" y="2011680"/>
            <a:ext cx="256032" cy="256032"/>
          </a:xfrm>
          <a:prstGeom prst="rect">
            <a:avLst/>
          </a:prstGeom>
        </p:spPr>
      </p:pic>
      <p:sp>
        <p:nvSpPr>
          <p:cNvPr id="15" name="Text 9"/>
          <p:cNvSpPr txBox="1"/>
          <p:nvPr/>
        </p:nvSpPr>
        <p:spPr>
          <a:xfrm>
            <a:off x="2596896"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Event Queue</a:t>
            </a:r>
            <a:endParaRPr lang="en-US" sz="1100" dirty="0"/>
          </a:p>
        </p:txBody>
      </p:sp>
      <p:sp>
        <p:nvSpPr>
          <p:cNvPr id="16" name="Text 10"/>
          <p:cNvSpPr txBox="1"/>
          <p:nvPr/>
        </p:nvSpPr>
        <p:spPr>
          <a:xfrm>
            <a:off x="2596896"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Permintaan ditampung dalam antrean, tanpa membuat thread baru.</a:t>
            </a:r>
            <a:endParaRPr lang="en-US" sz="960" dirty="0"/>
          </a:p>
        </p:txBody>
      </p:sp>
      <p:pic>
        <p:nvPicPr>
          <p:cNvPr id="17" name="Image 4" descr="preencoded.png">    </p:cNvPr>
          <p:cNvPicPr>
            <a:picLocks noChangeAspect="1"/>
          </p:cNvPicPr>
          <p:nvPr/>
        </p:nvPicPr>
        <p:blipFill>
          <a:blip r:embed="rId5"/>
          <a:stretch>
            <a:fillRect/>
          </a:stretch>
        </p:blipFill>
        <p:spPr>
          <a:xfrm>
            <a:off x="4165092" y="2697480"/>
            <a:ext cx="164592" cy="164592"/>
          </a:xfrm>
          <a:prstGeom prst="rect">
            <a:avLst/>
          </a:prstGeom>
        </p:spPr>
      </p:pic>
      <p:sp>
        <p:nvSpPr>
          <p:cNvPr id="18" name="Shape 11"/>
          <p:cNvSpPr/>
          <p:nvPr/>
        </p:nvSpPr>
        <p:spPr>
          <a:xfrm>
            <a:off x="4334256"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2"/>
          <p:cNvSpPr/>
          <p:nvPr/>
        </p:nvSpPr>
        <p:spPr>
          <a:xfrm>
            <a:off x="4914900" y="1883664"/>
            <a:ext cx="512064" cy="512064"/>
          </a:xfrm>
          <a:prstGeom prst="roundRect">
            <a:avLst>
              <a:gd name="adj" fmla="val 25000"/>
            </a:avLst>
          </a:prstGeom>
          <a:solidFill>
            <a:srgbClr val="E8F2E2"/>
          </a:solidFill>
          <a:ln w="12700">
            <a:solidFill>
              <a:srgbClr val="E8F2E2"/>
            </a:solidFill>
            <a:prstDash val="solid"/>
          </a:ln>
        </p:spPr>
      </p:sp>
      <p:pic>
        <p:nvPicPr>
          <p:cNvPr id="20" name="Image 5" descr="preencoded.png">    </p:cNvPr>
          <p:cNvPicPr>
            <a:picLocks noChangeAspect="1"/>
          </p:cNvPicPr>
          <p:nvPr/>
        </p:nvPicPr>
        <p:blipFill>
          <a:blip r:embed="rId6"/>
          <a:stretch>
            <a:fillRect/>
          </a:stretch>
        </p:blipFill>
        <p:spPr>
          <a:xfrm>
            <a:off x="5042916" y="2011680"/>
            <a:ext cx="256032" cy="256032"/>
          </a:xfrm>
          <a:prstGeom prst="rect">
            <a:avLst/>
          </a:prstGeom>
        </p:spPr>
      </p:pic>
      <p:sp>
        <p:nvSpPr>
          <p:cNvPr id="21" name="Text 13"/>
          <p:cNvSpPr txBox="1"/>
          <p:nvPr/>
        </p:nvSpPr>
        <p:spPr>
          <a:xfrm>
            <a:off x="4443984"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Event Loop</a:t>
            </a:r>
            <a:endParaRPr lang="en-US" sz="1100" dirty="0"/>
          </a:p>
        </p:txBody>
      </p:sp>
      <p:sp>
        <p:nvSpPr>
          <p:cNvPr id="22" name="Text 14"/>
          <p:cNvSpPr txBox="1"/>
          <p:nvPr/>
        </p:nvSpPr>
        <p:spPr>
          <a:xfrm>
            <a:off x="4443984"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Thread tunggal mengambil permintaan satu per satu dari antrean.</a:t>
            </a:r>
            <a:endParaRPr lang="en-US" sz="960" dirty="0"/>
          </a:p>
        </p:txBody>
      </p:sp>
      <p:pic>
        <p:nvPicPr>
          <p:cNvPr id="23" name="Image 6" descr="preencoded.png">    </p:cNvPr>
          <p:cNvPicPr>
            <a:picLocks noChangeAspect="1"/>
          </p:cNvPicPr>
          <p:nvPr/>
        </p:nvPicPr>
        <p:blipFill>
          <a:blip r:embed="rId7"/>
          <a:stretch>
            <a:fillRect/>
          </a:stretch>
        </p:blipFill>
        <p:spPr>
          <a:xfrm>
            <a:off x="6012180" y="2697480"/>
            <a:ext cx="164592" cy="164592"/>
          </a:xfrm>
          <a:prstGeom prst="rect">
            <a:avLst/>
          </a:prstGeom>
        </p:spPr>
      </p:pic>
      <p:sp>
        <p:nvSpPr>
          <p:cNvPr id="24" name="Shape 15"/>
          <p:cNvSpPr/>
          <p:nvPr/>
        </p:nvSpPr>
        <p:spPr>
          <a:xfrm>
            <a:off x="6181344"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6"/>
          <p:cNvSpPr/>
          <p:nvPr/>
        </p:nvSpPr>
        <p:spPr>
          <a:xfrm>
            <a:off x="6761988" y="1883664"/>
            <a:ext cx="512064" cy="512064"/>
          </a:xfrm>
          <a:prstGeom prst="roundRect">
            <a:avLst>
              <a:gd name="adj" fmla="val 25000"/>
            </a:avLst>
          </a:prstGeom>
          <a:solidFill>
            <a:srgbClr val="E8F2E2"/>
          </a:solidFill>
          <a:ln w="12700">
            <a:solidFill>
              <a:srgbClr val="E8F2E2"/>
            </a:solidFill>
            <a:prstDash val="solid"/>
          </a:ln>
        </p:spPr>
      </p:sp>
      <p:pic>
        <p:nvPicPr>
          <p:cNvPr id="26" name="Image 7" descr="preencoded.png">    </p:cNvPr>
          <p:cNvPicPr>
            <a:picLocks noChangeAspect="1"/>
          </p:cNvPicPr>
          <p:nvPr/>
        </p:nvPicPr>
        <p:blipFill>
          <a:blip r:embed="rId8"/>
          <a:stretch>
            <a:fillRect/>
          </a:stretch>
        </p:blipFill>
        <p:spPr>
          <a:xfrm>
            <a:off x="6890004" y="2011680"/>
            <a:ext cx="256032" cy="256032"/>
          </a:xfrm>
          <a:prstGeom prst="rect">
            <a:avLst/>
          </a:prstGeom>
        </p:spPr>
      </p:pic>
      <p:sp>
        <p:nvSpPr>
          <p:cNvPr id="27" name="Text 17"/>
          <p:cNvSpPr txBox="1"/>
          <p:nvPr/>
        </p:nvSpPr>
        <p:spPr>
          <a:xfrm>
            <a:off x="6291072"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Percabangan</a:t>
            </a:r>
            <a:endParaRPr lang="en-US" sz="1100" dirty="0"/>
          </a:p>
        </p:txBody>
      </p:sp>
      <p:sp>
        <p:nvSpPr>
          <p:cNvPr id="28" name="Text 18"/>
          <p:cNvSpPr txBox="1"/>
          <p:nvPr/>
        </p:nvSpPr>
        <p:spPr>
          <a:xfrm>
            <a:off x="6291072"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Permintaan ringan diproses langsung; permintaan I/O didelegasikan.</a:t>
            </a:r>
            <a:endParaRPr lang="en-US" sz="960" dirty="0"/>
          </a:p>
        </p:txBody>
      </p:sp>
      <p:pic>
        <p:nvPicPr>
          <p:cNvPr id="29" name="Image 8" descr="preencoded.png">    </p:cNvPr>
          <p:cNvPicPr>
            <a:picLocks noChangeAspect="1"/>
          </p:cNvPicPr>
          <p:nvPr/>
        </p:nvPicPr>
        <p:blipFill>
          <a:blip r:embed="rId9"/>
          <a:stretch>
            <a:fillRect/>
          </a:stretch>
        </p:blipFill>
        <p:spPr>
          <a:xfrm>
            <a:off x="7859268" y="2697480"/>
            <a:ext cx="164592" cy="164592"/>
          </a:xfrm>
          <a:prstGeom prst="rect">
            <a:avLst/>
          </a:prstGeom>
        </p:spPr>
      </p:pic>
      <p:sp>
        <p:nvSpPr>
          <p:cNvPr id="30" name="Shape 19"/>
          <p:cNvSpPr/>
          <p:nvPr/>
        </p:nvSpPr>
        <p:spPr>
          <a:xfrm>
            <a:off x="8028432"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0"/>
          <p:cNvSpPr/>
          <p:nvPr/>
        </p:nvSpPr>
        <p:spPr>
          <a:xfrm>
            <a:off x="8609076" y="1883664"/>
            <a:ext cx="512064" cy="512064"/>
          </a:xfrm>
          <a:prstGeom prst="roundRect">
            <a:avLst>
              <a:gd name="adj" fmla="val 25000"/>
            </a:avLst>
          </a:prstGeom>
          <a:solidFill>
            <a:srgbClr val="E8F2E2"/>
          </a:solidFill>
          <a:ln w="12700">
            <a:solidFill>
              <a:srgbClr val="E8F2E2"/>
            </a:solidFill>
            <a:prstDash val="solid"/>
          </a:ln>
        </p:spPr>
      </p:sp>
      <p:pic>
        <p:nvPicPr>
          <p:cNvPr id="32" name="Image 9" descr="preencoded.png">    </p:cNvPr>
          <p:cNvPicPr>
            <a:picLocks noChangeAspect="1"/>
          </p:cNvPicPr>
          <p:nvPr/>
        </p:nvPicPr>
        <p:blipFill>
          <a:blip r:embed="rId10"/>
          <a:stretch>
            <a:fillRect/>
          </a:stretch>
        </p:blipFill>
        <p:spPr>
          <a:xfrm>
            <a:off x="8737092" y="2011680"/>
            <a:ext cx="256032" cy="256032"/>
          </a:xfrm>
          <a:prstGeom prst="rect">
            <a:avLst/>
          </a:prstGeom>
        </p:spPr>
      </p:pic>
      <p:sp>
        <p:nvSpPr>
          <p:cNvPr id="33" name="Text 21"/>
          <p:cNvSpPr txBox="1"/>
          <p:nvPr/>
        </p:nvSpPr>
        <p:spPr>
          <a:xfrm>
            <a:off x="8138160"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Thread Pool</a:t>
            </a:r>
            <a:endParaRPr lang="en-US" sz="1100" dirty="0"/>
          </a:p>
        </p:txBody>
      </p:sp>
      <p:sp>
        <p:nvSpPr>
          <p:cNvPr id="34" name="Text 22"/>
          <p:cNvSpPr txBox="1"/>
          <p:nvPr/>
        </p:nvSpPr>
        <p:spPr>
          <a:xfrm>
            <a:off x="8138160"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libuv menjalankan tugas berat lalu mengembalikan hasilnya.</a:t>
            </a:r>
            <a:endParaRPr lang="en-US" sz="960" dirty="0"/>
          </a:p>
        </p:txBody>
      </p:sp>
      <p:pic>
        <p:nvPicPr>
          <p:cNvPr id="35" name="Image 10" descr="preencoded.png">    </p:cNvPr>
          <p:cNvPicPr>
            <a:picLocks noChangeAspect="1"/>
          </p:cNvPicPr>
          <p:nvPr/>
        </p:nvPicPr>
        <p:blipFill>
          <a:blip r:embed="rId11"/>
          <a:stretch>
            <a:fillRect/>
          </a:stretch>
        </p:blipFill>
        <p:spPr>
          <a:xfrm>
            <a:off x="9706356" y="2697480"/>
            <a:ext cx="164592" cy="164592"/>
          </a:xfrm>
          <a:prstGeom prst="rect">
            <a:avLst/>
          </a:prstGeom>
        </p:spPr>
      </p:pic>
      <p:sp>
        <p:nvSpPr>
          <p:cNvPr id="36" name="Shape 23"/>
          <p:cNvSpPr/>
          <p:nvPr/>
        </p:nvSpPr>
        <p:spPr>
          <a:xfrm>
            <a:off x="9875520"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4"/>
          <p:cNvSpPr/>
          <p:nvPr/>
        </p:nvSpPr>
        <p:spPr>
          <a:xfrm>
            <a:off x="10456164" y="1883664"/>
            <a:ext cx="512064" cy="512064"/>
          </a:xfrm>
          <a:prstGeom prst="roundRect">
            <a:avLst>
              <a:gd name="adj" fmla="val 25000"/>
            </a:avLst>
          </a:prstGeom>
          <a:solidFill>
            <a:srgbClr val="E8F2E2"/>
          </a:solidFill>
          <a:ln w="12700">
            <a:solidFill>
              <a:srgbClr val="E8F2E2"/>
            </a:solidFill>
            <a:prstDash val="solid"/>
          </a:ln>
        </p:spPr>
      </p:sp>
      <p:pic>
        <p:nvPicPr>
          <p:cNvPr id="38" name="Image 11" descr="preencoded.png">    </p:cNvPr>
          <p:cNvPicPr>
            <a:picLocks noChangeAspect="1"/>
          </p:cNvPicPr>
          <p:nvPr/>
        </p:nvPicPr>
        <p:blipFill>
          <a:blip r:embed="rId12"/>
          <a:stretch>
            <a:fillRect/>
          </a:stretch>
        </p:blipFill>
        <p:spPr>
          <a:xfrm>
            <a:off x="10584180" y="2011680"/>
            <a:ext cx="256032" cy="256032"/>
          </a:xfrm>
          <a:prstGeom prst="rect">
            <a:avLst/>
          </a:prstGeom>
        </p:spPr>
      </p:pic>
      <p:sp>
        <p:nvSpPr>
          <p:cNvPr id="39" name="Text 25"/>
          <p:cNvSpPr txBox="1"/>
          <p:nvPr/>
        </p:nvSpPr>
        <p:spPr>
          <a:xfrm>
            <a:off x="9985248"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Respons</a:t>
            </a:r>
            <a:endParaRPr lang="en-US" sz="1100" dirty="0"/>
          </a:p>
        </p:txBody>
      </p:sp>
      <p:sp>
        <p:nvSpPr>
          <p:cNvPr id="40" name="Text 26"/>
          <p:cNvSpPr txBox="1"/>
          <p:nvPr/>
        </p:nvSpPr>
        <p:spPr>
          <a:xfrm>
            <a:off x="9985248"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Callback dijalankan dan respons dikirim kembali ke klien.</a:t>
            </a:r>
            <a:endParaRPr lang="en-US" sz="960" dirty="0"/>
          </a:p>
        </p:txBody>
      </p:sp>
      <p:sp>
        <p:nvSpPr>
          <p:cNvPr id="41" name="Shape 27"/>
          <p:cNvSpPr/>
          <p:nvPr/>
        </p:nvSpPr>
        <p:spPr>
          <a:xfrm>
            <a:off x="640080" y="4206240"/>
            <a:ext cx="5349240" cy="1911096"/>
          </a:xfrm>
          <a:prstGeom prst="roundRect">
            <a:avLst>
              <a:gd name="adj" fmla="val 430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28"/>
          <p:cNvSpPr/>
          <p:nvPr/>
        </p:nvSpPr>
        <p:spPr>
          <a:xfrm>
            <a:off x="896112" y="4425696"/>
            <a:ext cx="457200" cy="457200"/>
          </a:xfrm>
          <a:prstGeom prst="roundRect">
            <a:avLst>
              <a:gd name="adj" fmla="val 26000"/>
            </a:avLst>
          </a:prstGeom>
          <a:solidFill>
            <a:srgbClr val="E8F2E2"/>
          </a:solidFill>
          <a:ln w="12700">
            <a:solidFill>
              <a:srgbClr val="E8F2E2"/>
            </a:solidFill>
            <a:prstDash val="solid"/>
          </a:ln>
        </p:spPr>
      </p:sp>
      <p:pic>
        <p:nvPicPr>
          <p:cNvPr id="43" name="Image 12" descr="preencoded.png">    </p:cNvPr>
          <p:cNvPicPr>
            <a:picLocks noChangeAspect="1"/>
          </p:cNvPicPr>
          <p:nvPr/>
        </p:nvPicPr>
        <p:blipFill>
          <a:blip r:embed="rId13"/>
          <a:stretch>
            <a:fillRect/>
          </a:stretch>
        </p:blipFill>
        <p:spPr>
          <a:xfrm>
            <a:off x="1010412" y="4539996"/>
            <a:ext cx="228600" cy="228600"/>
          </a:xfrm>
          <a:prstGeom prst="rect">
            <a:avLst/>
          </a:prstGeom>
        </p:spPr>
      </p:pic>
      <p:sp>
        <p:nvSpPr>
          <p:cNvPr id="44" name="Text 29"/>
          <p:cNvSpPr txBox="1"/>
          <p:nvPr/>
        </p:nvSpPr>
        <p:spPr>
          <a:xfrm>
            <a:off x="1499616" y="4425696"/>
            <a:ext cx="4233672" cy="457200"/>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Keuntungan Model Ini</a:t>
            </a:r>
            <a:endParaRPr lang="en-US" sz="1400" dirty="0"/>
          </a:p>
        </p:txBody>
      </p:sp>
      <p:sp>
        <p:nvSpPr>
          <p:cNvPr id="45" name="Text 30"/>
          <p:cNvSpPr txBox="1"/>
          <p:nvPr/>
        </p:nvSpPr>
        <p:spPr>
          <a:xfrm>
            <a:off x="950976" y="4992624"/>
            <a:ext cx="4782312"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Hemat memori: tidak ada biaya pembuatan thread per koneksi</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Bebas dari race condition dan deadlock pada kode aplikasi</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Skalabilitas tinggi untuk aplikasi yang I/O-intensif</a:t>
            </a:r>
            <a:endParaRPr lang="en-US" sz="1100" dirty="0"/>
          </a:p>
        </p:txBody>
      </p:sp>
      <p:sp>
        <p:nvSpPr>
          <p:cNvPr id="46" name="Shape 31"/>
          <p:cNvSpPr/>
          <p:nvPr/>
        </p:nvSpPr>
        <p:spPr>
          <a:xfrm>
            <a:off x="6263640" y="4206240"/>
            <a:ext cx="5349240" cy="1911096"/>
          </a:xfrm>
          <a:prstGeom prst="roundRect">
            <a:avLst>
              <a:gd name="adj" fmla="val 430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7" name="Shape 32"/>
          <p:cNvSpPr/>
          <p:nvPr/>
        </p:nvSpPr>
        <p:spPr>
          <a:xfrm>
            <a:off x="6519672" y="4425696"/>
            <a:ext cx="457200" cy="457200"/>
          </a:xfrm>
          <a:prstGeom prst="roundRect">
            <a:avLst>
              <a:gd name="adj" fmla="val 26000"/>
            </a:avLst>
          </a:prstGeom>
          <a:solidFill>
            <a:srgbClr val="FBE9E7"/>
          </a:solidFill>
          <a:ln w="12700">
            <a:solidFill>
              <a:srgbClr val="FBE9E7"/>
            </a:solidFill>
            <a:prstDash val="solid"/>
          </a:ln>
        </p:spPr>
      </p:sp>
      <p:pic>
        <p:nvPicPr>
          <p:cNvPr id="48" name="Image 13" descr="preencoded.png">    </p:cNvPr>
          <p:cNvPicPr>
            <a:picLocks noChangeAspect="1"/>
          </p:cNvPicPr>
          <p:nvPr/>
        </p:nvPicPr>
        <p:blipFill>
          <a:blip r:embed="rId14"/>
          <a:stretch>
            <a:fillRect/>
          </a:stretch>
        </p:blipFill>
        <p:spPr>
          <a:xfrm>
            <a:off x="6633972" y="4539996"/>
            <a:ext cx="228600" cy="228600"/>
          </a:xfrm>
          <a:prstGeom prst="rect">
            <a:avLst/>
          </a:prstGeom>
        </p:spPr>
      </p:pic>
      <p:sp>
        <p:nvSpPr>
          <p:cNvPr id="49" name="Text 33"/>
          <p:cNvSpPr txBox="1"/>
          <p:nvPr/>
        </p:nvSpPr>
        <p:spPr>
          <a:xfrm>
            <a:off x="7123176" y="4425696"/>
            <a:ext cx="4233672" cy="457200"/>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Batasan yang Harus Diwaspadai</a:t>
            </a:r>
            <a:endParaRPr lang="en-US" sz="1400" dirty="0"/>
          </a:p>
        </p:txBody>
      </p:sp>
      <p:sp>
        <p:nvSpPr>
          <p:cNvPr id="50" name="Text 34"/>
          <p:cNvSpPr txBox="1"/>
          <p:nvPr/>
        </p:nvSpPr>
        <p:spPr>
          <a:xfrm>
            <a:off x="6574536" y="4992624"/>
            <a:ext cx="4782312"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Tugas CPU-intensif memblokir seluruh event loop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Satu pengecualian tak tertangani dapat menjatuhkan proses</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Solusi: worker threads, cluster, atau layanan terpisah</a:t>
            </a:r>
            <a:endParaRPr lang="en-US" sz="1100" dirty="0"/>
          </a:p>
        </p:txBody>
      </p:sp>
      <p:sp>
        <p:nvSpPr>
          <p:cNvPr id="51" name="Text 3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2" name="Text 3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03</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Memulai Node.js</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Menyiapkan lingkungan kerja, mengenal REPL, menulis program pertama, dan menyusun struktur proyek yang rapi.</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Instalasi melalui installer, package manager, atau NVM</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Menjalankan kode lewat REPL dan berkas skrip</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Struktur folder proyek Node.js yang umum dipakai</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Instalasi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Tiga cara umum memasang Node.js pada komputer Anda</a:t>
            </a:r>
            <a:endParaRPr lang="en-US" sz="1300" dirty="0"/>
          </a:p>
        </p:txBody>
      </p:sp>
      <p:sp>
        <p:nvSpPr>
          <p:cNvPr id="6" name="Shape 3"/>
          <p:cNvSpPr/>
          <p:nvPr/>
        </p:nvSpPr>
        <p:spPr>
          <a:xfrm>
            <a:off x="640080"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Installer Resmi</a:t>
            </a:r>
            <a:endParaRPr lang="en-US" sz="1300" dirty="0"/>
          </a:p>
        </p:txBody>
      </p:sp>
      <p:sp>
        <p:nvSpPr>
          <p:cNvPr id="10" name="Text 6"/>
          <p:cNvSpPr txBox="1"/>
          <p:nvPr/>
        </p:nvSpPr>
        <p:spPr>
          <a:xfrm>
            <a:off x="896112"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Unduh berkas installer dari nodejs.org sesuai sistem operasi, lalu jalankan seperti aplikasi biasa. NPM ikut terpasang otomatis.</a:t>
            </a:r>
            <a:endParaRPr lang="en-US" sz="1080" dirty="0"/>
          </a:p>
        </p:txBody>
      </p:sp>
      <p:sp>
        <p:nvSpPr>
          <p:cNvPr id="11" name="Shape 7"/>
          <p:cNvSpPr/>
          <p:nvPr/>
        </p:nvSpPr>
        <p:spPr>
          <a:xfrm>
            <a:off x="896112" y="3054096"/>
            <a:ext cx="3008376" cy="329184"/>
          </a:xfrm>
          <a:prstGeom prst="roundRect">
            <a:avLst>
              <a:gd name="adj" fmla="val 50000"/>
            </a:avLst>
          </a:prstGeom>
          <a:solidFill>
            <a:srgbClr val="E8F2E2"/>
          </a:solidFill>
          <a:ln w="12700">
            <a:solidFill>
              <a:srgbClr val="E8F2E2"/>
            </a:solidFill>
            <a:prstDash val="solid"/>
          </a:ln>
        </p:spPr>
      </p:sp>
      <p:sp>
        <p:nvSpPr>
          <p:cNvPr id="12" name="Text 8"/>
          <p:cNvSpPr txBox="1"/>
          <p:nvPr/>
        </p:nvSpPr>
        <p:spPr>
          <a:xfrm>
            <a:off x="896112"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Paling mudah untuk pemula</a:t>
            </a:r>
            <a:endParaRPr lang="en-US" sz="1000" dirty="0"/>
          </a:p>
        </p:txBody>
      </p:sp>
      <p:sp>
        <p:nvSpPr>
          <p:cNvPr id="13" name="Shape 9"/>
          <p:cNvSpPr/>
          <p:nvPr/>
        </p:nvSpPr>
        <p:spPr>
          <a:xfrm>
            <a:off x="4443984"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4700016"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4814316" y="1961388"/>
            <a:ext cx="228600" cy="228600"/>
          </a:xfrm>
          <a:prstGeom prst="rect">
            <a:avLst/>
          </a:prstGeom>
        </p:spPr>
      </p:pic>
      <p:sp>
        <p:nvSpPr>
          <p:cNvPr id="16" name="Text 11"/>
          <p:cNvSpPr txBox="1"/>
          <p:nvPr/>
        </p:nvSpPr>
        <p:spPr>
          <a:xfrm>
            <a:off x="5303520"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Package Manager</a:t>
            </a:r>
            <a:endParaRPr lang="en-US" sz="1300" dirty="0"/>
          </a:p>
        </p:txBody>
      </p:sp>
      <p:sp>
        <p:nvSpPr>
          <p:cNvPr id="17" name="Text 12"/>
          <p:cNvSpPr txBox="1"/>
          <p:nvPr/>
        </p:nvSpPr>
        <p:spPr>
          <a:xfrm>
            <a:off x="4700016"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Gunakan perintah bawaan sistem: winget di Windows, Homebrew di macOS, atau apt dan dnf di Linux.</a:t>
            </a:r>
            <a:endParaRPr lang="en-US" sz="1080" dirty="0"/>
          </a:p>
        </p:txBody>
      </p:sp>
      <p:sp>
        <p:nvSpPr>
          <p:cNvPr id="18" name="Shape 13"/>
          <p:cNvSpPr/>
          <p:nvPr/>
        </p:nvSpPr>
        <p:spPr>
          <a:xfrm>
            <a:off x="4700016" y="3054096"/>
            <a:ext cx="3008376" cy="329184"/>
          </a:xfrm>
          <a:prstGeom prst="roundRect">
            <a:avLst>
              <a:gd name="adj" fmla="val 50000"/>
            </a:avLst>
          </a:prstGeom>
          <a:solidFill>
            <a:srgbClr val="E8F2E2"/>
          </a:solidFill>
          <a:ln w="12700">
            <a:solidFill>
              <a:srgbClr val="E8F2E2"/>
            </a:solidFill>
            <a:prstDash val="solid"/>
          </a:ln>
        </p:spPr>
      </p:sp>
      <p:sp>
        <p:nvSpPr>
          <p:cNvPr id="19" name="Text 14"/>
          <p:cNvSpPr txBox="1"/>
          <p:nvPr/>
        </p:nvSpPr>
        <p:spPr>
          <a:xfrm>
            <a:off x="4700016"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Cepat dan mudah diperbarui</a:t>
            </a:r>
            <a:endParaRPr lang="en-US" sz="1000" dirty="0"/>
          </a:p>
        </p:txBody>
      </p:sp>
      <p:sp>
        <p:nvSpPr>
          <p:cNvPr id="20" name="Shape 15"/>
          <p:cNvSpPr/>
          <p:nvPr/>
        </p:nvSpPr>
        <p:spPr>
          <a:xfrm>
            <a:off x="8247888"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850392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8618220" y="1961388"/>
            <a:ext cx="228600" cy="228600"/>
          </a:xfrm>
          <a:prstGeom prst="rect">
            <a:avLst/>
          </a:prstGeom>
        </p:spPr>
      </p:pic>
      <p:sp>
        <p:nvSpPr>
          <p:cNvPr id="23" name="Text 17"/>
          <p:cNvSpPr txBox="1"/>
          <p:nvPr/>
        </p:nvSpPr>
        <p:spPr>
          <a:xfrm>
            <a:off x="9107424"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NVM (Node Version Manager)</a:t>
            </a:r>
            <a:endParaRPr lang="en-US" sz="1300" dirty="0"/>
          </a:p>
        </p:txBody>
      </p:sp>
      <p:sp>
        <p:nvSpPr>
          <p:cNvPr id="24" name="Text 18"/>
          <p:cNvSpPr txBox="1"/>
          <p:nvPr/>
        </p:nvSpPr>
        <p:spPr>
          <a:xfrm>
            <a:off x="8503920"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Memasang dan berpindah antar beberapa versi Node.js pada satu komputer. Wajib bagi yang mengerjakan banyak proyek.</a:t>
            </a:r>
            <a:endParaRPr lang="en-US" sz="1080" dirty="0"/>
          </a:p>
        </p:txBody>
      </p:sp>
      <p:sp>
        <p:nvSpPr>
          <p:cNvPr id="25" name="Shape 19"/>
          <p:cNvSpPr/>
          <p:nvPr/>
        </p:nvSpPr>
        <p:spPr>
          <a:xfrm>
            <a:off x="8503920" y="3054096"/>
            <a:ext cx="3008376" cy="329184"/>
          </a:xfrm>
          <a:prstGeom prst="roundRect">
            <a:avLst>
              <a:gd name="adj" fmla="val 50000"/>
            </a:avLst>
          </a:prstGeom>
          <a:solidFill>
            <a:srgbClr val="E8F2E2"/>
          </a:solidFill>
          <a:ln w="12700">
            <a:solidFill>
              <a:srgbClr val="E8F2E2"/>
            </a:solidFill>
            <a:prstDash val="solid"/>
          </a:ln>
        </p:spPr>
      </p:sp>
      <p:sp>
        <p:nvSpPr>
          <p:cNvPr id="26" name="Text 20"/>
          <p:cNvSpPr txBox="1"/>
          <p:nvPr/>
        </p:nvSpPr>
        <p:spPr>
          <a:xfrm>
            <a:off x="8503920"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Paling fleksibel untuk pengembang</a:t>
            </a:r>
            <a:endParaRPr lang="en-US" sz="1000" dirty="0"/>
          </a:p>
        </p:txBody>
      </p:sp>
      <p:sp>
        <p:nvSpPr>
          <p:cNvPr id="27" name="Shape 21"/>
          <p:cNvSpPr/>
          <p:nvPr/>
        </p:nvSpPr>
        <p:spPr>
          <a:xfrm>
            <a:off x="640080" y="3712464"/>
            <a:ext cx="5943600" cy="1689445"/>
          </a:xfrm>
          <a:prstGeom prst="roundRect">
            <a:avLst>
              <a:gd name="adj" fmla="val 3789"/>
            </a:avLst>
          </a:prstGeom>
          <a:solidFill>
            <a:srgbClr val="0E2417"/>
          </a:solidFill>
          <a:ln w="12700">
            <a:solidFill>
              <a:srgbClr val="234A31"/>
            </a:solidFill>
            <a:prstDash val="solid"/>
          </a:ln>
        </p:spPr>
      </p:sp>
      <p:sp>
        <p:nvSpPr>
          <p:cNvPr id="28" name="Text 22"/>
          <p:cNvSpPr txBox="1"/>
          <p:nvPr/>
        </p:nvSpPr>
        <p:spPr>
          <a:xfrm>
            <a:off x="859536" y="3803904"/>
            <a:ext cx="55046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VERIFIKASI &amp; PERINTAH NVM</a:t>
            </a:r>
            <a:endParaRPr lang="en-US" sz="950" dirty="0"/>
          </a:p>
        </p:txBody>
      </p:sp>
      <p:sp>
        <p:nvSpPr>
          <p:cNvPr id="29" name="Text 23"/>
          <p:cNvSpPr txBox="1"/>
          <p:nvPr/>
        </p:nvSpPr>
        <p:spPr>
          <a:xfrm>
            <a:off x="859536" y="4114800"/>
            <a:ext cx="5504688" cy="1177381"/>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node -v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menampilkan versi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-v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menampilkan versi NPM</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install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memasang Node.js versi 22</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use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memakai versi 22 di sesi ini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ls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daftar versi yang terpasang</a:t>
            </a:r>
            <a:endParaRPr lang="en-US" sz="1100" dirty="0"/>
          </a:p>
        </p:txBody>
      </p:sp>
      <p:sp>
        <p:nvSpPr>
          <p:cNvPr id="30" name="Shape 24"/>
          <p:cNvSpPr/>
          <p:nvPr/>
        </p:nvSpPr>
        <p:spPr>
          <a:xfrm>
            <a:off x="6858000" y="3712464"/>
            <a:ext cx="4754880" cy="1170432"/>
          </a:xfrm>
          <a:prstGeom prst="roundRect">
            <a:avLst>
              <a:gd name="adj" fmla="val 703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5"/>
          <p:cNvSpPr/>
          <p:nvPr/>
        </p:nvSpPr>
        <p:spPr>
          <a:xfrm>
            <a:off x="7114032" y="3931920"/>
            <a:ext cx="457200" cy="457200"/>
          </a:xfrm>
          <a:prstGeom prst="roundRect">
            <a:avLst>
              <a:gd name="adj" fmla="val 26000"/>
            </a:avLst>
          </a:prstGeom>
          <a:solidFill>
            <a:srgbClr val="E8F2E2"/>
          </a:solidFill>
          <a:ln w="12700">
            <a:solidFill>
              <a:srgbClr val="E8F2E2"/>
            </a:solidFill>
            <a:prstDash val="solid"/>
          </a:ln>
        </p:spPr>
      </p:sp>
      <p:pic>
        <p:nvPicPr>
          <p:cNvPr id="32" name="Image 4" descr="preencoded.png">    </p:cNvPr>
          <p:cNvPicPr>
            <a:picLocks noChangeAspect="1"/>
          </p:cNvPicPr>
          <p:nvPr/>
        </p:nvPicPr>
        <p:blipFill>
          <a:blip r:embed="rId5"/>
          <a:stretch>
            <a:fillRect/>
          </a:stretch>
        </p:blipFill>
        <p:spPr>
          <a:xfrm>
            <a:off x="7228332" y="4046220"/>
            <a:ext cx="228600" cy="228600"/>
          </a:xfrm>
          <a:prstGeom prst="rect">
            <a:avLst/>
          </a:prstGeom>
        </p:spPr>
      </p:pic>
      <p:sp>
        <p:nvSpPr>
          <p:cNvPr id="33" name="Text 26"/>
          <p:cNvSpPr txBox="1"/>
          <p:nvPr/>
        </p:nvSpPr>
        <p:spPr>
          <a:xfrm>
            <a:off x="7717536" y="3931920"/>
            <a:ext cx="363931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Pilih Versi LTS</a:t>
            </a:r>
            <a:endParaRPr lang="en-US" sz="1300" dirty="0"/>
          </a:p>
        </p:txBody>
      </p:sp>
      <p:sp>
        <p:nvSpPr>
          <p:cNvPr id="34" name="Text 27"/>
          <p:cNvSpPr txBox="1"/>
          <p:nvPr/>
        </p:nvSpPr>
        <p:spPr>
          <a:xfrm>
            <a:off x="7114032" y="4498848"/>
            <a:ext cx="4242816" cy="21945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LTS (Long Term Support) adalah versi bernomor genap yang mendapat dukungan hingga 30 bulan. Gunakan LTS untuk produksi.</a:t>
            </a:r>
            <a:endParaRPr lang="en-US" sz="1080" dirty="0"/>
          </a:p>
        </p:txBody>
      </p:sp>
      <p:sp>
        <p:nvSpPr>
          <p:cNvPr id="35" name="Shape 28"/>
          <p:cNvSpPr/>
          <p:nvPr/>
        </p:nvSpPr>
        <p:spPr>
          <a:xfrm>
            <a:off x="6858000" y="4919472"/>
            <a:ext cx="4754880" cy="1207008"/>
          </a:xfrm>
          <a:prstGeom prst="roundRect">
            <a:avLst>
              <a:gd name="adj" fmla="val 68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6" name="Shape 29"/>
          <p:cNvSpPr/>
          <p:nvPr/>
        </p:nvSpPr>
        <p:spPr>
          <a:xfrm>
            <a:off x="7114032" y="5138928"/>
            <a:ext cx="457200" cy="457200"/>
          </a:xfrm>
          <a:prstGeom prst="roundRect">
            <a:avLst>
              <a:gd name="adj" fmla="val 26000"/>
            </a:avLst>
          </a:prstGeom>
          <a:solidFill>
            <a:srgbClr val="FDF3D8"/>
          </a:solidFill>
          <a:ln w="12700">
            <a:solidFill>
              <a:srgbClr val="FDF3D8"/>
            </a:solidFill>
            <a:prstDash val="solid"/>
          </a:ln>
        </p:spPr>
      </p:sp>
      <p:pic>
        <p:nvPicPr>
          <p:cNvPr id="37" name="Image 5" descr="preencoded.png">    </p:cNvPr>
          <p:cNvPicPr>
            <a:picLocks noChangeAspect="1"/>
          </p:cNvPicPr>
          <p:nvPr/>
        </p:nvPicPr>
        <p:blipFill>
          <a:blip r:embed="rId6"/>
          <a:stretch>
            <a:fillRect/>
          </a:stretch>
        </p:blipFill>
        <p:spPr>
          <a:xfrm>
            <a:off x="7228332" y="5253228"/>
            <a:ext cx="228600" cy="228600"/>
          </a:xfrm>
          <a:prstGeom prst="rect">
            <a:avLst/>
          </a:prstGeom>
        </p:spPr>
      </p:pic>
      <p:sp>
        <p:nvSpPr>
          <p:cNvPr id="38" name="Text 30"/>
          <p:cNvSpPr txBox="1"/>
          <p:nvPr/>
        </p:nvSpPr>
        <p:spPr>
          <a:xfrm>
            <a:off x="7717536" y="5138928"/>
            <a:ext cx="363931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Versi Current</a:t>
            </a:r>
            <a:endParaRPr lang="en-US" sz="1300" dirty="0"/>
          </a:p>
        </p:txBody>
      </p:sp>
      <p:sp>
        <p:nvSpPr>
          <p:cNvPr id="39" name="Text 31"/>
          <p:cNvSpPr txBox="1"/>
          <p:nvPr/>
        </p:nvSpPr>
        <p:spPr>
          <a:xfrm>
            <a:off x="7114032" y="5705856"/>
            <a:ext cx="4242816" cy="2560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Versi bernomor ganjil berisi fitur terbaru namun berumur pendek. Cocok untuk eksperimen, bukan produksi.</a:t>
            </a:r>
            <a:endParaRPr lang="en-US" sz="1080" dirty="0"/>
          </a:p>
        </p:txBody>
      </p:sp>
      <p:sp>
        <p:nvSpPr>
          <p:cNvPr id="40" name="Text 3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1" name="Text 3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REPL dan Menjalankan Skrip</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cara mengeksekusi kode JavaScript dengan Node.js</a:t>
            </a:r>
            <a:endParaRPr lang="en-US" sz="1300" dirty="0"/>
          </a:p>
        </p:txBody>
      </p:sp>
      <p:sp>
        <p:nvSpPr>
          <p:cNvPr id="6" name="Text 3"/>
          <p:cNvSpPr txBox="1"/>
          <p:nvPr/>
        </p:nvSpPr>
        <p:spPr>
          <a:xfrm>
            <a:off x="640080" y="1591056"/>
            <a:ext cx="5349240" cy="347472"/>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REPL — Read, Eval, Print, Loop</a:t>
            </a:r>
            <a:endParaRPr lang="en-US" sz="1500" dirty="0"/>
          </a:p>
        </p:txBody>
      </p:sp>
      <p:sp>
        <p:nvSpPr>
          <p:cNvPr id="7" name="Text 4"/>
          <p:cNvSpPr txBox="1"/>
          <p:nvPr/>
        </p:nvSpPr>
        <p:spPr>
          <a:xfrm>
            <a:off x="640080" y="1956816"/>
            <a:ext cx="5349240"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Lingkungan interaktif untuk mencoba kode secara langsung tanpa membuat berkas. Cukup ketik node lalu tekan Enter.</a:t>
            </a:r>
            <a:endParaRPr lang="en-US" sz="1100" dirty="0"/>
          </a:p>
        </p:txBody>
      </p:sp>
      <p:sp>
        <p:nvSpPr>
          <p:cNvPr id="8" name="Shape 5"/>
          <p:cNvSpPr/>
          <p:nvPr/>
        </p:nvSpPr>
        <p:spPr>
          <a:xfrm>
            <a:off x="640080" y="2487168"/>
            <a:ext cx="5349240" cy="2250704"/>
          </a:xfrm>
          <a:prstGeom prst="roundRect">
            <a:avLst>
              <a:gd name="adj" fmla="val 2844"/>
            </a:avLst>
          </a:prstGeom>
          <a:solidFill>
            <a:srgbClr val="0E2417"/>
          </a:solidFill>
          <a:ln w="12700">
            <a:solidFill>
              <a:srgbClr val="234A31"/>
            </a:solidFill>
            <a:prstDash val="solid"/>
          </a:ln>
        </p:spPr>
      </p:sp>
      <p:sp>
        <p:nvSpPr>
          <p:cNvPr id="9" name="Text 6"/>
          <p:cNvSpPr txBox="1"/>
          <p:nvPr/>
        </p:nvSpPr>
        <p:spPr>
          <a:xfrm>
            <a:off x="859536" y="2578608"/>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SESI REPL</a:t>
            </a:r>
            <a:endParaRPr lang="en-US" sz="950" dirty="0"/>
          </a:p>
        </p:txBody>
      </p:sp>
      <p:sp>
        <p:nvSpPr>
          <p:cNvPr id="10" name="Text 7"/>
          <p:cNvSpPr txBox="1"/>
          <p:nvPr/>
        </p:nvSpPr>
        <p:spPr>
          <a:xfrm>
            <a:off x="859536" y="2889504"/>
            <a:ext cx="4910328" cy="1738640"/>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Welcome to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3</a:t>
            </a:r>
            <a:endParaRPr lang="en-US" sz="1100" dirty="0"/>
          </a:p>
          <a:p>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5</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nama =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${nama}`</a:t>
            </a:r>
            <a:endParaRPr lang="en-US" sz="1100" dirty="0"/>
          </a:p>
          <a:p>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.help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daftar perintah titik</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.exit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keluar dari REPL</a:t>
            </a:r>
            <a:endParaRPr lang="en-US" sz="1100" dirty="0"/>
          </a:p>
        </p:txBody>
      </p:sp>
      <p:sp>
        <p:nvSpPr>
          <p:cNvPr id="11" name="Text 8"/>
          <p:cNvSpPr txBox="1"/>
          <p:nvPr/>
        </p:nvSpPr>
        <p:spPr>
          <a:xfrm>
            <a:off x="6263640" y="1591056"/>
            <a:ext cx="5349240" cy="347472"/>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Menjalankan Berkas Skrip</a:t>
            </a:r>
            <a:endParaRPr lang="en-US" sz="1500" dirty="0"/>
          </a:p>
        </p:txBody>
      </p:sp>
      <p:sp>
        <p:nvSpPr>
          <p:cNvPr id="12" name="Text 9"/>
          <p:cNvSpPr txBox="1"/>
          <p:nvPr/>
        </p:nvSpPr>
        <p:spPr>
          <a:xfrm>
            <a:off x="6263640" y="1956816"/>
            <a:ext cx="5349240"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Cara yang dipakai untuk aplikasi sungguhan. Simpan kode dalam berkas .js lalu jalankan dengan perintah node.</a:t>
            </a:r>
            <a:endParaRPr lang="en-US" sz="1100" dirty="0"/>
          </a:p>
        </p:txBody>
      </p:sp>
      <p:sp>
        <p:nvSpPr>
          <p:cNvPr id="13" name="Shape 10"/>
          <p:cNvSpPr/>
          <p:nvPr/>
        </p:nvSpPr>
        <p:spPr>
          <a:xfrm>
            <a:off x="6263640" y="2487168"/>
            <a:ext cx="5349240" cy="2063618"/>
          </a:xfrm>
          <a:prstGeom prst="roundRect">
            <a:avLst>
              <a:gd name="adj" fmla="val 3102"/>
            </a:avLst>
          </a:prstGeom>
          <a:solidFill>
            <a:srgbClr val="0E2417"/>
          </a:solidFill>
          <a:ln w="12700">
            <a:solidFill>
              <a:srgbClr val="234A31"/>
            </a:solidFill>
            <a:prstDash val="solid"/>
          </a:ln>
        </p:spPr>
      </p:sp>
      <p:sp>
        <p:nvSpPr>
          <p:cNvPr id="14" name="Text 11"/>
          <p:cNvSpPr txBox="1"/>
          <p:nvPr/>
        </p:nvSpPr>
        <p:spPr>
          <a:xfrm>
            <a:off x="6483096" y="2578608"/>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MENJALANKAN BERKAS</a:t>
            </a:r>
            <a:endParaRPr lang="en-US" sz="950" dirty="0"/>
          </a:p>
        </p:txBody>
      </p:sp>
      <p:sp>
        <p:nvSpPr>
          <p:cNvPr id="15" name="Text 12"/>
          <p:cNvSpPr txBox="1"/>
          <p:nvPr/>
        </p:nvSpPr>
        <p:spPr>
          <a:xfrm>
            <a:off x="6483096" y="2889504"/>
            <a:ext cx="4910328" cy="1551554"/>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app.js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app.js --port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dengan argumen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--watch app.js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muat ulang otomatis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membaca argumen di dalam app.js</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.argv);</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.env.NODE_ENV);</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.platform);</a:t>
            </a:r>
            <a:endParaRPr lang="en-US" sz="1100" dirty="0"/>
          </a:p>
        </p:txBody>
      </p:sp>
      <p:sp>
        <p:nvSpPr>
          <p:cNvPr id="16" name="Shape 13"/>
          <p:cNvSpPr/>
          <p:nvPr/>
        </p:nvSpPr>
        <p:spPr>
          <a:xfrm>
            <a:off x="640080"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4"/>
          <p:cNvSpPr/>
          <p:nvPr/>
        </p:nvSpPr>
        <p:spPr>
          <a:xfrm>
            <a:off x="896112" y="4846320"/>
            <a:ext cx="457200" cy="457200"/>
          </a:xfrm>
          <a:prstGeom prst="roundRect">
            <a:avLst>
              <a:gd name="adj" fmla="val 26000"/>
            </a:avLst>
          </a:prstGeom>
          <a:solidFill>
            <a:srgbClr val="E8F2E2"/>
          </a:solidFill>
          <a:ln w="12700">
            <a:solidFill>
              <a:srgbClr val="E8F2E2"/>
            </a:solidFill>
            <a:prstDash val="solid"/>
          </a:ln>
        </p:spPr>
      </p:sp>
      <p:pic>
        <p:nvPicPr>
          <p:cNvPr id="18" name="Image 1" descr="preencoded.png">    </p:cNvPr>
          <p:cNvPicPr>
            <a:picLocks noChangeAspect="1"/>
          </p:cNvPicPr>
          <p:nvPr/>
        </p:nvPicPr>
        <p:blipFill>
          <a:blip r:embed="rId2"/>
          <a:stretch>
            <a:fillRect/>
          </a:stretch>
        </p:blipFill>
        <p:spPr>
          <a:xfrm>
            <a:off x="1010412" y="4960620"/>
            <a:ext cx="228600" cy="228600"/>
          </a:xfrm>
          <a:prstGeom prst="rect">
            <a:avLst/>
          </a:prstGeom>
        </p:spPr>
      </p:pic>
      <p:sp>
        <p:nvSpPr>
          <p:cNvPr id="19" name="Text 15"/>
          <p:cNvSpPr txBox="1"/>
          <p:nvPr/>
        </p:nvSpPr>
        <p:spPr>
          <a:xfrm>
            <a:off x="1499616"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Perintah Titik</a:t>
            </a:r>
            <a:endParaRPr lang="en-US" sz="1250" dirty="0"/>
          </a:p>
        </p:txBody>
      </p:sp>
      <p:sp>
        <p:nvSpPr>
          <p:cNvPr id="20" name="Text 16"/>
          <p:cNvSpPr txBox="1"/>
          <p:nvPr/>
        </p:nvSpPr>
        <p:spPr>
          <a:xfrm>
            <a:off x="896112"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REPL menyediakan .help, .save, .load, .clear, dan .exit.</a:t>
            </a:r>
            <a:endParaRPr lang="en-US" sz="1050" dirty="0"/>
          </a:p>
        </p:txBody>
      </p:sp>
      <p:sp>
        <p:nvSpPr>
          <p:cNvPr id="21" name="Shape 17"/>
          <p:cNvSpPr/>
          <p:nvPr/>
        </p:nvSpPr>
        <p:spPr>
          <a:xfrm>
            <a:off x="4443984"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8"/>
          <p:cNvSpPr/>
          <p:nvPr/>
        </p:nvSpPr>
        <p:spPr>
          <a:xfrm>
            <a:off x="4700016" y="4846320"/>
            <a:ext cx="457200" cy="457200"/>
          </a:xfrm>
          <a:prstGeom prst="roundRect">
            <a:avLst>
              <a:gd name="adj" fmla="val 26000"/>
            </a:avLst>
          </a:prstGeom>
          <a:solidFill>
            <a:srgbClr val="E8F2E2"/>
          </a:solidFill>
          <a:ln w="12700">
            <a:solidFill>
              <a:srgbClr val="E8F2E2"/>
            </a:solidFill>
            <a:prstDash val="solid"/>
          </a:ln>
        </p:spPr>
      </p:sp>
      <p:pic>
        <p:nvPicPr>
          <p:cNvPr id="23" name="Image 2" descr="preencoded.png">    </p:cNvPr>
          <p:cNvPicPr>
            <a:picLocks noChangeAspect="1"/>
          </p:cNvPicPr>
          <p:nvPr/>
        </p:nvPicPr>
        <p:blipFill>
          <a:blip r:embed="rId3"/>
          <a:stretch>
            <a:fillRect/>
          </a:stretch>
        </p:blipFill>
        <p:spPr>
          <a:xfrm>
            <a:off x="4814316" y="4960620"/>
            <a:ext cx="228600" cy="228600"/>
          </a:xfrm>
          <a:prstGeom prst="rect">
            <a:avLst/>
          </a:prstGeom>
        </p:spPr>
      </p:pic>
      <p:sp>
        <p:nvSpPr>
          <p:cNvPr id="24" name="Text 19"/>
          <p:cNvSpPr txBox="1"/>
          <p:nvPr/>
        </p:nvSpPr>
        <p:spPr>
          <a:xfrm>
            <a:off x="5303520"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Mode Watch</a:t>
            </a:r>
            <a:endParaRPr lang="en-US" sz="1250" dirty="0"/>
          </a:p>
        </p:txBody>
      </p:sp>
      <p:sp>
        <p:nvSpPr>
          <p:cNvPr id="25" name="Text 20"/>
          <p:cNvSpPr txBox="1"/>
          <p:nvPr/>
        </p:nvSpPr>
        <p:spPr>
          <a:xfrm>
            <a:off x="4700016"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Opsi --watch memuat ulang program setiap berkas berubah.</a:t>
            </a:r>
            <a:endParaRPr lang="en-US" sz="1050" dirty="0"/>
          </a:p>
        </p:txBody>
      </p:sp>
      <p:sp>
        <p:nvSpPr>
          <p:cNvPr id="26" name="Shape 21"/>
          <p:cNvSpPr/>
          <p:nvPr/>
        </p:nvSpPr>
        <p:spPr>
          <a:xfrm>
            <a:off x="8247888"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2"/>
          <p:cNvSpPr/>
          <p:nvPr/>
        </p:nvSpPr>
        <p:spPr>
          <a:xfrm>
            <a:off x="8503920" y="4846320"/>
            <a:ext cx="457200" cy="457200"/>
          </a:xfrm>
          <a:prstGeom prst="roundRect">
            <a:avLst>
              <a:gd name="adj" fmla="val 26000"/>
            </a:avLst>
          </a:prstGeom>
          <a:solidFill>
            <a:srgbClr val="E8F2E2"/>
          </a:solidFill>
          <a:ln w="12700">
            <a:solidFill>
              <a:srgbClr val="E8F2E2"/>
            </a:solidFill>
            <a:prstDash val="solid"/>
          </a:ln>
        </p:spPr>
      </p:sp>
      <p:pic>
        <p:nvPicPr>
          <p:cNvPr id="28" name="Image 3" descr="preencoded.png">    </p:cNvPr>
          <p:cNvPicPr>
            <a:picLocks noChangeAspect="1"/>
          </p:cNvPicPr>
          <p:nvPr/>
        </p:nvPicPr>
        <p:blipFill>
          <a:blip r:embed="rId4"/>
          <a:stretch>
            <a:fillRect/>
          </a:stretch>
        </p:blipFill>
        <p:spPr>
          <a:xfrm>
            <a:off x="8618220" y="4960620"/>
            <a:ext cx="228600" cy="228600"/>
          </a:xfrm>
          <a:prstGeom prst="rect">
            <a:avLst/>
          </a:prstGeom>
        </p:spPr>
      </p:pic>
      <p:sp>
        <p:nvSpPr>
          <p:cNvPr id="29" name="Text 23"/>
          <p:cNvSpPr txBox="1"/>
          <p:nvPr/>
        </p:nvSpPr>
        <p:spPr>
          <a:xfrm>
            <a:off x="9107424"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Objek process</a:t>
            </a:r>
            <a:endParaRPr lang="en-US" sz="1250" dirty="0"/>
          </a:p>
        </p:txBody>
      </p:sp>
      <p:sp>
        <p:nvSpPr>
          <p:cNvPr id="30" name="Text 24"/>
          <p:cNvSpPr txBox="1"/>
          <p:nvPr/>
        </p:nvSpPr>
        <p:spPr>
          <a:xfrm>
            <a:off x="8503920"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Menyimpan argumen, variabel lingkungan, dan info platform.</a:t>
            </a:r>
            <a:endParaRPr lang="en-US" sz="1050" dirty="0"/>
          </a:p>
        </p:txBody>
      </p:sp>
      <p:sp>
        <p:nvSpPr>
          <p:cNvPr id="31"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2"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Program Pertama dengan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Dari Hello World hingga server HTTP yang berjalan</a:t>
            </a:r>
            <a:endParaRPr lang="en-US" sz="1300" dirty="0"/>
          </a:p>
        </p:txBody>
      </p:sp>
      <p:sp>
        <p:nvSpPr>
          <p:cNvPr id="6" name="Shape 3"/>
          <p:cNvSpPr/>
          <p:nvPr/>
        </p:nvSpPr>
        <p:spPr>
          <a:xfrm>
            <a:off x="640080" y="1609344"/>
            <a:ext cx="5349240" cy="402336"/>
          </a:xfrm>
          <a:prstGeom prst="roundRect">
            <a:avLst>
              <a:gd name="adj" fmla="val 18182"/>
            </a:avLst>
          </a:prstGeom>
          <a:solidFill>
            <a:srgbClr val="0B2015"/>
          </a:solidFill>
          <a:ln w="12700">
            <a:solidFill>
              <a:srgbClr val="0B2015"/>
            </a:solidFill>
            <a:prstDash val="solid"/>
          </a:ln>
        </p:spPr>
      </p:sp>
      <p:sp>
        <p:nvSpPr>
          <p:cNvPr id="7" name="Text 4"/>
          <p:cNvSpPr txBox="1"/>
          <p:nvPr/>
        </p:nvSpPr>
        <p:spPr>
          <a:xfrm>
            <a:off x="86868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Langkah 1 — hello.js</a:t>
            </a:r>
            <a:endParaRPr lang="en-US" sz="1250" dirty="0"/>
          </a:p>
        </p:txBody>
      </p:sp>
      <p:sp>
        <p:nvSpPr>
          <p:cNvPr id="8" name="Shape 5"/>
          <p:cNvSpPr/>
          <p:nvPr/>
        </p:nvSpPr>
        <p:spPr>
          <a:xfrm>
            <a:off x="640080" y="2121408"/>
            <a:ext cx="5349240" cy="1675364"/>
          </a:xfrm>
          <a:prstGeom prst="roundRect">
            <a:avLst>
              <a:gd name="adj" fmla="val 3821"/>
            </a:avLst>
          </a:prstGeom>
          <a:solidFill>
            <a:srgbClr val="0E2417"/>
          </a:solidFill>
          <a:ln w="12700">
            <a:solidFill>
              <a:srgbClr val="234A31"/>
            </a:solidFill>
            <a:prstDash val="solid"/>
          </a:ln>
        </p:spPr>
      </p:sp>
      <p:sp>
        <p:nvSpPr>
          <p:cNvPr id="9" name="Text 6"/>
          <p:cNvSpPr txBox="1"/>
          <p:nvPr/>
        </p:nvSpPr>
        <p:spPr>
          <a:xfrm>
            <a:off x="859536" y="2322576"/>
            <a:ext cx="4910328" cy="1364468"/>
          </a:xfrm>
          <a:prstGeom prst="rect">
            <a:avLst/>
          </a:prstGeom>
          <a:noFill/>
          <a:ln/>
        </p:spPr>
        <p:txBody>
          <a:bodyPr wrap="square" lIns="0" tIns="0" rIns="0" bIns="0" rtlCol="0" anchor="t"/>
          <a:lstStyle/>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Program paling sederhana</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Node.js!'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nama =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'Mahasiswa'</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`Selamat belajar, ${nama}`</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Jalankan dengan: node hello.js</a:t>
            </a:r>
            <a:endParaRPr lang="en-US" sz="1100" dirty="0"/>
          </a:p>
        </p:txBody>
      </p:sp>
      <p:sp>
        <p:nvSpPr>
          <p:cNvPr id="10" name="Shape 7"/>
          <p:cNvSpPr/>
          <p:nvPr/>
        </p:nvSpPr>
        <p:spPr>
          <a:xfrm>
            <a:off x="6263640" y="1609344"/>
            <a:ext cx="5349240" cy="402336"/>
          </a:xfrm>
          <a:prstGeom prst="roundRect">
            <a:avLst>
              <a:gd name="adj" fmla="val 18182"/>
            </a:avLst>
          </a:prstGeom>
          <a:solidFill>
            <a:srgbClr val="3C873A"/>
          </a:solidFill>
          <a:ln w="12700">
            <a:solidFill>
              <a:srgbClr val="3C873A"/>
            </a:solidFill>
            <a:prstDash val="solid"/>
          </a:ln>
        </p:spPr>
      </p:sp>
      <p:sp>
        <p:nvSpPr>
          <p:cNvPr id="11" name="Text 8"/>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Langkah 2 — server.js</a:t>
            </a:r>
            <a:endParaRPr lang="en-US" sz="1250" dirty="0"/>
          </a:p>
        </p:txBody>
      </p:sp>
      <p:sp>
        <p:nvSpPr>
          <p:cNvPr id="12" name="Shape 9"/>
          <p:cNvSpPr/>
          <p:nvPr/>
        </p:nvSpPr>
        <p:spPr>
          <a:xfrm>
            <a:off x="6263640" y="2121408"/>
            <a:ext cx="5349240" cy="2330166"/>
          </a:xfrm>
          <a:prstGeom prst="roundRect">
            <a:avLst>
              <a:gd name="adj" fmla="val 2747"/>
            </a:avLst>
          </a:prstGeom>
          <a:solidFill>
            <a:srgbClr val="0E2417"/>
          </a:solidFill>
          <a:ln w="12700">
            <a:solidFill>
              <a:srgbClr val="234A31"/>
            </a:solidFill>
            <a:prstDash val="solid"/>
          </a:ln>
        </p:spPr>
      </p:sp>
      <p:sp>
        <p:nvSpPr>
          <p:cNvPr id="13" name="Text 10"/>
          <p:cNvSpPr txBox="1"/>
          <p:nvPr/>
        </p:nvSpPr>
        <p:spPr>
          <a:xfrm>
            <a:off x="6483096" y="2322576"/>
            <a:ext cx="4910328" cy="2019270"/>
          </a:xfrm>
          <a:prstGeom prst="rect">
            <a:avLst/>
          </a:prstGeom>
          <a:noFill/>
          <a:ln/>
        </p:spPr>
        <p:txBody>
          <a:bodyPr wrap="square" lIns="0" tIns="0" rIns="0" bIns="0" rtlCol="0" anchor="t"/>
          <a:lstStyle/>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http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'http'</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server = http.createServer((req, res) =&gt;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res.statusCode =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res.setHeader(</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'text/plain'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'Halo dari server Node.js!'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server.listen(</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=&gt;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'Server jalan di port 3000'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p:txBody>
      </p:sp>
      <p:sp>
        <p:nvSpPr>
          <p:cNvPr id="14" name="Shape 11"/>
          <p:cNvSpPr/>
          <p:nvPr/>
        </p:nvSpPr>
        <p:spPr>
          <a:xfrm>
            <a:off x="640080" y="4443984"/>
            <a:ext cx="2615184" cy="1371600"/>
          </a:xfrm>
          <a:prstGeom prst="roundRect">
            <a:avLst>
              <a:gd name="adj" fmla="val 6000"/>
            </a:avLst>
          </a:prstGeom>
          <a:solidFill>
            <a:srgbClr val="FFFFFF"/>
          </a:solidFill>
          <a:ln w="12700">
            <a:solidFill>
              <a:srgbClr val="E3EBDF"/>
            </a:solidFill>
            <a:prstDash val="solid"/>
          </a:ln>
        </p:spPr>
      </p:sp>
      <p:sp>
        <p:nvSpPr>
          <p:cNvPr id="15" name="Shape 12"/>
          <p:cNvSpPr/>
          <p:nvPr/>
        </p:nvSpPr>
        <p:spPr>
          <a:xfrm>
            <a:off x="859536" y="4645152"/>
            <a:ext cx="347472" cy="347472"/>
          </a:xfrm>
          <a:prstGeom prst="roundRect">
            <a:avLst>
              <a:gd name="adj" fmla="val 26316"/>
            </a:avLst>
          </a:prstGeom>
          <a:solidFill>
            <a:srgbClr val="3C873A"/>
          </a:solidFill>
          <a:ln w="12700">
            <a:solidFill>
              <a:srgbClr val="3C873A"/>
            </a:solidFill>
            <a:prstDash val="solid"/>
          </a:ln>
        </p:spPr>
      </p:sp>
      <p:sp>
        <p:nvSpPr>
          <p:cNvPr id="16" name="Text 13"/>
          <p:cNvSpPr txBox="1"/>
          <p:nvPr/>
        </p:nvSpPr>
        <p:spPr>
          <a:xfrm>
            <a:off x="85953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17" name="Text 14"/>
          <p:cNvSpPr txBox="1"/>
          <p:nvPr/>
        </p:nvSpPr>
        <p:spPr>
          <a:xfrm>
            <a:off x="129844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Buat berkas</a:t>
            </a:r>
            <a:endParaRPr lang="en-US" sz="1250" dirty="0"/>
          </a:p>
        </p:txBody>
      </p:sp>
      <p:sp>
        <p:nvSpPr>
          <p:cNvPr id="18" name="Text 15"/>
          <p:cNvSpPr txBox="1"/>
          <p:nvPr/>
        </p:nvSpPr>
        <p:spPr>
          <a:xfrm>
            <a:off x="85953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Simpan kode ke dalam berkas berekstensi .js pada folder proyek Anda.</a:t>
            </a:r>
            <a:endParaRPr lang="en-US" sz="1030" dirty="0"/>
          </a:p>
        </p:txBody>
      </p:sp>
      <p:sp>
        <p:nvSpPr>
          <p:cNvPr id="19" name="Shape 16"/>
          <p:cNvSpPr/>
          <p:nvPr/>
        </p:nvSpPr>
        <p:spPr>
          <a:xfrm>
            <a:off x="3520440" y="4443984"/>
            <a:ext cx="2615184" cy="1371600"/>
          </a:xfrm>
          <a:prstGeom prst="roundRect">
            <a:avLst>
              <a:gd name="adj" fmla="val 6000"/>
            </a:avLst>
          </a:prstGeom>
          <a:solidFill>
            <a:srgbClr val="FFFFFF"/>
          </a:solidFill>
          <a:ln w="12700">
            <a:solidFill>
              <a:srgbClr val="E3EBDF"/>
            </a:solidFill>
            <a:prstDash val="solid"/>
          </a:ln>
        </p:spPr>
      </p:sp>
      <p:sp>
        <p:nvSpPr>
          <p:cNvPr id="20" name="Shape 17"/>
          <p:cNvSpPr/>
          <p:nvPr/>
        </p:nvSpPr>
        <p:spPr>
          <a:xfrm>
            <a:off x="3739896" y="4645152"/>
            <a:ext cx="347472" cy="347472"/>
          </a:xfrm>
          <a:prstGeom prst="roundRect">
            <a:avLst>
              <a:gd name="adj" fmla="val 26316"/>
            </a:avLst>
          </a:prstGeom>
          <a:solidFill>
            <a:srgbClr val="3C873A"/>
          </a:solidFill>
          <a:ln w="12700">
            <a:solidFill>
              <a:srgbClr val="3C873A"/>
            </a:solidFill>
            <a:prstDash val="solid"/>
          </a:ln>
        </p:spPr>
      </p:sp>
      <p:sp>
        <p:nvSpPr>
          <p:cNvPr id="21" name="Text 18"/>
          <p:cNvSpPr txBox="1"/>
          <p:nvPr/>
        </p:nvSpPr>
        <p:spPr>
          <a:xfrm>
            <a:off x="373989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22" name="Text 19"/>
          <p:cNvSpPr txBox="1"/>
          <p:nvPr/>
        </p:nvSpPr>
        <p:spPr>
          <a:xfrm>
            <a:off x="417880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Buka terminal</a:t>
            </a:r>
            <a:endParaRPr lang="en-US" sz="1250" dirty="0"/>
          </a:p>
        </p:txBody>
      </p:sp>
      <p:sp>
        <p:nvSpPr>
          <p:cNvPr id="23" name="Text 20"/>
          <p:cNvSpPr txBox="1"/>
          <p:nvPr/>
        </p:nvSpPr>
        <p:spPr>
          <a:xfrm>
            <a:off x="373989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Arahkan terminal ke folder tempat berkas tersebut disimpan.</a:t>
            </a:r>
            <a:endParaRPr lang="en-US" sz="1030" dirty="0"/>
          </a:p>
        </p:txBody>
      </p:sp>
      <p:sp>
        <p:nvSpPr>
          <p:cNvPr id="24" name="Shape 21"/>
          <p:cNvSpPr/>
          <p:nvPr/>
        </p:nvSpPr>
        <p:spPr>
          <a:xfrm>
            <a:off x="6400800" y="4443984"/>
            <a:ext cx="2615184" cy="1371600"/>
          </a:xfrm>
          <a:prstGeom prst="roundRect">
            <a:avLst>
              <a:gd name="adj" fmla="val 6000"/>
            </a:avLst>
          </a:prstGeom>
          <a:solidFill>
            <a:srgbClr val="FFFFFF"/>
          </a:solidFill>
          <a:ln w="12700">
            <a:solidFill>
              <a:srgbClr val="E3EBDF"/>
            </a:solidFill>
            <a:prstDash val="solid"/>
          </a:ln>
        </p:spPr>
      </p:sp>
      <p:sp>
        <p:nvSpPr>
          <p:cNvPr id="25" name="Shape 22"/>
          <p:cNvSpPr/>
          <p:nvPr/>
        </p:nvSpPr>
        <p:spPr>
          <a:xfrm>
            <a:off x="6620256" y="4645152"/>
            <a:ext cx="347472" cy="347472"/>
          </a:xfrm>
          <a:prstGeom prst="roundRect">
            <a:avLst>
              <a:gd name="adj" fmla="val 26316"/>
            </a:avLst>
          </a:prstGeom>
          <a:solidFill>
            <a:srgbClr val="3C873A"/>
          </a:solidFill>
          <a:ln w="12700">
            <a:solidFill>
              <a:srgbClr val="3C873A"/>
            </a:solidFill>
            <a:prstDash val="solid"/>
          </a:ln>
        </p:spPr>
      </p:sp>
      <p:sp>
        <p:nvSpPr>
          <p:cNvPr id="26" name="Text 23"/>
          <p:cNvSpPr txBox="1"/>
          <p:nvPr/>
        </p:nvSpPr>
        <p:spPr>
          <a:xfrm>
            <a:off x="662025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27" name="Text 24"/>
          <p:cNvSpPr txBox="1"/>
          <p:nvPr/>
        </p:nvSpPr>
        <p:spPr>
          <a:xfrm>
            <a:off x="705916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Jalankan</a:t>
            </a:r>
            <a:endParaRPr lang="en-US" sz="1250" dirty="0"/>
          </a:p>
        </p:txBody>
      </p:sp>
      <p:sp>
        <p:nvSpPr>
          <p:cNvPr id="28" name="Text 25"/>
          <p:cNvSpPr txBox="1"/>
          <p:nvPr/>
        </p:nvSpPr>
        <p:spPr>
          <a:xfrm>
            <a:off x="662025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Ketik node server.js lalu tekan Enter untuk mengeksekusi program.</a:t>
            </a:r>
            <a:endParaRPr lang="en-US" sz="1030" dirty="0"/>
          </a:p>
        </p:txBody>
      </p:sp>
      <p:sp>
        <p:nvSpPr>
          <p:cNvPr id="29" name="Shape 26"/>
          <p:cNvSpPr/>
          <p:nvPr/>
        </p:nvSpPr>
        <p:spPr>
          <a:xfrm>
            <a:off x="9281160" y="4443984"/>
            <a:ext cx="2615184" cy="1371600"/>
          </a:xfrm>
          <a:prstGeom prst="roundRect">
            <a:avLst>
              <a:gd name="adj" fmla="val 6000"/>
            </a:avLst>
          </a:prstGeom>
          <a:solidFill>
            <a:srgbClr val="FFFFFF"/>
          </a:solidFill>
          <a:ln w="12700">
            <a:solidFill>
              <a:srgbClr val="E3EBDF"/>
            </a:solidFill>
            <a:prstDash val="solid"/>
          </a:ln>
        </p:spPr>
      </p:sp>
      <p:sp>
        <p:nvSpPr>
          <p:cNvPr id="30" name="Shape 27"/>
          <p:cNvSpPr/>
          <p:nvPr/>
        </p:nvSpPr>
        <p:spPr>
          <a:xfrm>
            <a:off x="9500616" y="4645152"/>
            <a:ext cx="347472" cy="347472"/>
          </a:xfrm>
          <a:prstGeom prst="roundRect">
            <a:avLst>
              <a:gd name="adj" fmla="val 26316"/>
            </a:avLst>
          </a:prstGeom>
          <a:solidFill>
            <a:srgbClr val="3C873A"/>
          </a:solidFill>
          <a:ln w="12700">
            <a:solidFill>
              <a:srgbClr val="3C873A"/>
            </a:solidFill>
            <a:prstDash val="solid"/>
          </a:ln>
        </p:spPr>
      </p:sp>
      <p:sp>
        <p:nvSpPr>
          <p:cNvPr id="31" name="Text 28"/>
          <p:cNvSpPr txBox="1"/>
          <p:nvPr/>
        </p:nvSpPr>
        <p:spPr>
          <a:xfrm>
            <a:off x="950061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a:t>
            </a:r>
            <a:endParaRPr lang="en-US" sz="1150" dirty="0"/>
          </a:p>
        </p:txBody>
      </p:sp>
      <p:sp>
        <p:nvSpPr>
          <p:cNvPr id="32" name="Text 29"/>
          <p:cNvSpPr txBox="1"/>
          <p:nvPr/>
        </p:nvSpPr>
        <p:spPr>
          <a:xfrm>
            <a:off x="993952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Uji hasilnya</a:t>
            </a:r>
            <a:endParaRPr lang="en-US" sz="1250" dirty="0"/>
          </a:p>
        </p:txBody>
      </p:sp>
      <p:sp>
        <p:nvSpPr>
          <p:cNvPr id="33" name="Text 30"/>
          <p:cNvSpPr txBox="1"/>
          <p:nvPr/>
        </p:nvSpPr>
        <p:spPr>
          <a:xfrm>
            <a:off x="950061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Buka peramban ke alamat localhost titik dua 3000 untuk melihat respons.</a:t>
            </a:r>
            <a:endParaRPr lang="en-US" sz="103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Struktur Proyek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Susunan folder yang umum dipakai pada aplikasi berskala menengah</a:t>
            </a:r>
            <a:endParaRPr lang="en-US" sz="1300" dirty="0"/>
          </a:p>
        </p:txBody>
      </p:sp>
      <p:sp>
        <p:nvSpPr>
          <p:cNvPr id="6" name="Shape 3"/>
          <p:cNvSpPr/>
          <p:nvPr/>
        </p:nvSpPr>
        <p:spPr>
          <a:xfrm>
            <a:off x="640080" y="1627632"/>
            <a:ext cx="5577840" cy="3424245"/>
          </a:xfrm>
          <a:prstGeom prst="roundRect">
            <a:avLst>
              <a:gd name="adj" fmla="val 1869"/>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STRUKTUR FOLDER</a:t>
            </a:r>
            <a:endParaRPr lang="en-US" sz="950" dirty="0"/>
          </a:p>
        </p:txBody>
      </p:sp>
      <p:sp>
        <p:nvSpPr>
          <p:cNvPr id="8" name="Text 5"/>
          <p:cNvSpPr txBox="1"/>
          <p:nvPr/>
        </p:nvSpPr>
        <p:spPr>
          <a:xfrm>
            <a:off x="859536" y="2029968"/>
            <a:ext cx="5138928" cy="2912181"/>
          </a:xfrm>
          <a:prstGeom prst="rect">
            <a:avLst/>
          </a:prstGeom>
          <a:noFill/>
          <a:ln/>
        </p:spPr>
        <p:txBody>
          <a:bodyPr wrap="square" lIns="0" tIns="0" rIns="0" bIns="0" rtlCol="0" anchor="t"/>
          <a:lstStyle/>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proyek-saya/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node_modules/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paket hasil instalasi npm</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src/</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controllers/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logika penanganan permintaan</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routes/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definisi endpoint aplikasi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models/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skema dan akses basis data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services/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aturan bisnis inti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middlewares/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fungsi perantara Express</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utils/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fungsi bantuan umum</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config/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konfigurasi aplikasi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tests/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pengujian</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public/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aset statis</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.env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variabel lingkungan rahasia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.gitignore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daftar berkas yang diabaikan Git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package.json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metadata dan dependensi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server.js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titik masuk aplikasi</a:t>
            </a:r>
            <a:endParaRPr lang="en-US" sz="1050" dirty="0"/>
          </a:p>
        </p:txBody>
      </p:sp>
      <p:sp>
        <p:nvSpPr>
          <p:cNvPr id="9" name="Shape 6"/>
          <p:cNvSpPr/>
          <p:nvPr/>
        </p:nvSpPr>
        <p:spPr>
          <a:xfrm>
            <a:off x="6492240" y="1627632"/>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0" name="Shape 7"/>
          <p:cNvSpPr/>
          <p:nvPr/>
        </p:nvSpPr>
        <p:spPr>
          <a:xfrm>
            <a:off x="6748272" y="1847088"/>
            <a:ext cx="457200" cy="457200"/>
          </a:xfrm>
          <a:prstGeom prst="roundRect">
            <a:avLst>
              <a:gd name="adj" fmla="val 26000"/>
            </a:avLst>
          </a:prstGeom>
          <a:solidFill>
            <a:srgbClr val="E8F2E2"/>
          </a:solidFill>
          <a:ln w="12700">
            <a:solidFill>
              <a:srgbClr val="E8F2E2"/>
            </a:solidFill>
            <a:prstDash val="solid"/>
          </a:ln>
        </p:spPr>
      </p:sp>
      <p:pic>
        <p:nvPicPr>
          <p:cNvPr id="11" name="Image 1" descr="preencoded.png">    </p:cNvPr>
          <p:cNvPicPr>
            <a:picLocks noChangeAspect="1"/>
          </p:cNvPicPr>
          <p:nvPr/>
        </p:nvPicPr>
        <p:blipFill>
          <a:blip r:embed="rId2"/>
          <a:stretch>
            <a:fillRect/>
          </a:stretch>
        </p:blipFill>
        <p:spPr>
          <a:xfrm>
            <a:off x="6862572" y="1961388"/>
            <a:ext cx="228600" cy="228600"/>
          </a:xfrm>
          <a:prstGeom prst="rect">
            <a:avLst/>
          </a:prstGeom>
        </p:spPr>
      </p:pic>
      <p:sp>
        <p:nvSpPr>
          <p:cNvPr id="12" name="Text 8"/>
          <p:cNvSpPr txBox="1"/>
          <p:nvPr/>
        </p:nvSpPr>
        <p:spPr>
          <a:xfrm>
            <a:off x="7351776" y="1847088"/>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node_modules</a:t>
            </a:r>
            <a:endParaRPr lang="en-US" sz="1250" dirty="0"/>
          </a:p>
        </p:txBody>
      </p:sp>
      <p:sp>
        <p:nvSpPr>
          <p:cNvPr id="13" name="Text 9"/>
          <p:cNvSpPr txBox="1"/>
          <p:nvPr/>
        </p:nvSpPr>
        <p:spPr>
          <a:xfrm>
            <a:off x="6748272" y="2414016"/>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Berisi dependensi hasil npm install. Tidak pernah dikirim ke Git.</a:t>
            </a:r>
            <a:endParaRPr lang="en-US" sz="1030" dirty="0"/>
          </a:p>
        </p:txBody>
      </p:sp>
      <p:sp>
        <p:nvSpPr>
          <p:cNvPr id="14" name="Shape 10"/>
          <p:cNvSpPr/>
          <p:nvPr/>
        </p:nvSpPr>
        <p:spPr>
          <a:xfrm>
            <a:off x="6492240" y="2779776"/>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5" name="Shape 11"/>
          <p:cNvSpPr/>
          <p:nvPr/>
        </p:nvSpPr>
        <p:spPr>
          <a:xfrm>
            <a:off x="6748272" y="2999232"/>
            <a:ext cx="457200" cy="457200"/>
          </a:xfrm>
          <a:prstGeom prst="roundRect">
            <a:avLst>
              <a:gd name="adj" fmla="val 26000"/>
            </a:avLst>
          </a:prstGeom>
          <a:solidFill>
            <a:srgbClr val="E8F2E2"/>
          </a:solidFill>
          <a:ln w="12700">
            <a:solidFill>
              <a:srgbClr val="E8F2E2"/>
            </a:solidFill>
            <a:prstDash val="solid"/>
          </a:ln>
        </p:spPr>
      </p:sp>
      <p:pic>
        <p:nvPicPr>
          <p:cNvPr id="16" name="Image 2" descr="preencoded.png">    </p:cNvPr>
          <p:cNvPicPr>
            <a:picLocks noChangeAspect="1"/>
          </p:cNvPicPr>
          <p:nvPr/>
        </p:nvPicPr>
        <p:blipFill>
          <a:blip r:embed="rId3"/>
          <a:stretch>
            <a:fillRect/>
          </a:stretch>
        </p:blipFill>
        <p:spPr>
          <a:xfrm>
            <a:off x="6862572" y="3113532"/>
            <a:ext cx="228600" cy="228600"/>
          </a:xfrm>
          <a:prstGeom prst="rect">
            <a:avLst/>
          </a:prstGeom>
        </p:spPr>
      </p:pic>
      <p:sp>
        <p:nvSpPr>
          <p:cNvPr id="17" name="Text 12"/>
          <p:cNvSpPr txBox="1"/>
          <p:nvPr/>
        </p:nvSpPr>
        <p:spPr>
          <a:xfrm>
            <a:off x="7351776" y="2999232"/>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package.json</a:t>
            </a:r>
            <a:endParaRPr lang="en-US" sz="1250" dirty="0"/>
          </a:p>
        </p:txBody>
      </p:sp>
      <p:sp>
        <p:nvSpPr>
          <p:cNvPr id="18" name="Text 13"/>
          <p:cNvSpPr txBox="1"/>
          <p:nvPr/>
        </p:nvSpPr>
        <p:spPr>
          <a:xfrm>
            <a:off x="6748272" y="3566160"/>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Kartu identitas proyek: nama, versi, skrip, dan dependensi.</a:t>
            </a:r>
            <a:endParaRPr lang="en-US" sz="1030" dirty="0"/>
          </a:p>
        </p:txBody>
      </p:sp>
      <p:sp>
        <p:nvSpPr>
          <p:cNvPr id="19" name="Shape 14"/>
          <p:cNvSpPr/>
          <p:nvPr/>
        </p:nvSpPr>
        <p:spPr>
          <a:xfrm>
            <a:off x="6492240" y="3931920"/>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0" name="Shape 15"/>
          <p:cNvSpPr/>
          <p:nvPr/>
        </p:nvSpPr>
        <p:spPr>
          <a:xfrm>
            <a:off x="6748272" y="4151376"/>
            <a:ext cx="457200" cy="457200"/>
          </a:xfrm>
          <a:prstGeom prst="roundRect">
            <a:avLst>
              <a:gd name="adj" fmla="val 26000"/>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862572" y="4265676"/>
            <a:ext cx="228600" cy="228600"/>
          </a:xfrm>
          <a:prstGeom prst="rect">
            <a:avLst/>
          </a:prstGeom>
        </p:spPr>
      </p:pic>
      <p:sp>
        <p:nvSpPr>
          <p:cNvPr id="22" name="Text 16"/>
          <p:cNvSpPr txBox="1"/>
          <p:nvPr/>
        </p:nvSpPr>
        <p:spPr>
          <a:xfrm>
            <a:off x="7351776" y="4151376"/>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Berkas .env</a:t>
            </a:r>
            <a:endParaRPr lang="en-US" sz="1250" dirty="0"/>
          </a:p>
        </p:txBody>
      </p:sp>
      <p:sp>
        <p:nvSpPr>
          <p:cNvPr id="23" name="Text 17"/>
          <p:cNvSpPr txBox="1"/>
          <p:nvPr/>
        </p:nvSpPr>
        <p:spPr>
          <a:xfrm>
            <a:off x="6748272" y="4718304"/>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Menyimpan kredensial rahasia. Wajib masuk ke dalam .gitignore.</a:t>
            </a:r>
            <a:endParaRPr lang="en-US" sz="1030" dirty="0"/>
          </a:p>
        </p:txBody>
      </p:sp>
      <p:sp>
        <p:nvSpPr>
          <p:cNvPr id="24" name="Shape 18"/>
          <p:cNvSpPr/>
          <p:nvPr/>
        </p:nvSpPr>
        <p:spPr>
          <a:xfrm>
            <a:off x="6492240" y="5084064"/>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6748272" y="5303520"/>
            <a:ext cx="457200" cy="457200"/>
          </a:xfrm>
          <a:prstGeom prst="roundRect">
            <a:avLst>
              <a:gd name="adj" fmla="val 26000"/>
            </a:avLst>
          </a:prstGeom>
          <a:solidFill>
            <a:srgbClr val="E8F2E2"/>
          </a:solidFill>
          <a:ln w="12700">
            <a:solidFill>
              <a:srgbClr val="E8F2E2"/>
            </a:solidFill>
            <a:prstDash val="solid"/>
          </a:ln>
        </p:spPr>
      </p:sp>
      <p:pic>
        <p:nvPicPr>
          <p:cNvPr id="26" name="Image 4" descr="preencoded.png">    </p:cNvPr>
          <p:cNvPicPr>
            <a:picLocks noChangeAspect="1"/>
          </p:cNvPicPr>
          <p:nvPr/>
        </p:nvPicPr>
        <p:blipFill>
          <a:blip r:embed="rId5"/>
          <a:stretch>
            <a:fillRect/>
          </a:stretch>
        </p:blipFill>
        <p:spPr>
          <a:xfrm>
            <a:off x="6862572" y="5417820"/>
            <a:ext cx="228600" cy="228600"/>
          </a:xfrm>
          <a:prstGeom prst="rect">
            <a:avLst/>
          </a:prstGeom>
        </p:spPr>
      </p:pic>
      <p:sp>
        <p:nvSpPr>
          <p:cNvPr id="27" name="Text 20"/>
          <p:cNvSpPr txBox="1"/>
          <p:nvPr/>
        </p:nvSpPr>
        <p:spPr>
          <a:xfrm>
            <a:off x="7351776" y="5303520"/>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Pemisahan Lapisan</a:t>
            </a:r>
            <a:endParaRPr lang="en-US" sz="1250" dirty="0"/>
          </a:p>
        </p:txBody>
      </p:sp>
      <p:sp>
        <p:nvSpPr>
          <p:cNvPr id="28" name="Text 21"/>
          <p:cNvSpPr txBox="1"/>
          <p:nvPr/>
        </p:nvSpPr>
        <p:spPr>
          <a:xfrm>
            <a:off x="6748272" y="5870448"/>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Rute, controller, service, dan model dipisah agar mudah dirawat.</a:t>
            </a:r>
            <a:endParaRPr lang="en-US" sz="1030" dirty="0"/>
          </a:p>
        </p:txBody>
      </p:sp>
      <p:sp>
        <p:nvSpPr>
          <p:cNvPr id="29" name="Text 2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04</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Sistem Modul &amp; NPM</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Memecah kode menjadi bagian-bagian yang dapat digunakan kembali, serta memanfaatkan registry paket terbesar di dunia.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Modul inti, modul lokal, dan modul pihak ketiga</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Perbedaan CommonJS dan ES Modules</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package.json, perintah NPM, dan semantic versioning</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Sistem Modul di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Setiap berkas adalah modul dengan cakupan variabel tersendiri</a:t>
            </a:r>
            <a:endParaRPr lang="en-US" sz="1300" dirty="0"/>
          </a:p>
        </p:txBody>
      </p:sp>
      <p:sp>
        <p:nvSpPr>
          <p:cNvPr id="6" name="Shape 3"/>
          <p:cNvSpPr/>
          <p:nvPr/>
        </p:nvSpPr>
        <p:spPr>
          <a:xfrm>
            <a:off x="640080"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Inti (Core)</a:t>
            </a:r>
            <a:endParaRPr lang="en-US" sz="1300" dirty="0"/>
          </a:p>
        </p:txBody>
      </p:sp>
      <p:sp>
        <p:nvSpPr>
          <p:cNvPr id="10" name="Text 6"/>
          <p:cNvSpPr txBox="1"/>
          <p:nvPr/>
        </p:nvSpPr>
        <p:spPr>
          <a:xfrm>
            <a:off x="896112"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Sudah tersedia di dalam Node.js, tidak perlu dipasang.</a:t>
            </a:r>
            <a:endParaRPr lang="en-US" sz="1080" dirty="0"/>
          </a:p>
        </p:txBody>
      </p:sp>
      <p:sp>
        <p:nvSpPr>
          <p:cNvPr id="11" name="Shape 7"/>
          <p:cNvSpPr/>
          <p:nvPr/>
        </p:nvSpPr>
        <p:spPr>
          <a:xfrm>
            <a:off x="896112" y="2724912"/>
            <a:ext cx="3008376" cy="329184"/>
          </a:xfrm>
          <a:prstGeom prst="roundRect">
            <a:avLst>
              <a:gd name="adj" fmla="val 16667"/>
            </a:avLst>
          </a:prstGeom>
          <a:solidFill>
            <a:srgbClr val="0E2417"/>
          </a:solidFill>
          <a:ln w="12700">
            <a:solidFill>
              <a:srgbClr val="0E2417"/>
            </a:solidFill>
            <a:prstDash val="solid"/>
          </a:ln>
        </p:spPr>
      </p:sp>
      <p:sp>
        <p:nvSpPr>
          <p:cNvPr id="12" name="Text 8"/>
          <p:cNvSpPr txBox="1"/>
          <p:nvPr/>
        </p:nvSpPr>
        <p:spPr>
          <a:xfrm>
            <a:off x="896112"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require('fs')</a:t>
            </a:r>
            <a:endParaRPr lang="en-US" sz="1050" dirty="0"/>
          </a:p>
        </p:txBody>
      </p:sp>
      <p:sp>
        <p:nvSpPr>
          <p:cNvPr id="13" name="Shape 9"/>
          <p:cNvSpPr/>
          <p:nvPr/>
        </p:nvSpPr>
        <p:spPr>
          <a:xfrm>
            <a:off x="4443984"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4700016"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4814316" y="1961388"/>
            <a:ext cx="228600" cy="228600"/>
          </a:xfrm>
          <a:prstGeom prst="rect">
            <a:avLst/>
          </a:prstGeom>
        </p:spPr>
      </p:pic>
      <p:sp>
        <p:nvSpPr>
          <p:cNvPr id="16" name="Text 11"/>
          <p:cNvSpPr txBox="1"/>
          <p:nvPr/>
        </p:nvSpPr>
        <p:spPr>
          <a:xfrm>
            <a:off x="5303520"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Lokal</a:t>
            </a:r>
            <a:endParaRPr lang="en-US" sz="1300" dirty="0"/>
          </a:p>
        </p:txBody>
      </p:sp>
      <p:sp>
        <p:nvSpPr>
          <p:cNvPr id="17" name="Text 12"/>
          <p:cNvSpPr txBox="1"/>
          <p:nvPr/>
        </p:nvSpPr>
        <p:spPr>
          <a:xfrm>
            <a:off x="4700016"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Berkas buatan sendiri, dirujuk dengan jalur relatif.</a:t>
            </a:r>
            <a:endParaRPr lang="en-US" sz="1080" dirty="0"/>
          </a:p>
        </p:txBody>
      </p:sp>
      <p:sp>
        <p:nvSpPr>
          <p:cNvPr id="18" name="Shape 13"/>
          <p:cNvSpPr/>
          <p:nvPr/>
        </p:nvSpPr>
        <p:spPr>
          <a:xfrm>
            <a:off x="4700016" y="2724912"/>
            <a:ext cx="3008376" cy="329184"/>
          </a:xfrm>
          <a:prstGeom prst="roundRect">
            <a:avLst>
              <a:gd name="adj" fmla="val 16667"/>
            </a:avLst>
          </a:prstGeom>
          <a:solidFill>
            <a:srgbClr val="0E2417"/>
          </a:solidFill>
          <a:ln w="12700">
            <a:solidFill>
              <a:srgbClr val="0E2417"/>
            </a:solidFill>
            <a:prstDash val="solid"/>
          </a:ln>
        </p:spPr>
      </p:sp>
      <p:sp>
        <p:nvSpPr>
          <p:cNvPr id="19" name="Text 14"/>
          <p:cNvSpPr txBox="1"/>
          <p:nvPr/>
        </p:nvSpPr>
        <p:spPr>
          <a:xfrm>
            <a:off x="4700016"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require('./utils')</a:t>
            </a:r>
            <a:endParaRPr lang="en-US" sz="1050" dirty="0"/>
          </a:p>
        </p:txBody>
      </p:sp>
      <p:sp>
        <p:nvSpPr>
          <p:cNvPr id="20" name="Shape 15"/>
          <p:cNvSpPr/>
          <p:nvPr/>
        </p:nvSpPr>
        <p:spPr>
          <a:xfrm>
            <a:off x="8247888"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850392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8618220" y="1961388"/>
            <a:ext cx="228600" cy="228600"/>
          </a:xfrm>
          <a:prstGeom prst="rect">
            <a:avLst/>
          </a:prstGeom>
        </p:spPr>
      </p:pic>
      <p:sp>
        <p:nvSpPr>
          <p:cNvPr id="23" name="Text 17"/>
          <p:cNvSpPr txBox="1"/>
          <p:nvPr/>
        </p:nvSpPr>
        <p:spPr>
          <a:xfrm>
            <a:off x="9107424"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Pihak Ketiga</a:t>
            </a:r>
            <a:endParaRPr lang="en-US" sz="1300" dirty="0"/>
          </a:p>
        </p:txBody>
      </p:sp>
      <p:sp>
        <p:nvSpPr>
          <p:cNvPr id="24" name="Text 18"/>
          <p:cNvSpPr txBox="1"/>
          <p:nvPr/>
        </p:nvSpPr>
        <p:spPr>
          <a:xfrm>
            <a:off x="8503920"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Dipasang dari registry NPM ke folder node_modules.</a:t>
            </a:r>
            <a:endParaRPr lang="en-US" sz="1080" dirty="0"/>
          </a:p>
        </p:txBody>
      </p:sp>
      <p:sp>
        <p:nvSpPr>
          <p:cNvPr id="25" name="Shape 19"/>
          <p:cNvSpPr/>
          <p:nvPr/>
        </p:nvSpPr>
        <p:spPr>
          <a:xfrm>
            <a:off x="8503920" y="2724912"/>
            <a:ext cx="3008376" cy="329184"/>
          </a:xfrm>
          <a:prstGeom prst="roundRect">
            <a:avLst>
              <a:gd name="adj" fmla="val 16667"/>
            </a:avLst>
          </a:prstGeom>
          <a:solidFill>
            <a:srgbClr val="0E2417"/>
          </a:solidFill>
          <a:ln w="12700">
            <a:solidFill>
              <a:srgbClr val="0E2417"/>
            </a:solidFill>
            <a:prstDash val="solid"/>
          </a:ln>
        </p:spPr>
      </p:sp>
      <p:sp>
        <p:nvSpPr>
          <p:cNvPr id="26" name="Text 20"/>
          <p:cNvSpPr txBox="1"/>
          <p:nvPr/>
        </p:nvSpPr>
        <p:spPr>
          <a:xfrm>
            <a:off x="8503920"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require('express')</a:t>
            </a:r>
            <a:endParaRPr lang="en-US" sz="1050" dirty="0"/>
          </a:p>
        </p:txBody>
      </p:sp>
      <p:sp>
        <p:nvSpPr>
          <p:cNvPr id="27" name="Shape 21"/>
          <p:cNvSpPr/>
          <p:nvPr/>
        </p:nvSpPr>
        <p:spPr>
          <a:xfrm>
            <a:off x="640080" y="3419856"/>
            <a:ext cx="5577840" cy="2352751"/>
          </a:xfrm>
          <a:prstGeom prst="roundRect">
            <a:avLst>
              <a:gd name="adj" fmla="val 2721"/>
            </a:avLst>
          </a:prstGeom>
          <a:solidFill>
            <a:srgbClr val="0E2417"/>
          </a:solidFill>
          <a:ln w="12700">
            <a:solidFill>
              <a:srgbClr val="234A31"/>
            </a:solidFill>
            <a:prstDash val="solid"/>
          </a:ln>
        </p:spPr>
      </p:sp>
      <p:sp>
        <p:nvSpPr>
          <p:cNvPr id="28" name="Text 22"/>
          <p:cNvSpPr txBox="1"/>
          <p:nvPr/>
        </p:nvSpPr>
        <p:spPr>
          <a:xfrm>
            <a:off x="859536" y="3511296"/>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DAN MEMAKAI MODUL LOKAL</a:t>
            </a:r>
            <a:endParaRPr lang="en-US" sz="950" dirty="0"/>
          </a:p>
        </p:txBody>
      </p:sp>
      <p:sp>
        <p:nvSpPr>
          <p:cNvPr id="29" name="Text 23"/>
          <p:cNvSpPr txBox="1"/>
          <p:nvPr/>
        </p:nvSpPr>
        <p:spPr>
          <a:xfrm>
            <a:off x="859536" y="3822192"/>
            <a:ext cx="51389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 matematika.js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tambah(a, b)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 + b;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kali(a, b)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 * b;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 tambah, kali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 app.js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mtk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'./matematika'</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.log(mtk.tambah(</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5</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.log(mtk.kali(</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4</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5</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20</a:t>
            </a:r>
            <a:endParaRPr lang="en-US" sz="1050" dirty="0"/>
          </a:p>
        </p:txBody>
      </p:sp>
      <p:sp>
        <p:nvSpPr>
          <p:cNvPr id="30" name="Shape 24"/>
          <p:cNvSpPr/>
          <p:nvPr/>
        </p:nvSpPr>
        <p:spPr>
          <a:xfrm>
            <a:off x="6492240" y="3566160"/>
            <a:ext cx="420624" cy="420624"/>
          </a:xfrm>
          <a:prstGeom prst="roundRect">
            <a:avLst>
              <a:gd name="adj" fmla="val 26087"/>
            </a:avLst>
          </a:prstGeom>
          <a:solidFill>
            <a:srgbClr val="E8F2E2"/>
          </a:solidFill>
          <a:ln w="12700">
            <a:solidFill>
              <a:srgbClr val="E8F2E2"/>
            </a:solidFill>
            <a:prstDash val="solid"/>
          </a:ln>
        </p:spPr>
      </p:sp>
      <p:pic>
        <p:nvPicPr>
          <p:cNvPr id="31" name="Image 4" descr="preencoded.png">    </p:cNvPr>
          <p:cNvPicPr>
            <a:picLocks noChangeAspect="1"/>
          </p:cNvPicPr>
          <p:nvPr/>
        </p:nvPicPr>
        <p:blipFill>
          <a:blip r:embed="rId5"/>
          <a:stretch>
            <a:fillRect/>
          </a:stretch>
        </p:blipFill>
        <p:spPr>
          <a:xfrm>
            <a:off x="6597396" y="3671316"/>
            <a:ext cx="210312" cy="210312"/>
          </a:xfrm>
          <a:prstGeom prst="rect">
            <a:avLst/>
          </a:prstGeom>
        </p:spPr>
      </p:pic>
      <p:sp>
        <p:nvSpPr>
          <p:cNvPr id="32" name="Text 25"/>
          <p:cNvSpPr txBox="1"/>
          <p:nvPr/>
        </p:nvSpPr>
        <p:spPr>
          <a:xfrm>
            <a:off x="7059168" y="35478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Urutan Pencarian require</a:t>
            </a:r>
            <a:endParaRPr lang="en-US" sz="1200" dirty="0"/>
          </a:p>
        </p:txBody>
      </p:sp>
      <p:sp>
        <p:nvSpPr>
          <p:cNvPr id="33" name="Text 26"/>
          <p:cNvSpPr txBox="1"/>
          <p:nvPr/>
        </p:nvSpPr>
        <p:spPr>
          <a:xfrm>
            <a:off x="7059168" y="3803904"/>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Modul inti diperiksa lebih dulu, lalu jalur relatif, baru node_modules.</a:t>
            </a:r>
            <a:endParaRPr lang="en-US" sz="1020" dirty="0"/>
          </a:p>
        </p:txBody>
      </p:sp>
      <p:sp>
        <p:nvSpPr>
          <p:cNvPr id="34" name="Shape 27"/>
          <p:cNvSpPr/>
          <p:nvPr/>
        </p:nvSpPr>
        <p:spPr>
          <a:xfrm>
            <a:off x="6492240" y="4279392"/>
            <a:ext cx="420624" cy="420624"/>
          </a:xfrm>
          <a:prstGeom prst="roundRect">
            <a:avLst>
              <a:gd name="adj" fmla="val 26087"/>
            </a:avLst>
          </a:prstGeom>
          <a:solidFill>
            <a:srgbClr val="E8F2E2"/>
          </a:solidFill>
          <a:ln w="12700">
            <a:solidFill>
              <a:srgbClr val="E8F2E2"/>
            </a:solidFill>
            <a:prstDash val="solid"/>
          </a:ln>
        </p:spPr>
      </p:sp>
      <p:pic>
        <p:nvPicPr>
          <p:cNvPr id="35" name="Image 5" descr="preencoded.png">    </p:cNvPr>
          <p:cNvPicPr>
            <a:picLocks noChangeAspect="1"/>
          </p:cNvPicPr>
          <p:nvPr/>
        </p:nvPicPr>
        <p:blipFill>
          <a:blip r:embed="rId6"/>
          <a:stretch>
            <a:fillRect/>
          </a:stretch>
        </p:blipFill>
        <p:spPr>
          <a:xfrm>
            <a:off x="6597396" y="4384548"/>
            <a:ext cx="210312" cy="210312"/>
          </a:xfrm>
          <a:prstGeom prst="rect">
            <a:avLst/>
          </a:prstGeom>
        </p:spPr>
      </p:pic>
      <p:sp>
        <p:nvSpPr>
          <p:cNvPr id="36" name="Text 28"/>
          <p:cNvSpPr txBox="1"/>
          <p:nvPr/>
        </p:nvSpPr>
        <p:spPr>
          <a:xfrm>
            <a:off x="7059168" y="426110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Cakupan Terisolasi</a:t>
            </a:r>
            <a:endParaRPr lang="en-US" sz="1200" dirty="0"/>
          </a:p>
        </p:txBody>
      </p:sp>
      <p:sp>
        <p:nvSpPr>
          <p:cNvPr id="37" name="Text 29"/>
          <p:cNvSpPr txBox="1"/>
          <p:nvPr/>
        </p:nvSpPr>
        <p:spPr>
          <a:xfrm>
            <a:off x="7059168" y="4517136"/>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Variabel sebuah modul tidak bocor ke modul lain. Hanya ekspor yang terlihat.</a:t>
            </a:r>
            <a:endParaRPr lang="en-US" sz="1020" dirty="0"/>
          </a:p>
        </p:txBody>
      </p:sp>
      <p:sp>
        <p:nvSpPr>
          <p:cNvPr id="38" name="Shape 30"/>
          <p:cNvSpPr/>
          <p:nvPr/>
        </p:nvSpPr>
        <p:spPr>
          <a:xfrm>
            <a:off x="6492240" y="4992624"/>
            <a:ext cx="420624" cy="420624"/>
          </a:xfrm>
          <a:prstGeom prst="roundRect">
            <a:avLst>
              <a:gd name="adj" fmla="val 26087"/>
            </a:avLst>
          </a:prstGeom>
          <a:solidFill>
            <a:srgbClr val="E8F2E2"/>
          </a:solidFill>
          <a:ln w="12700">
            <a:solidFill>
              <a:srgbClr val="E8F2E2"/>
            </a:solidFill>
            <a:prstDash val="solid"/>
          </a:ln>
        </p:spPr>
      </p:sp>
      <p:pic>
        <p:nvPicPr>
          <p:cNvPr id="39" name="Image 6" descr="preencoded.png">    </p:cNvPr>
          <p:cNvPicPr>
            <a:picLocks noChangeAspect="1"/>
          </p:cNvPicPr>
          <p:nvPr/>
        </p:nvPicPr>
        <p:blipFill>
          <a:blip r:embed="rId7"/>
          <a:stretch>
            <a:fillRect/>
          </a:stretch>
        </p:blipFill>
        <p:spPr>
          <a:xfrm>
            <a:off x="6597396" y="5097780"/>
            <a:ext cx="210312" cy="210312"/>
          </a:xfrm>
          <a:prstGeom prst="rect">
            <a:avLst/>
          </a:prstGeom>
        </p:spPr>
      </p:pic>
      <p:sp>
        <p:nvSpPr>
          <p:cNvPr id="40" name="Text 31"/>
          <p:cNvSpPr txBox="1"/>
          <p:nvPr/>
        </p:nvSpPr>
        <p:spPr>
          <a:xfrm>
            <a:off x="7059168" y="497433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Cache Modul</a:t>
            </a:r>
            <a:endParaRPr lang="en-US" sz="1200" dirty="0"/>
          </a:p>
        </p:txBody>
      </p:sp>
      <p:sp>
        <p:nvSpPr>
          <p:cNvPr id="41" name="Text 32"/>
          <p:cNvSpPr txBox="1"/>
          <p:nvPr/>
        </p:nvSpPr>
        <p:spPr>
          <a:xfrm>
            <a:off x="7059168" y="5230368"/>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Modul hanya dieksekusi sekali; require berikutnya memakai cache.</a:t>
            </a:r>
            <a:endParaRPr lang="en-US" sz="1020" dirty="0"/>
          </a:p>
        </p:txBody>
      </p:sp>
      <p:sp>
        <p:nvSpPr>
          <p:cNvPr id="42"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3"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CommonJS vs ES Modules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sistem modul yang sama-sama didukung Node.js modern</a:t>
            </a:r>
            <a:endParaRPr lang="en-US" sz="1300" dirty="0"/>
          </a:p>
        </p:txBody>
      </p:sp>
      <p:sp>
        <p:nvSpPr>
          <p:cNvPr id="6" name="Shape 3"/>
          <p:cNvSpPr/>
          <p:nvPr/>
        </p:nvSpPr>
        <p:spPr>
          <a:xfrm>
            <a:off x="640080" y="1609344"/>
            <a:ext cx="5349240" cy="402336"/>
          </a:xfrm>
          <a:prstGeom prst="roundRect">
            <a:avLst>
              <a:gd name="adj" fmla="val 18182"/>
            </a:avLst>
          </a:prstGeom>
          <a:solidFill>
            <a:srgbClr val="5A6B5D"/>
          </a:solidFill>
          <a:ln w="12700">
            <a:solidFill>
              <a:srgbClr val="5A6B5D"/>
            </a:solidFill>
            <a:prstDash val="solid"/>
          </a:ln>
        </p:spPr>
      </p:sp>
      <p:sp>
        <p:nvSpPr>
          <p:cNvPr id="7" name="Text 4"/>
          <p:cNvSpPr txBox="1"/>
          <p:nvPr/>
        </p:nvSpPr>
        <p:spPr>
          <a:xfrm>
            <a:off x="86868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CommonJS — Gaya Klasik Node.js</a:t>
            </a:r>
            <a:endParaRPr lang="en-US" sz="1250" dirty="0"/>
          </a:p>
        </p:txBody>
      </p:sp>
      <p:sp>
        <p:nvSpPr>
          <p:cNvPr id="8" name="Shape 5"/>
          <p:cNvSpPr/>
          <p:nvPr/>
        </p:nvSpPr>
        <p:spPr>
          <a:xfrm>
            <a:off x="6263640" y="1609344"/>
            <a:ext cx="5349240" cy="402336"/>
          </a:xfrm>
          <a:prstGeom prst="roundRect">
            <a:avLst>
              <a:gd name="adj" fmla="val 18182"/>
            </a:avLst>
          </a:prstGeom>
          <a:solidFill>
            <a:srgbClr val="3C873A"/>
          </a:solidFill>
          <a:ln w="12700">
            <a:solidFill>
              <a:srgbClr val="3C873A"/>
            </a:solidFill>
            <a:prstDash val="solid"/>
          </a:ln>
        </p:spPr>
      </p:sp>
      <p:sp>
        <p:nvSpPr>
          <p:cNvPr id="9" name="Text 6"/>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ES Modules — Standar JavaScript</a:t>
            </a:r>
            <a:endParaRPr lang="en-US" sz="1250" dirty="0"/>
          </a:p>
        </p:txBody>
      </p:sp>
      <p:sp>
        <p:nvSpPr>
          <p:cNvPr id="10" name="Shape 7"/>
          <p:cNvSpPr/>
          <p:nvPr/>
        </p:nvSpPr>
        <p:spPr>
          <a:xfrm>
            <a:off x="640080" y="2121408"/>
            <a:ext cx="5349240" cy="2151583"/>
          </a:xfrm>
          <a:prstGeom prst="roundRect">
            <a:avLst>
              <a:gd name="adj" fmla="val 2975"/>
            </a:avLst>
          </a:prstGeom>
          <a:solidFill>
            <a:srgbClr val="0E2417"/>
          </a:solidFill>
          <a:ln w="12700">
            <a:solidFill>
              <a:srgbClr val="234A31"/>
            </a:solidFill>
            <a:prstDash val="solid"/>
          </a:ln>
        </p:spPr>
      </p:sp>
      <p:sp>
        <p:nvSpPr>
          <p:cNvPr id="11" name="Text 8"/>
          <p:cNvSpPr txBox="1"/>
          <p:nvPr/>
        </p:nvSpPr>
        <p:spPr>
          <a:xfrm>
            <a:off x="859536" y="2322576"/>
            <a:ext cx="49103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Ekspor</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 tambah };</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.kurang = kurang;</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Impor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tambah }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'./mtk'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.js atau .cjs</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Dimuat secara sinkron</a:t>
            </a:r>
            <a:endParaRPr lang="en-US" sz="1050" dirty="0"/>
          </a:p>
        </p:txBody>
      </p:sp>
      <p:sp>
        <p:nvSpPr>
          <p:cNvPr id="12" name="Shape 9"/>
          <p:cNvSpPr/>
          <p:nvPr/>
        </p:nvSpPr>
        <p:spPr>
          <a:xfrm>
            <a:off x="6263640" y="2121408"/>
            <a:ext cx="5349240" cy="2151583"/>
          </a:xfrm>
          <a:prstGeom prst="roundRect">
            <a:avLst>
              <a:gd name="adj" fmla="val 2975"/>
            </a:avLst>
          </a:prstGeom>
          <a:solidFill>
            <a:srgbClr val="0E2417"/>
          </a:solidFill>
          <a:ln w="12700">
            <a:solidFill>
              <a:srgbClr val="234A31"/>
            </a:solidFill>
            <a:prstDash val="solid"/>
          </a:ln>
        </p:spPr>
      </p:sp>
      <p:sp>
        <p:nvSpPr>
          <p:cNvPr id="13" name="Text 10"/>
          <p:cNvSpPr txBox="1"/>
          <p:nvPr/>
        </p:nvSpPr>
        <p:spPr>
          <a:xfrm>
            <a:off x="6483096" y="2322576"/>
            <a:ext cx="49103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Ekspor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export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tambah(a, b)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export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default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Kalkulator;</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Impor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import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tambah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'./mtk.js'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import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fs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'node:fs'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.mjs atau type: module</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Dimuat secara asinkron</a:t>
            </a:r>
            <a:endParaRPr lang="en-US" sz="1050" dirty="0"/>
          </a:p>
        </p:txBody>
      </p:sp>
      <p:sp>
        <p:nvSpPr>
          <p:cNvPr id="14" name="Shape 11"/>
          <p:cNvSpPr/>
          <p:nvPr/>
        </p:nvSpPr>
        <p:spPr>
          <a:xfrm>
            <a:off x="640080" y="4261104"/>
            <a:ext cx="10972800" cy="329184"/>
          </a:xfrm>
          <a:prstGeom prst="roundRect">
            <a:avLst>
              <a:gd name="adj" fmla="val 13889"/>
            </a:avLst>
          </a:prstGeom>
          <a:solidFill>
            <a:srgbClr val="0B2015"/>
          </a:solidFill>
          <a:ln w="12700">
            <a:solidFill>
              <a:srgbClr val="0B2015"/>
            </a:solidFill>
            <a:prstDash val="solid"/>
          </a:ln>
        </p:spPr>
      </p:sp>
      <p:sp>
        <p:nvSpPr>
          <p:cNvPr id="15" name="Text 12"/>
          <p:cNvSpPr txBox="1"/>
          <p:nvPr/>
        </p:nvSpPr>
        <p:spPr>
          <a:xfrm>
            <a:off x="868680" y="4261104"/>
            <a:ext cx="301752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Aspek</a:t>
            </a:r>
            <a:endParaRPr lang="en-US" sz="1080" dirty="0"/>
          </a:p>
        </p:txBody>
      </p:sp>
      <p:sp>
        <p:nvSpPr>
          <p:cNvPr id="16" name="Text 13"/>
          <p:cNvSpPr txBox="1"/>
          <p:nvPr/>
        </p:nvSpPr>
        <p:spPr>
          <a:xfrm>
            <a:off x="3977640" y="4261104"/>
            <a:ext cx="384048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CommonJS</a:t>
            </a:r>
            <a:endParaRPr lang="en-US" sz="1080" dirty="0"/>
          </a:p>
        </p:txBody>
      </p:sp>
      <p:sp>
        <p:nvSpPr>
          <p:cNvPr id="17" name="Text 14"/>
          <p:cNvSpPr txBox="1"/>
          <p:nvPr/>
        </p:nvSpPr>
        <p:spPr>
          <a:xfrm>
            <a:off x="7955280" y="4261104"/>
            <a:ext cx="347472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ES Modules</a:t>
            </a:r>
            <a:endParaRPr lang="en-US" sz="1080" dirty="0"/>
          </a:p>
        </p:txBody>
      </p:sp>
      <p:sp>
        <p:nvSpPr>
          <p:cNvPr id="18" name="Shape 15"/>
          <p:cNvSpPr/>
          <p:nvPr/>
        </p:nvSpPr>
        <p:spPr>
          <a:xfrm>
            <a:off x="640080" y="4626864"/>
            <a:ext cx="10972800" cy="329184"/>
          </a:xfrm>
          <a:prstGeom prst="roundRect">
            <a:avLst>
              <a:gd name="adj" fmla="val 13889"/>
            </a:avLst>
          </a:prstGeom>
          <a:solidFill>
            <a:srgbClr val="FFFFFF"/>
          </a:solidFill>
          <a:ln w="12700">
            <a:solidFill>
              <a:srgbClr val="E3EBDF"/>
            </a:solidFill>
            <a:prstDash val="solid"/>
          </a:ln>
        </p:spPr>
      </p:sp>
      <p:sp>
        <p:nvSpPr>
          <p:cNvPr id="19" name="Text 16"/>
          <p:cNvSpPr txBox="1"/>
          <p:nvPr/>
        </p:nvSpPr>
        <p:spPr>
          <a:xfrm>
            <a:off x="868680" y="462686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Kata kunci</a:t>
            </a:r>
            <a:endParaRPr lang="en-US" sz="1080" dirty="0"/>
          </a:p>
        </p:txBody>
      </p:sp>
      <p:sp>
        <p:nvSpPr>
          <p:cNvPr id="20" name="Text 17"/>
          <p:cNvSpPr txBox="1"/>
          <p:nvPr/>
        </p:nvSpPr>
        <p:spPr>
          <a:xfrm>
            <a:off x="3977640" y="462686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require dan module.exports</a:t>
            </a:r>
            <a:endParaRPr lang="en-US" sz="1080" dirty="0"/>
          </a:p>
        </p:txBody>
      </p:sp>
      <p:sp>
        <p:nvSpPr>
          <p:cNvPr id="21" name="Text 18"/>
          <p:cNvSpPr txBox="1"/>
          <p:nvPr/>
        </p:nvSpPr>
        <p:spPr>
          <a:xfrm>
            <a:off x="7955280" y="462686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import dan export</a:t>
            </a:r>
            <a:endParaRPr lang="en-US" sz="1080" dirty="0"/>
          </a:p>
        </p:txBody>
      </p:sp>
      <p:sp>
        <p:nvSpPr>
          <p:cNvPr id="22" name="Shape 19"/>
          <p:cNvSpPr/>
          <p:nvPr/>
        </p:nvSpPr>
        <p:spPr>
          <a:xfrm>
            <a:off x="640080" y="4992624"/>
            <a:ext cx="10972800" cy="329184"/>
          </a:xfrm>
          <a:prstGeom prst="roundRect">
            <a:avLst>
              <a:gd name="adj" fmla="val 13889"/>
            </a:avLst>
          </a:prstGeom>
          <a:solidFill>
            <a:srgbClr val="EDF3E9"/>
          </a:solidFill>
          <a:ln w="12700">
            <a:solidFill>
              <a:srgbClr val="E3EBDF"/>
            </a:solidFill>
            <a:prstDash val="solid"/>
          </a:ln>
        </p:spPr>
      </p:sp>
      <p:sp>
        <p:nvSpPr>
          <p:cNvPr id="23" name="Text 20"/>
          <p:cNvSpPr txBox="1"/>
          <p:nvPr/>
        </p:nvSpPr>
        <p:spPr>
          <a:xfrm>
            <a:off x="868680" y="499262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Waktu pemuatan</a:t>
            </a:r>
            <a:endParaRPr lang="en-US" sz="1080" dirty="0"/>
          </a:p>
        </p:txBody>
      </p:sp>
      <p:sp>
        <p:nvSpPr>
          <p:cNvPr id="24" name="Text 21"/>
          <p:cNvSpPr txBox="1"/>
          <p:nvPr/>
        </p:nvSpPr>
        <p:spPr>
          <a:xfrm>
            <a:off x="3977640" y="499262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Sinkron saat dieksekusi</a:t>
            </a:r>
            <a:endParaRPr lang="en-US" sz="1080" dirty="0"/>
          </a:p>
        </p:txBody>
      </p:sp>
      <p:sp>
        <p:nvSpPr>
          <p:cNvPr id="25" name="Text 22"/>
          <p:cNvSpPr txBox="1"/>
          <p:nvPr/>
        </p:nvSpPr>
        <p:spPr>
          <a:xfrm>
            <a:off x="7955280" y="499262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Asinkron dan dianalisis statis</a:t>
            </a:r>
            <a:endParaRPr lang="en-US" sz="1080" dirty="0"/>
          </a:p>
        </p:txBody>
      </p:sp>
      <p:sp>
        <p:nvSpPr>
          <p:cNvPr id="26" name="Shape 23"/>
          <p:cNvSpPr/>
          <p:nvPr/>
        </p:nvSpPr>
        <p:spPr>
          <a:xfrm>
            <a:off x="640080" y="5358384"/>
            <a:ext cx="10972800" cy="329184"/>
          </a:xfrm>
          <a:prstGeom prst="roundRect">
            <a:avLst>
              <a:gd name="adj" fmla="val 13889"/>
            </a:avLst>
          </a:prstGeom>
          <a:solidFill>
            <a:srgbClr val="FFFFFF"/>
          </a:solidFill>
          <a:ln w="12700">
            <a:solidFill>
              <a:srgbClr val="E3EBDF"/>
            </a:solidFill>
            <a:prstDash val="solid"/>
          </a:ln>
        </p:spPr>
      </p:sp>
      <p:sp>
        <p:nvSpPr>
          <p:cNvPr id="27" name="Text 24"/>
          <p:cNvSpPr txBox="1"/>
          <p:nvPr/>
        </p:nvSpPr>
        <p:spPr>
          <a:xfrm>
            <a:off x="868680" y="535838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Aktivasi</a:t>
            </a:r>
            <a:endParaRPr lang="en-US" sz="1080" dirty="0"/>
          </a:p>
        </p:txBody>
      </p:sp>
      <p:sp>
        <p:nvSpPr>
          <p:cNvPr id="28" name="Text 25"/>
          <p:cNvSpPr txBox="1"/>
          <p:nvPr/>
        </p:nvSpPr>
        <p:spPr>
          <a:xfrm>
            <a:off x="3977640" y="535838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Bawaan Node.js</a:t>
            </a:r>
            <a:endParaRPr lang="en-US" sz="1080" dirty="0"/>
          </a:p>
        </p:txBody>
      </p:sp>
      <p:sp>
        <p:nvSpPr>
          <p:cNvPr id="29" name="Text 26"/>
          <p:cNvSpPr txBox="1"/>
          <p:nvPr/>
        </p:nvSpPr>
        <p:spPr>
          <a:xfrm>
            <a:off x="7955280" y="535838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Tambahkan "type": "module"</a:t>
            </a:r>
            <a:endParaRPr lang="en-US" sz="1080" dirty="0"/>
          </a:p>
        </p:txBody>
      </p:sp>
      <p:sp>
        <p:nvSpPr>
          <p:cNvPr id="30" name="Shape 27"/>
          <p:cNvSpPr/>
          <p:nvPr/>
        </p:nvSpPr>
        <p:spPr>
          <a:xfrm>
            <a:off x="640080" y="5724144"/>
            <a:ext cx="10972800" cy="329184"/>
          </a:xfrm>
          <a:prstGeom prst="roundRect">
            <a:avLst>
              <a:gd name="adj" fmla="val 13889"/>
            </a:avLst>
          </a:prstGeom>
          <a:solidFill>
            <a:srgbClr val="EDF3E9"/>
          </a:solidFill>
          <a:ln w="12700">
            <a:solidFill>
              <a:srgbClr val="E3EBDF"/>
            </a:solidFill>
            <a:prstDash val="solid"/>
          </a:ln>
        </p:spPr>
      </p:sp>
      <p:sp>
        <p:nvSpPr>
          <p:cNvPr id="31" name="Text 28"/>
          <p:cNvSpPr txBox="1"/>
          <p:nvPr/>
        </p:nvSpPr>
        <p:spPr>
          <a:xfrm>
            <a:off x="868680" y="572414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Rekomendasi</a:t>
            </a:r>
            <a:endParaRPr lang="en-US" sz="1080" dirty="0"/>
          </a:p>
        </p:txBody>
      </p:sp>
      <p:sp>
        <p:nvSpPr>
          <p:cNvPr id="32" name="Text 29"/>
          <p:cNvSpPr txBox="1"/>
          <p:nvPr/>
        </p:nvSpPr>
        <p:spPr>
          <a:xfrm>
            <a:off x="3977640" y="572414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Proyek lama dan pustaka legasi</a:t>
            </a:r>
            <a:endParaRPr lang="en-US" sz="1080" dirty="0"/>
          </a:p>
        </p:txBody>
      </p:sp>
      <p:sp>
        <p:nvSpPr>
          <p:cNvPr id="33" name="Text 30"/>
          <p:cNvSpPr txBox="1"/>
          <p:nvPr/>
        </p:nvSpPr>
        <p:spPr>
          <a:xfrm>
            <a:off x="7955280" y="572414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Proyek baru dan kode lintas platform</a:t>
            </a:r>
            <a:endParaRPr lang="en-US" sz="108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Modul Inti yang Wajib Dikenal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Delapan modul bawaan Node.js yang paling sering digunakan</a:t>
            </a:r>
            <a:endParaRPr lang="en-US" sz="1300" dirty="0"/>
          </a:p>
        </p:txBody>
      </p:sp>
      <p:sp>
        <p:nvSpPr>
          <p:cNvPr id="6" name="Shape 3"/>
          <p:cNvSpPr/>
          <p:nvPr/>
        </p:nvSpPr>
        <p:spPr>
          <a:xfrm>
            <a:off x="640080"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992124" y="1961388"/>
            <a:ext cx="228600" cy="228600"/>
          </a:xfrm>
          <a:prstGeom prst="rect">
            <a:avLst/>
          </a:prstGeom>
        </p:spPr>
      </p:pic>
      <p:sp>
        <p:nvSpPr>
          <p:cNvPr id="9" name="Text 5"/>
          <p:cNvSpPr txBox="1"/>
          <p:nvPr/>
        </p:nvSpPr>
        <p:spPr>
          <a:xfrm>
            <a:off x="1444752"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File System</a:t>
            </a:r>
            <a:endParaRPr lang="en-US" sz="1250" dirty="0"/>
          </a:p>
        </p:txBody>
      </p:sp>
      <p:sp>
        <p:nvSpPr>
          <p:cNvPr id="10" name="Text 6"/>
          <p:cNvSpPr txBox="1"/>
          <p:nvPr/>
        </p:nvSpPr>
        <p:spPr>
          <a:xfrm>
            <a:off x="877824"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Membaca, menulis, menyalin, dan menghapus berkas serta folder.</a:t>
            </a:r>
            <a:endParaRPr lang="en-US" sz="1030" dirty="0"/>
          </a:p>
        </p:txBody>
      </p:sp>
      <p:sp>
        <p:nvSpPr>
          <p:cNvPr id="11" name="Shape 7"/>
          <p:cNvSpPr/>
          <p:nvPr/>
        </p:nvSpPr>
        <p:spPr>
          <a:xfrm>
            <a:off x="877824" y="2926080"/>
            <a:ext cx="2066544" cy="365760"/>
          </a:xfrm>
          <a:prstGeom prst="roundRect">
            <a:avLst>
              <a:gd name="adj" fmla="val 15000"/>
            </a:avLst>
          </a:prstGeom>
          <a:solidFill>
            <a:srgbClr val="0E2417"/>
          </a:solidFill>
          <a:ln w="12700">
            <a:solidFill>
              <a:srgbClr val="0E2417"/>
            </a:solidFill>
            <a:prstDash val="solid"/>
          </a:ln>
        </p:spPr>
      </p:sp>
      <p:sp>
        <p:nvSpPr>
          <p:cNvPr id="12" name="Text 8"/>
          <p:cNvSpPr txBox="1"/>
          <p:nvPr/>
        </p:nvSpPr>
        <p:spPr>
          <a:xfrm>
            <a:off x="877824"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require('fs')</a:t>
            </a:r>
            <a:endParaRPr lang="en-US" sz="1000" dirty="0"/>
          </a:p>
        </p:txBody>
      </p:sp>
      <p:sp>
        <p:nvSpPr>
          <p:cNvPr id="13" name="Shape 9"/>
          <p:cNvSpPr/>
          <p:nvPr/>
        </p:nvSpPr>
        <p:spPr>
          <a:xfrm>
            <a:off x="3447288"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3685032"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3799332" y="1961388"/>
            <a:ext cx="228600" cy="228600"/>
          </a:xfrm>
          <a:prstGeom prst="rect">
            <a:avLst/>
          </a:prstGeom>
        </p:spPr>
      </p:pic>
      <p:sp>
        <p:nvSpPr>
          <p:cNvPr id="16" name="Text 11"/>
          <p:cNvSpPr txBox="1"/>
          <p:nvPr/>
        </p:nvSpPr>
        <p:spPr>
          <a:xfrm>
            <a:off x="4251960"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HTTP Server</a:t>
            </a:r>
            <a:endParaRPr lang="en-US" sz="1250" dirty="0"/>
          </a:p>
        </p:txBody>
      </p:sp>
      <p:sp>
        <p:nvSpPr>
          <p:cNvPr id="17" name="Text 12"/>
          <p:cNvSpPr txBox="1"/>
          <p:nvPr/>
        </p:nvSpPr>
        <p:spPr>
          <a:xfrm>
            <a:off x="3685032"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Membuat server dan klien HTTP tanpa pustaka tambahan.</a:t>
            </a:r>
            <a:endParaRPr lang="en-US" sz="1030" dirty="0"/>
          </a:p>
        </p:txBody>
      </p:sp>
      <p:sp>
        <p:nvSpPr>
          <p:cNvPr id="18" name="Shape 13"/>
          <p:cNvSpPr/>
          <p:nvPr/>
        </p:nvSpPr>
        <p:spPr>
          <a:xfrm>
            <a:off x="3685032" y="2926080"/>
            <a:ext cx="2066544" cy="365760"/>
          </a:xfrm>
          <a:prstGeom prst="roundRect">
            <a:avLst>
              <a:gd name="adj" fmla="val 15000"/>
            </a:avLst>
          </a:prstGeom>
          <a:solidFill>
            <a:srgbClr val="0E2417"/>
          </a:solidFill>
          <a:ln w="12700">
            <a:solidFill>
              <a:srgbClr val="0E2417"/>
            </a:solidFill>
            <a:prstDash val="solid"/>
          </a:ln>
        </p:spPr>
      </p:sp>
      <p:sp>
        <p:nvSpPr>
          <p:cNvPr id="19" name="Text 14"/>
          <p:cNvSpPr txBox="1"/>
          <p:nvPr/>
        </p:nvSpPr>
        <p:spPr>
          <a:xfrm>
            <a:off x="3685032"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require('http')</a:t>
            </a:r>
            <a:endParaRPr lang="en-US" sz="1000" dirty="0"/>
          </a:p>
        </p:txBody>
      </p:sp>
      <p:sp>
        <p:nvSpPr>
          <p:cNvPr id="20" name="Shape 15"/>
          <p:cNvSpPr/>
          <p:nvPr/>
        </p:nvSpPr>
        <p:spPr>
          <a:xfrm>
            <a:off x="6254496"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649224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6606540" y="1961388"/>
            <a:ext cx="228600" cy="228600"/>
          </a:xfrm>
          <a:prstGeom prst="rect">
            <a:avLst/>
          </a:prstGeom>
        </p:spPr>
      </p:pic>
      <p:sp>
        <p:nvSpPr>
          <p:cNvPr id="23" name="Text 17"/>
          <p:cNvSpPr txBox="1"/>
          <p:nvPr/>
        </p:nvSpPr>
        <p:spPr>
          <a:xfrm>
            <a:off x="7059168"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Path</a:t>
            </a:r>
            <a:endParaRPr lang="en-US" sz="1250" dirty="0"/>
          </a:p>
        </p:txBody>
      </p:sp>
      <p:sp>
        <p:nvSpPr>
          <p:cNvPr id="24" name="Text 18"/>
          <p:cNvSpPr txBox="1"/>
          <p:nvPr/>
        </p:nvSpPr>
        <p:spPr>
          <a:xfrm>
            <a:off x="6492240"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Mengolah jalur berkas secara aman di semua sistem operasi.</a:t>
            </a:r>
            <a:endParaRPr lang="en-US" sz="1030" dirty="0"/>
          </a:p>
        </p:txBody>
      </p:sp>
      <p:sp>
        <p:nvSpPr>
          <p:cNvPr id="25" name="Shape 19"/>
          <p:cNvSpPr/>
          <p:nvPr/>
        </p:nvSpPr>
        <p:spPr>
          <a:xfrm>
            <a:off x="6492240" y="2926080"/>
            <a:ext cx="2066544" cy="365760"/>
          </a:xfrm>
          <a:prstGeom prst="roundRect">
            <a:avLst>
              <a:gd name="adj" fmla="val 15000"/>
            </a:avLst>
          </a:prstGeom>
          <a:solidFill>
            <a:srgbClr val="0E2417"/>
          </a:solidFill>
          <a:ln w="12700">
            <a:solidFill>
              <a:srgbClr val="0E2417"/>
            </a:solidFill>
            <a:prstDash val="solid"/>
          </a:ln>
        </p:spPr>
      </p:sp>
      <p:sp>
        <p:nvSpPr>
          <p:cNvPr id="26" name="Text 20"/>
          <p:cNvSpPr txBox="1"/>
          <p:nvPr/>
        </p:nvSpPr>
        <p:spPr>
          <a:xfrm>
            <a:off x="6492240"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require('path')</a:t>
            </a:r>
            <a:endParaRPr lang="en-US" sz="1000" dirty="0"/>
          </a:p>
        </p:txBody>
      </p:sp>
      <p:sp>
        <p:nvSpPr>
          <p:cNvPr id="27" name="Shape 21"/>
          <p:cNvSpPr/>
          <p:nvPr/>
        </p:nvSpPr>
        <p:spPr>
          <a:xfrm>
            <a:off x="9061704"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8" name="Shape 22"/>
          <p:cNvSpPr/>
          <p:nvPr/>
        </p:nvSpPr>
        <p:spPr>
          <a:xfrm>
            <a:off x="9299448" y="1847088"/>
            <a:ext cx="457200" cy="457200"/>
          </a:xfrm>
          <a:prstGeom prst="roundRect">
            <a:avLst>
              <a:gd name="adj" fmla="val 26000"/>
            </a:avLst>
          </a:prstGeom>
          <a:solidFill>
            <a:srgbClr val="E8F2E2"/>
          </a:solidFill>
          <a:ln w="12700">
            <a:solidFill>
              <a:srgbClr val="E8F2E2"/>
            </a:solidFill>
            <a:prstDash val="solid"/>
          </a:ln>
        </p:spPr>
      </p:sp>
      <p:pic>
        <p:nvPicPr>
          <p:cNvPr id="29" name="Image 4" descr="preencoded.png">    </p:cNvPr>
          <p:cNvPicPr>
            <a:picLocks noChangeAspect="1"/>
          </p:cNvPicPr>
          <p:nvPr/>
        </p:nvPicPr>
        <p:blipFill>
          <a:blip r:embed="rId5"/>
          <a:stretch>
            <a:fillRect/>
          </a:stretch>
        </p:blipFill>
        <p:spPr>
          <a:xfrm>
            <a:off x="9413748" y="1961388"/>
            <a:ext cx="228600" cy="228600"/>
          </a:xfrm>
          <a:prstGeom prst="rect">
            <a:avLst/>
          </a:prstGeom>
        </p:spPr>
      </p:pic>
      <p:sp>
        <p:nvSpPr>
          <p:cNvPr id="30" name="Text 23"/>
          <p:cNvSpPr txBox="1"/>
          <p:nvPr/>
        </p:nvSpPr>
        <p:spPr>
          <a:xfrm>
            <a:off x="9866376"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Operating System</a:t>
            </a:r>
            <a:endParaRPr lang="en-US" sz="1250" dirty="0"/>
          </a:p>
        </p:txBody>
      </p:sp>
      <p:sp>
        <p:nvSpPr>
          <p:cNvPr id="31" name="Text 24"/>
          <p:cNvSpPr txBox="1"/>
          <p:nvPr/>
        </p:nvSpPr>
        <p:spPr>
          <a:xfrm>
            <a:off x="9299448"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Membaca info sistem: memori, CPU, platform, dan direktori beranda.</a:t>
            </a:r>
            <a:endParaRPr lang="en-US" sz="1030" dirty="0"/>
          </a:p>
        </p:txBody>
      </p:sp>
      <p:sp>
        <p:nvSpPr>
          <p:cNvPr id="32" name="Shape 25"/>
          <p:cNvSpPr/>
          <p:nvPr/>
        </p:nvSpPr>
        <p:spPr>
          <a:xfrm>
            <a:off x="9299448" y="2926080"/>
            <a:ext cx="2066544" cy="365760"/>
          </a:xfrm>
          <a:prstGeom prst="roundRect">
            <a:avLst>
              <a:gd name="adj" fmla="val 15000"/>
            </a:avLst>
          </a:prstGeom>
          <a:solidFill>
            <a:srgbClr val="0E2417"/>
          </a:solidFill>
          <a:ln w="12700">
            <a:solidFill>
              <a:srgbClr val="0E2417"/>
            </a:solidFill>
            <a:prstDash val="solid"/>
          </a:ln>
        </p:spPr>
      </p:sp>
      <p:sp>
        <p:nvSpPr>
          <p:cNvPr id="33" name="Text 26"/>
          <p:cNvSpPr txBox="1"/>
          <p:nvPr/>
        </p:nvSpPr>
        <p:spPr>
          <a:xfrm>
            <a:off x="9299448"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require('os')</a:t>
            </a:r>
            <a:endParaRPr lang="en-US" sz="1000" dirty="0"/>
          </a:p>
        </p:txBody>
      </p:sp>
      <p:sp>
        <p:nvSpPr>
          <p:cNvPr id="34" name="Shape 27"/>
          <p:cNvSpPr/>
          <p:nvPr/>
        </p:nvSpPr>
        <p:spPr>
          <a:xfrm>
            <a:off x="640080"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5" name="Shape 28"/>
          <p:cNvSpPr/>
          <p:nvPr/>
        </p:nvSpPr>
        <p:spPr>
          <a:xfrm>
            <a:off x="877824" y="3968496"/>
            <a:ext cx="457200" cy="457200"/>
          </a:xfrm>
          <a:prstGeom prst="roundRect">
            <a:avLst>
              <a:gd name="adj" fmla="val 26000"/>
            </a:avLst>
          </a:prstGeom>
          <a:solidFill>
            <a:srgbClr val="E8F2E2"/>
          </a:solidFill>
          <a:ln w="12700">
            <a:solidFill>
              <a:srgbClr val="E8F2E2"/>
            </a:solidFill>
            <a:prstDash val="solid"/>
          </a:ln>
        </p:spPr>
      </p:sp>
      <p:pic>
        <p:nvPicPr>
          <p:cNvPr id="36" name="Image 5" descr="preencoded.png">    </p:cNvPr>
          <p:cNvPicPr>
            <a:picLocks noChangeAspect="1"/>
          </p:cNvPicPr>
          <p:nvPr/>
        </p:nvPicPr>
        <p:blipFill>
          <a:blip r:embed="rId6"/>
          <a:stretch>
            <a:fillRect/>
          </a:stretch>
        </p:blipFill>
        <p:spPr>
          <a:xfrm>
            <a:off x="992124" y="4082796"/>
            <a:ext cx="228600" cy="228600"/>
          </a:xfrm>
          <a:prstGeom prst="rect">
            <a:avLst/>
          </a:prstGeom>
        </p:spPr>
      </p:pic>
      <p:sp>
        <p:nvSpPr>
          <p:cNvPr id="37" name="Text 29"/>
          <p:cNvSpPr txBox="1"/>
          <p:nvPr/>
        </p:nvSpPr>
        <p:spPr>
          <a:xfrm>
            <a:off x="1444752"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Events</a:t>
            </a:r>
            <a:endParaRPr lang="en-US" sz="1250" dirty="0"/>
          </a:p>
        </p:txBody>
      </p:sp>
      <p:sp>
        <p:nvSpPr>
          <p:cNvPr id="38" name="Text 30"/>
          <p:cNvSpPr txBox="1"/>
          <p:nvPr/>
        </p:nvSpPr>
        <p:spPr>
          <a:xfrm>
            <a:off x="877824"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Menyediakan kelas EventEmitter sebagai dasar pola event-driven.</a:t>
            </a:r>
            <a:endParaRPr lang="en-US" sz="1030" dirty="0"/>
          </a:p>
        </p:txBody>
      </p:sp>
      <p:sp>
        <p:nvSpPr>
          <p:cNvPr id="39" name="Shape 31"/>
          <p:cNvSpPr/>
          <p:nvPr/>
        </p:nvSpPr>
        <p:spPr>
          <a:xfrm>
            <a:off x="877824" y="5047488"/>
            <a:ext cx="2066544" cy="365760"/>
          </a:xfrm>
          <a:prstGeom prst="roundRect">
            <a:avLst>
              <a:gd name="adj" fmla="val 15000"/>
            </a:avLst>
          </a:prstGeom>
          <a:solidFill>
            <a:srgbClr val="0E2417"/>
          </a:solidFill>
          <a:ln w="12700">
            <a:solidFill>
              <a:srgbClr val="0E2417"/>
            </a:solidFill>
            <a:prstDash val="solid"/>
          </a:ln>
        </p:spPr>
      </p:sp>
      <p:sp>
        <p:nvSpPr>
          <p:cNvPr id="40" name="Text 32"/>
          <p:cNvSpPr txBox="1"/>
          <p:nvPr/>
        </p:nvSpPr>
        <p:spPr>
          <a:xfrm>
            <a:off x="877824"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require('events')</a:t>
            </a:r>
            <a:endParaRPr lang="en-US" sz="1000" dirty="0"/>
          </a:p>
        </p:txBody>
      </p:sp>
      <p:sp>
        <p:nvSpPr>
          <p:cNvPr id="41" name="Shape 33"/>
          <p:cNvSpPr/>
          <p:nvPr/>
        </p:nvSpPr>
        <p:spPr>
          <a:xfrm>
            <a:off x="3447288"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34"/>
          <p:cNvSpPr/>
          <p:nvPr/>
        </p:nvSpPr>
        <p:spPr>
          <a:xfrm>
            <a:off x="3685032" y="3968496"/>
            <a:ext cx="457200" cy="457200"/>
          </a:xfrm>
          <a:prstGeom prst="roundRect">
            <a:avLst>
              <a:gd name="adj" fmla="val 26000"/>
            </a:avLst>
          </a:prstGeom>
          <a:solidFill>
            <a:srgbClr val="E8F2E2"/>
          </a:solidFill>
          <a:ln w="12700">
            <a:solidFill>
              <a:srgbClr val="E8F2E2"/>
            </a:solidFill>
            <a:prstDash val="solid"/>
          </a:ln>
        </p:spPr>
      </p:sp>
      <p:pic>
        <p:nvPicPr>
          <p:cNvPr id="43" name="Image 6" descr="preencoded.png">    </p:cNvPr>
          <p:cNvPicPr>
            <a:picLocks noChangeAspect="1"/>
          </p:cNvPicPr>
          <p:nvPr/>
        </p:nvPicPr>
        <p:blipFill>
          <a:blip r:embed="rId7"/>
          <a:stretch>
            <a:fillRect/>
          </a:stretch>
        </p:blipFill>
        <p:spPr>
          <a:xfrm>
            <a:off x="3799332" y="4082796"/>
            <a:ext cx="228600" cy="228600"/>
          </a:xfrm>
          <a:prstGeom prst="rect">
            <a:avLst/>
          </a:prstGeom>
        </p:spPr>
      </p:pic>
      <p:sp>
        <p:nvSpPr>
          <p:cNvPr id="44" name="Text 35"/>
          <p:cNvSpPr txBox="1"/>
          <p:nvPr/>
        </p:nvSpPr>
        <p:spPr>
          <a:xfrm>
            <a:off x="4251960"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Stream</a:t>
            </a:r>
            <a:endParaRPr lang="en-US" sz="1250" dirty="0"/>
          </a:p>
        </p:txBody>
      </p:sp>
      <p:sp>
        <p:nvSpPr>
          <p:cNvPr id="45" name="Text 36"/>
          <p:cNvSpPr txBox="1"/>
          <p:nvPr/>
        </p:nvSpPr>
        <p:spPr>
          <a:xfrm>
            <a:off x="3685032"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Mengolah data besar sepotong demi sepotong tanpa memuat semuanya.</a:t>
            </a:r>
            <a:endParaRPr lang="en-US" sz="1030" dirty="0"/>
          </a:p>
        </p:txBody>
      </p:sp>
      <p:sp>
        <p:nvSpPr>
          <p:cNvPr id="46" name="Shape 37"/>
          <p:cNvSpPr/>
          <p:nvPr/>
        </p:nvSpPr>
        <p:spPr>
          <a:xfrm>
            <a:off x="3685032" y="5047488"/>
            <a:ext cx="2066544" cy="365760"/>
          </a:xfrm>
          <a:prstGeom prst="roundRect">
            <a:avLst>
              <a:gd name="adj" fmla="val 15000"/>
            </a:avLst>
          </a:prstGeom>
          <a:solidFill>
            <a:srgbClr val="0E2417"/>
          </a:solidFill>
          <a:ln w="12700">
            <a:solidFill>
              <a:srgbClr val="0E2417"/>
            </a:solidFill>
            <a:prstDash val="solid"/>
          </a:ln>
        </p:spPr>
      </p:sp>
      <p:sp>
        <p:nvSpPr>
          <p:cNvPr id="47" name="Text 38"/>
          <p:cNvSpPr txBox="1"/>
          <p:nvPr/>
        </p:nvSpPr>
        <p:spPr>
          <a:xfrm>
            <a:off x="3685032"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require('stream')</a:t>
            </a:r>
            <a:endParaRPr lang="en-US" sz="1000" dirty="0"/>
          </a:p>
        </p:txBody>
      </p:sp>
      <p:sp>
        <p:nvSpPr>
          <p:cNvPr id="48" name="Shape 39"/>
          <p:cNvSpPr/>
          <p:nvPr/>
        </p:nvSpPr>
        <p:spPr>
          <a:xfrm>
            <a:off x="6254496"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9" name="Shape 40"/>
          <p:cNvSpPr/>
          <p:nvPr/>
        </p:nvSpPr>
        <p:spPr>
          <a:xfrm>
            <a:off x="6492240" y="3968496"/>
            <a:ext cx="457200" cy="457200"/>
          </a:xfrm>
          <a:prstGeom prst="roundRect">
            <a:avLst>
              <a:gd name="adj" fmla="val 26000"/>
            </a:avLst>
          </a:prstGeom>
          <a:solidFill>
            <a:srgbClr val="E8F2E2"/>
          </a:solidFill>
          <a:ln w="12700">
            <a:solidFill>
              <a:srgbClr val="E8F2E2"/>
            </a:solidFill>
            <a:prstDash val="solid"/>
          </a:ln>
        </p:spPr>
      </p:sp>
      <p:pic>
        <p:nvPicPr>
          <p:cNvPr id="50" name="Image 7" descr="preencoded.png">    </p:cNvPr>
          <p:cNvPicPr>
            <a:picLocks noChangeAspect="1"/>
          </p:cNvPicPr>
          <p:nvPr/>
        </p:nvPicPr>
        <p:blipFill>
          <a:blip r:embed="rId8"/>
          <a:stretch>
            <a:fillRect/>
          </a:stretch>
        </p:blipFill>
        <p:spPr>
          <a:xfrm>
            <a:off x="6606540" y="4082796"/>
            <a:ext cx="228600" cy="228600"/>
          </a:xfrm>
          <a:prstGeom prst="rect">
            <a:avLst/>
          </a:prstGeom>
        </p:spPr>
      </p:pic>
      <p:sp>
        <p:nvSpPr>
          <p:cNvPr id="51" name="Text 41"/>
          <p:cNvSpPr txBox="1"/>
          <p:nvPr/>
        </p:nvSpPr>
        <p:spPr>
          <a:xfrm>
            <a:off x="7059168"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Crypto</a:t>
            </a:r>
            <a:endParaRPr lang="en-US" sz="1250" dirty="0"/>
          </a:p>
        </p:txBody>
      </p:sp>
      <p:sp>
        <p:nvSpPr>
          <p:cNvPr id="52" name="Text 42"/>
          <p:cNvSpPr txBox="1"/>
          <p:nvPr/>
        </p:nvSpPr>
        <p:spPr>
          <a:xfrm>
            <a:off x="6492240"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Enkripsi, hashing, tanda tangan digital, dan pembuatan nilai acak.</a:t>
            </a:r>
            <a:endParaRPr lang="en-US" sz="1030" dirty="0"/>
          </a:p>
        </p:txBody>
      </p:sp>
      <p:sp>
        <p:nvSpPr>
          <p:cNvPr id="53" name="Shape 43"/>
          <p:cNvSpPr/>
          <p:nvPr/>
        </p:nvSpPr>
        <p:spPr>
          <a:xfrm>
            <a:off x="6492240" y="5047488"/>
            <a:ext cx="2066544" cy="365760"/>
          </a:xfrm>
          <a:prstGeom prst="roundRect">
            <a:avLst>
              <a:gd name="adj" fmla="val 15000"/>
            </a:avLst>
          </a:prstGeom>
          <a:solidFill>
            <a:srgbClr val="0E2417"/>
          </a:solidFill>
          <a:ln w="12700">
            <a:solidFill>
              <a:srgbClr val="0E2417"/>
            </a:solidFill>
            <a:prstDash val="solid"/>
          </a:ln>
        </p:spPr>
      </p:sp>
      <p:sp>
        <p:nvSpPr>
          <p:cNvPr id="54" name="Text 44"/>
          <p:cNvSpPr txBox="1"/>
          <p:nvPr/>
        </p:nvSpPr>
        <p:spPr>
          <a:xfrm>
            <a:off x="6492240"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require('crypto')</a:t>
            </a:r>
            <a:endParaRPr lang="en-US" sz="1000" dirty="0"/>
          </a:p>
        </p:txBody>
      </p:sp>
      <p:sp>
        <p:nvSpPr>
          <p:cNvPr id="55" name="Shape 45"/>
          <p:cNvSpPr/>
          <p:nvPr/>
        </p:nvSpPr>
        <p:spPr>
          <a:xfrm>
            <a:off x="9061704"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56" name="Shape 46"/>
          <p:cNvSpPr/>
          <p:nvPr/>
        </p:nvSpPr>
        <p:spPr>
          <a:xfrm>
            <a:off x="9299448" y="3968496"/>
            <a:ext cx="457200" cy="457200"/>
          </a:xfrm>
          <a:prstGeom prst="roundRect">
            <a:avLst>
              <a:gd name="adj" fmla="val 26000"/>
            </a:avLst>
          </a:prstGeom>
          <a:solidFill>
            <a:srgbClr val="E8F2E2"/>
          </a:solidFill>
          <a:ln w="12700">
            <a:solidFill>
              <a:srgbClr val="E8F2E2"/>
            </a:solidFill>
            <a:prstDash val="solid"/>
          </a:ln>
        </p:spPr>
      </p:sp>
      <p:pic>
        <p:nvPicPr>
          <p:cNvPr id="57" name="Image 8" descr="preencoded.png">    </p:cNvPr>
          <p:cNvPicPr>
            <a:picLocks noChangeAspect="1"/>
          </p:cNvPicPr>
          <p:nvPr/>
        </p:nvPicPr>
        <p:blipFill>
          <a:blip r:embed="rId9"/>
          <a:stretch>
            <a:fillRect/>
          </a:stretch>
        </p:blipFill>
        <p:spPr>
          <a:xfrm>
            <a:off x="9413748" y="4082796"/>
            <a:ext cx="228600" cy="228600"/>
          </a:xfrm>
          <a:prstGeom prst="rect">
            <a:avLst/>
          </a:prstGeom>
        </p:spPr>
      </p:pic>
      <p:sp>
        <p:nvSpPr>
          <p:cNvPr id="58" name="Text 47"/>
          <p:cNvSpPr txBox="1"/>
          <p:nvPr/>
        </p:nvSpPr>
        <p:spPr>
          <a:xfrm>
            <a:off x="9866376"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URL &amp; Query</a:t>
            </a:r>
            <a:endParaRPr lang="en-US" sz="1250" dirty="0"/>
          </a:p>
        </p:txBody>
      </p:sp>
      <p:sp>
        <p:nvSpPr>
          <p:cNvPr id="59" name="Text 48"/>
          <p:cNvSpPr txBox="1"/>
          <p:nvPr/>
        </p:nvSpPr>
        <p:spPr>
          <a:xfrm>
            <a:off x="9299448"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Mengurai dan menyusun alamat URL beserta parameter kuerinya.</a:t>
            </a:r>
            <a:endParaRPr lang="en-US" sz="1030" dirty="0"/>
          </a:p>
        </p:txBody>
      </p:sp>
      <p:sp>
        <p:nvSpPr>
          <p:cNvPr id="60" name="Shape 49"/>
          <p:cNvSpPr/>
          <p:nvPr/>
        </p:nvSpPr>
        <p:spPr>
          <a:xfrm>
            <a:off x="9299448" y="5047488"/>
            <a:ext cx="2066544" cy="365760"/>
          </a:xfrm>
          <a:prstGeom prst="roundRect">
            <a:avLst>
              <a:gd name="adj" fmla="val 15000"/>
            </a:avLst>
          </a:prstGeom>
          <a:solidFill>
            <a:srgbClr val="0E2417"/>
          </a:solidFill>
          <a:ln w="12700">
            <a:solidFill>
              <a:srgbClr val="0E2417"/>
            </a:solidFill>
            <a:prstDash val="solid"/>
          </a:ln>
        </p:spPr>
      </p:sp>
      <p:sp>
        <p:nvSpPr>
          <p:cNvPr id="61" name="Text 50"/>
          <p:cNvSpPr txBox="1"/>
          <p:nvPr/>
        </p:nvSpPr>
        <p:spPr>
          <a:xfrm>
            <a:off x="9299448"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require('url')</a:t>
            </a:r>
            <a:endParaRPr lang="en-US" sz="1000" dirty="0"/>
          </a:p>
        </p:txBody>
      </p:sp>
      <p:sp>
        <p:nvSpPr>
          <p:cNvPr id="62" name="Text 51"/>
          <p:cNvSpPr txBox="1"/>
          <p:nvPr/>
        </p:nvSpPr>
        <p:spPr>
          <a:xfrm>
            <a:off x="640080" y="5632704"/>
            <a:ext cx="10972800" cy="36576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Modul inti juga dapat dipanggil dengan awalan node:, misalnya require('node:fs') — cara ini lebih eksplisit dan menghindari tabrakan nama dengan paket NPM.</a:t>
            </a:r>
            <a:endParaRPr lang="en-US" sz="1100" dirty="0"/>
          </a:p>
        </p:txBody>
      </p:sp>
      <p:sp>
        <p:nvSpPr>
          <p:cNvPr id="63" name="Text 5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64" name="Text 5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CB3837"/>
          </a:solidFill>
          <a:ln w="12700">
            <a:solidFill>
              <a:srgbClr val="CB3837"/>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NPM dan Ekosistem Paket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Node Package Manager: registry perangkat lunak terbesar di dunia</a:t>
            </a:r>
            <a:endParaRPr lang="en-US" sz="1300" dirty="0"/>
          </a:p>
        </p:txBody>
      </p:sp>
      <p:sp>
        <p:nvSpPr>
          <p:cNvPr id="6" name="Shape 3"/>
          <p:cNvSpPr/>
          <p:nvPr/>
        </p:nvSpPr>
        <p:spPr>
          <a:xfrm>
            <a:off x="640080" y="1609344"/>
            <a:ext cx="2606040" cy="969264"/>
          </a:xfrm>
          <a:prstGeom prst="roundRect">
            <a:avLst>
              <a:gd name="adj" fmla="val 8491"/>
            </a:avLst>
          </a:prstGeom>
          <a:solidFill>
            <a:srgbClr val="0B2015"/>
          </a:solidFill>
          <a:ln w="12700">
            <a:solidFill>
              <a:srgbClr val="0B2015"/>
            </a:solidFill>
            <a:prstDash val="solid"/>
          </a:ln>
        </p:spPr>
      </p:sp>
      <p:sp>
        <p:nvSpPr>
          <p:cNvPr id="7" name="Text 4"/>
          <p:cNvSpPr txBox="1"/>
          <p:nvPr/>
        </p:nvSpPr>
        <p:spPr>
          <a:xfrm>
            <a:off x="85953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3+ juta</a:t>
            </a:r>
            <a:endParaRPr lang="en-US" sz="2000" dirty="0"/>
          </a:p>
        </p:txBody>
      </p:sp>
      <p:sp>
        <p:nvSpPr>
          <p:cNvPr id="8" name="Text 5"/>
          <p:cNvSpPr txBox="1"/>
          <p:nvPr/>
        </p:nvSpPr>
        <p:spPr>
          <a:xfrm>
            <a:off x="85953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Paket terdaftar</a:t>
            </a:r>
            <a:endParaRPr lang="en-US" sz="1050" dirty="0"/>
          </a:p>
        </p:txBody>
      </p:sp>
      <p:sp>
        <p:nvSpPr>
          <p:cNvPr id="9" name="Shape 6"/>
          <p:cNvSpPr/>
          <p:nvPr/>
        </p:nvSpPr>
        <p:spPr>
          <a:xfrm>
            <a:off x="3429000" y="1609344"/>
            <a:ext cx="2606040" cy="969264"/>
          </a:xfrm>
          <a:prstGeom prst="roundRect">
            <a:avLst>
              <a:gd name="adj" fmla="val 8491"/>
            </a:avLst>
          </a:prstGeom>
          <a:solidFill>
            <a:srgbClr val="0B2015"/>
          </a:solidFill>
          <a:ln w="12700">
            <a:solidFill>
              <a:srgbClr val="0B2015"/>
            </a:solidFill>
            <a:prstDash val="solid"/>
          </a:ln>
        </p:spPr>
      </p:sp>
      <p:sp>
        <p:nvSpPr>
          <p:cNvPr id="10" name="Text 7"/>
          <p:cNvSpPr txBox="1"/>
          <p:nvPr/>
        </p:nvSpPr>
        <p:spPr>
          <a:xfrm>
            <a:off x="364845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Miliaran</a:t>
            </a:r>
            <a:endParaRPr lang="en-US" sz="2000" dirty="0"/>
          </a:p>
        </p:txBody>
      </p:sp>
      <p:sp>
        <p:nvSpPr>
          <p:cNvPr id="11" name="Text 8"/>
          <p:cNvSpPr txBox="1"/>
          <p:nvPr/>
        </p:nvSpPr>
        <p:spPr>
          <a:xfrm>
            <a:off x="364845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Unduhan tiap pekan</a:t>
            </a:r>
            <a:endParaRPr lang="en-US" sz="1050" dirty="0"/>
          </a:p>
        </p:txBody>
      </p:sp>
      <p:sp>
        <p:nvSpPr>
          <p:cNvPr id="12" name="Shape 9"/>
          <p:cNvSpPr/>
          <p:nvPr/>
        </p:nvSpPr>
        <p:spPr>
          <a:xfrm>
            <a:off x="6217920" y="1609344"/>
            <a:ext cx="2606040" cy="969264"/>
          </a:xfrm>
          <a:prstGeom prst="roundRect">
            <a:avLst>
              <a:gd name="adj" fmla="val 8491"/>
            </a:avLst>
          </a:prstGeom>
          <a:solidFill>
            <a:srgbClr val="0B2015"/>
          </a:solidFill>
          <a:ln w="12700">
            <a:solidFill>
              <a:srgbClr val="0B2015"/>
            </a:solidFill>
            <a:prstDash val="solid"/>
          </a:ln>
        </p:spPr>
      </p:sp>
      <p:sp>
        <p:nvSpPr>
          <p:cNvPr id="13" name="Text 10"/>
          <p:cNvSpPr txBox="1"/>
          <p:nvPr/>
        </p:nvSpPr>
        <p:spPr>
          <a:xfrm>
            <a:off x="643737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Gratis</a:t>
            </a:r>
            <a:endParaRPr lang="en-US" sz="2000" dirty="0"/>
          </a:p>
        </p:txBody>
      </p:sp>
      <p:sp>
        <p:nvSpPr>
          <p:cNvPr id="14" name="Text 11"/>
          <p:cNvSpPr txBox="1"/>
          <p:nvPr/>
        </p:nvSpPr>
        <p:spPr>
          <a:xfrm>
            <a:off x="643737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Untuk paket publik</a:t>
            </a:r>
            <a:endParaRPr lang="en-US" sz="1050" dirty="0"/>
          </a:p>
        </p:txBody>
      </p:sp>
      <p:sp>
        <p:nvSpPr>
          <p:cNvPr id="15" name="Shape 12"/>
          <p:cNvSpPr/>
          <p:nvPr/>
        </p:nvSpPr>
        <p:spPr>
          <a:xfrm>
            <a:off x="9006840" y="1609344"/>
            <a:ext cx="2606040" cy="969264"/>
          </a:xfrm>
          <a:prstGeom prst="roundRect">
            <a:avLst>
              <a:gd name="adj" fmla="val 8491"/>
            </a:avLst>
          </a:prstGeom>
          <a:solidFill>
            <a:srgbClr val="0B2015"/>
          </a:solidFill>
          <a:ln w="12700">
            <a:solidFill>
              <a:srgbClr val="0B2015"/>
            </a:solidFill>
            <a:prstDash val="solid"/>
          </a:ln>
        </p:spPr>
      </p:sp>
      <p:sp>
        <p:nvSpPr>
          <p:cNvPr id="16" name="Text 13"/>
          <p:cNvSpPr txBox="1"/>
          <p:nvPr/>
        </p:nvSpPr>
        <p:spPr>
          <a:xfrm>
            <a:off x="922629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2010</a:t>
            </a:r>
            <a:endParaRPr lang="en-US" sz="2000" dirty="0"/>
          </a:p>
        </p:txBody>
      </p:sp>
      <p:sp>
        <p:nvSpPr>
          <p:cNvPr id="17" name="Text 14"/>
          <p:cNvSpPr txBox="1"/>
          <p:nvPr/>
        </p:nvSpPr>
        <p:spPr>
          <a:xfrm>
            <a:off x="922629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Tahun pertama rilis</a:t>
            </a:r>
            <a:endParaRPr lang="en-US" sz="1050" dirty="0"/>
          </a:p>
        </p:txBody>
      </p:sp>
      <p:sp>
        <p:nvSpPr>
          <p:cNvPr id="18" name="Shape 15"/>
          <p:cNvSpPr/>
          <p:nvPr/>
        </p:nvSpPr>
        <p:spPr>
          <a:xfrm>
            <a:off x="640080"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1" descr="preencoded.png">    </p:cNvPr>
          <p:cNvPicPr>
            <a:picLocks noChangeAspect="1"/>
          </p:cNvPicPr>
          <p:nvPr/>
        </p:nvPicPr>
        <p:blipFill>
          <a:blip r:embed="rId2"/>
          <a:stretch>
            <a:fillRect/>
          </a:stretch>
        </p:blipFill>
        <p:spPr>
          <a:xfrm>
            <a:off x="896112" y="2962656"/>
            <a:ext cx="420624" cy="420624"/>
          </a:xfrm>
          <a:prstGeom prst="rect">
            <a:avLst/>
          </a:prstGeom>
        </p:spPr>
      </p:pic>
      <p:sp>
        <p:nvSpPr>
          <p:cNvPr id="20" name="Text 16"/>
          <p:cNvSpPr txBox="1"/>
          <p:nvPr/>
        </p:nvSpPr>
        <p:spPr>
          <a:xfrm>
            <a:off x="1444752"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npm</a:t>
            </a:r>
            <a:endParaRPr lang="en-US" sz="1500" dirty="0"/>
          </a:p>
        </p:txBody>
      </p:sp>
      <p:sp>
        <p:nvSpPr>
          <p:cNvPr id="21" name="Text 17"/>
          <p:cNvSpPr txBox="1"/>
          <p:nvPr/>
        </p:nvSpPr>
        <p:spPr>
          <a:xfrm>
            <a:off x="896112"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Bawaan Node.js sehingga langsung tersedia setelah instalasi. Paling universal dan didukung semua alat.</a:t>
            </a:r>
            <a:endParaRPr lang="en-US" sz="1080" dirty="0"/>
          </a:p>
        </p:txBody>
      </p:sp>
      <p:sp>
        <p:nvSpPr>
          <p:cNvPr id="22" name="Shape 18"/>
          <p:cNvSpPr/>
          <p:nvPr/>
        </p:nvSpPr>
        <p:spPr>
          <a:xfrm>
            <a:off x="4443984"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3" name="Image 2" descr="preencoded.png">    </p:cNvPr>
          <p:cNvPicPr>
            <a:picLocks noChangeAspect="1"/>
          </p:cNvPicPr>
          <p:nvPr/>
        </p:nvPicPr>
        <p:blipFill>
          <a:blip r:embed="rId3"/>
          <a:stretch>
            <a:fillRect/>
          </a:stretch>
        </p:blipFill>
        <p:spPr>
          <a:xfrm>
            <a:off x="4700016" y="2962656"/>
            <a:ext cx="420624" cy="420624"/>
          </a:xfrm>
          <a:prstGeom prst="rect">
            <a:avLst/>
          </a:prstGeom>
        </p:spPr>
      </p:pic>
      <p:sp>
        <p:nvSpPr>
          <p:cNvPr id="24" name="Text 19"/>
          <p:cNvSpPr txBox="1"/>
          <p:nvPr/>
        </p:nvSpPr>
        <p:spPr>
          <a:xfrm>
            <a:off x="5248656"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Yarn</a:t>
            </a:r>
            <a:endParaRPr lang="en-US" sz="1500" dirty="0"/>
          </a:p>
        </p:txBody>
      </p:sp>
      <p:sp>
        <p:nvSpPr>
          <p:cNvPr id="25" name="Text 20"/>
          <p:cNvSpPr txBox="1"/>
          <p:nvPr/>
        </p:nvSpPr>
        <p:spPr>
          <a:xfrm>
            <a:off x="4700016"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Dikembangkan Meta dengan penekanan pada kecepatan, berkas lock yang stabil, dan fitur workspaces.</a:t>
            </a:r>
            <a:endParaRPr lang="en-US" sz="1080" dirty="0"/>
          </a:p>
        </p:txBody>
      </p:sp>
      <p:sp>
        <p:nvSpPr>
          <p:cNvPr id="26" name="Shape 21"/>
          <p:cNvSpPr/>
          <p:nvPr/>
        </p:nvSpPr>
        <p:spPr>
          <a:xfrm>
            <a:off x="8247888"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7" name="Image 3" descr="preencoded.png">    </p:cNvPr>
          <p:cNvPicPr>
            <a:picLocks noChangeAspect="1"/>
          </p:cNvPicPr>
          <p:nvPr/>
        </p:nvPicPr>
        <p:blipFill>
          <a:blip r:embed="rId4"/>
          <a:stretch>
            <a:fillRect/>
          </a:stretch>
        </p:blipFill>
        <p:spPr>
          <a:xfrm>
            <a:off x="8503920" y="2962656"/>
            <a:ext cx="420624" cy="420624"/>
          </a:xfrm>
          <a:prstGeom prst="rect">
            <a:avLst/>
          </a:prstGeom>
        </p:spPr>
      </p:pic>
      <p:sp>
        <p:nvSpPr>
          <p:cNvPr id="28" name="Text 22"/>
          <p:cNvSpPr txBox="1"/>
          <p:nvPr/>
        </p:nvSpPr>
        <p:spPr>
          <a:xfrm>
            <a:off x="9052560"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pnpm</a:t>
            </a:r>
            <a:endParaRPr lang="en-US" sz="1500" dirty="0"/>
          </a:p>
        </p:txBody>
      </p:sp>
      <p:sp>
        <p:nvSpPr>
          <p:cNvPr id="29" name="Text 23"/>
          <p:cNvSpPr txBox="1"/>
          <p:nvPr/>
        </p:nvSpPr>
        <p:spPr>
          <a:xfrm>
            <a:off x="8503920"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Menyimpan paket pada satu penyimpanan bersama sehingga sangat hemat ruang disk dan cepat.</a:t>
            </a:r>
            <a:endParaRPr lang="en-US" sz="1080" dirty="0"/>
          </a:p>
        </p:txBody>
      </p:sp>
      <p:sp>
        <p:nvSpPr>
          <p:cNvPr id="30" name="Shape 24"/>
          <p:cNvSpPr/>
          <p:nvPr/>
        </p:nvSpPr>
        <p:spPr>
          <a:xfrm>
            <a:off x="640080" y="4517136"/>
            <a:ext cx="5577840" cy="1502359"/>
          </a:xfrm>
          <a:prstGeom prst="roundRect">
            <a:avLst>
              <a:gd name="adj" fmla="val 4260"/>
            </a:avLst>
          </a:prstGeom>
          <a:solidFill>
            <a:srgbClr val="0E2417"/>
          </a:solidFill>
          <a:ln w="12700">
            <a:solidFill>
              <a:srgbClr val="234A31"/>
            </a:solidFill>
            <a:prstDash val="solid"/>
          </a:ln>
        </p:spPr>
      </p:sp>
      <p:sp>
        <p:nvSpPr>
          <p:cNvPr id="31" name="Text 25"/>
          <p:cNvSpPr txBox="1"/>
          <p:nvPr/>
        </p:nvSpPr>
        <p:spPr>
          <a:xfrm>
            <a:off x="859536" y="4608576"/>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MEMASANG PAKET</a:t>
            </a:r>
            <a:endParaRPr lang="en-US" sz="950" dirty="0"/>
          </a:p>
        </p:txBody>
      </p:sp>
      <p:sp>
        <p:nvSpPr>
          <p:cNvPr id="32" name="Text 26"/>
          <p:cNvSpPr txBox="1"/>
          <p:nvPr/>
        </p:nvSpPr>
        <p:spPr>
          <a:xfrm>
            <a:off x="859536" y="4919472"/>
            <a:ext cx="5138928" cy="990295"/>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init -y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membuat package.json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express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dependensi produksi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-D nodemon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dependensi pengembangan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-g pm2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dipasang global di sistem</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uninstall express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menghapus paket</a:t>
            </a:r>
            <a:endParaRPr lang="en-US" sz="1100" dirty="0"/>
          </a:p>
        </p:txBody>
      </p:sp>
      <p:sp>
        <p:nvSpPr>
          <p:cNvPr id="33" name="Shape 27"/>
          <p:cNvSpPr/>
          <p:nvPr/>
        </p:nvSpPr>
        <p:spPr>
          <a:xfrm>
            <a:off x="6492240" y="4645152"/>
            <a:ext cx="420624" cy="420624"/>
          </a:xfrm>
          <a:prstGeom prst="roundRect">
            <a:avLst>
              <a:gd name="adj" fmla="val 26087"/>
            </a:avLst>
          </a:prstGeom>
          <a:solidFill>
            <a:srgbClr val="FDF3D8"/>
          </a:solidFill>
          <a:ln w="12700">
            <a:solidFill>
              <a:srgbClr val="FDF3D8"/>
            </a:solidFill>
            <a:prstDash val="solid"/>
          </a:ln>
        </p:spPr>
      </p:sp>
      <p:pic>
        <p:nvPicPr>
          <p:cNvPr id="34" name="Image 4" descr="preencoded.png">    </p:cNvPr>
          <p:cNvPicPr>
            <a:picLocks noChangeAspect="1"/>
          </p:cNvPicPr>
          <p:nvPr/>
        </p:nvPicPr>
        <p:blipFill>
          <a:blip r:embed="rId5"/>
          <a:stretch>
            <a:fillRect/>
          </a:stretch>
        </p:blipFill>
        <p:spPr>
          <a:xfrm>
            <a:off x="6597396" y="4750308"/>
            <a:ext cx="210312" cy="210312"/>
          </a:xfrm>
          <a:prstGeom prst="rect">
            <a:avLst/>
          </a:prstGeom>
        </p:spPr>
      </p:pic>
      <p:sp>
        <p:nvSpPr>
          <p:cNvPr id="35" name="Text 28"/>
          <p:cNvSpPr txBox="1"/>
          <p:nvPr/>
        </p:nvSpPr>
        <p:spPr>
          <a:xfrm>
            <a:off x="7059168" y="46268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Perhatikan Kualitas Paket</a:t>
            </a:r>
            <a:endParaRPr lang="en-US" sz="1200" dirty="0"/>
          </a:p>
        </p:txBody>
      </p:sp>
      <p:sp>
        <p:nvSpPr>
          <p:cNvPr id="36" name="Text 29"/>
          <p:cNvSpPr txBox="1"/>
          <p:nvPr/>
        </p:nvSpPr>
        <p:spPr>
          <a:xfrm>
            <a:off x="7059168" y="4882896"/>
            <a:ext cx="4553712" cy="329184"/>
          </a:xfrm>
          <a:prstGeom prst="rect">
            <a:avLst/>
          </a:prstGeom>
          <a:noFill/>
          <a:ln/>
        </p:spPr>
        <p:txBody>
          <a:bodyPr wrap="square" lIns="0" tIns="0" rIns="0" bIns="0" rtlCol="0" anchor="t"/>
          <a:lstStyle/>
          <a:p>
            <a:pPr indent="0" marL="0">
              <a:lnSpc>
                <a:spcPct val="110000"/>
              </a:lnSpc>
              <a:buNone/>
            </a:pPr>
            <a:r>
              <a:rPr lang="en-US" sz="1000" dirty="0">
                <a:solidFill>
                  <a:srgbClr val="5F6F62"/>
                </a:solidFill>
                <a:latin typeface="Calibri" pitchFamily="34" charset="0"/>
                <a:ea typeface="Calibri" pitchFamily="34" charset="-122"/>
                <a:cs typeface="Calibri" pitchFamily="34" charset="-120"/>
              </a:rPr>
              <a:t>Periksa jumlah unduhan, tanggal pembaruan terakhir, dan lisensi sebelum memakai paket.</a:t>
            </a:r>
            <a:endParaRPr lang="en-US" sz="1000" dirty="0"/>
          </a:p>
        </p:txBody>
      </p:sp>
      <p:sp>
        <p:nvSpPr>
          <p:cNvPr id="37" name="Shape 30"/>
          <p:cNvSpPr/>
          <p:nvPr/>
        </p:nvSpPr>
        <p:spPr>
          <a:xfrm>
            <a:off x="6492240" y="5358384"/>
            <a:ext cx="420624" cy="420624"/>
          </a:xfrm>
          <a:prstGeom prst="roundRect">
            <a:avLst>
              <a:gd name="adj" fmla="val 26087"/>
            </a:avLst>
          </a:prstGeom>
          <a:solidFill>
            <a:srgbClr val="FDF3D8"/>
          </a:solidFill>
          <a:ln w="12700">
            <a:solidFill>
              <a:srgbClr val="FDF3D8"/>
            </a:solidFill>
            <a:prstDash val="solid"/>
          </a:ln>
        </p:spPr>
      </p:sp>
      <p:pic>
        <p:nvPicPr>
          <p:cNvPr id="38" name="Image 5" descr="preencoded.png">    </p:cNvPr>
          <p:cNvPicPr>
            <a:picLocks noChangeAspect="1"/>
          </p:cNvPicPr>
          <p:nvPr/>
        </p:nvPicPr>
        <p:blipFill>
          <a:blip r:embed="rId6"/>
          <a:stretch>
            <a:fillRect/>
          </a:stretch>
        </p:blipFill>
        <p:spPr>
          <a:xfrm>
            <a:off x="6597396" y="5463540"/>
            <a:ext cx="210312" cy="210312"/>
          </a:xfrm>
          <a:prstGeom prst="rect">
            <a:avLst/>
          </a:prstGeom>
        </p:spPr>
      </p:pic>
      <p:sp>
        <p:nvSpPr>
          <p:cNvPr id="39" name="Text 31"/>
          <p:cNvSpPr txBox="1"/>
          <p:nvPr/>
        </p:nvSpPr>
        <p:spPr>
          <a:xfrm>
            <a:off x="7059168" y="534009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Audit Keamanan</a:t>
            </a:r>
            <a:endParaRPr lang="en-US" sz="1200" dirty="0"/>
          </a:p>
        </p:txBody>
      </p:sp>
      <p:sp>
        <p:nvSpPr>
          <p:cNvPr id="40" name="Text 32"/>
          <p:cNvSpPr txBox="1"/>
          <p:nvPr/>
        </p:nvSpPr>
        <p:spPr>
          <a:xfrm>
            <a:off x="7059168" y="5596128"/>
            <a:ext cx="4553712" cy="329184"/>
          </a:xfrm>
          <a:prstGeom prst="rect">
            <a:avLst/>
          </a:prstGeom>
          <a:noFill/>
          <a:ln/>
        </p:spPr>
        <p:txBody>
          <a:bodyPr wrap="square" lIns="0" tIns="0" rIns="0" bIns="0" rtlCol="0" anchor="t"/>
          <a:lstStyle/>
          <a:p>
            <a:pPr indent="0" marL="0">
              <a:lnSpc>
                <a:spcPct val="110000"/>
              </a:lnSpc>
              <a:buNone/>
            </a:pPr>
            <a:r>
              <a:rPr lang="en-US" sz="1000" dirty="0">
                <a:solidFill>
                  <a:srgbClr val="5F6F62"/>
                </a:solidFill>
                <a:latin typeface="Calibri" pitchFamily="34" charset="0"/>
                <a:ea typeface="Calibri" pitchFamily="34" charset="-122"/>
                <a:cs typeface="Calibri" pitchFamily="34" charset="-120"/>
              </a:rPr>
              <a:t>Jalankan npm audit berkala untuk memeriksa kerentanan pada pohon dependensi.</a:t>
            </a:r>
            <a:endParaRPr lang="en-US" sz="1000" dirty="0"/>
          </a:p>
        </p:txBody>
      </p:sp>
      <p:sp>
        <p:nvSpPr>
          <p:cNvPr id="41"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Mengenal package.json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Kartu identitas sekaligus pusat konfigurasi sebuah proyek Node.js</a:t>
            </a:r>
            <a:endParaRPr lang="en-US" sz="1300" dirty="0"/>
          </a:p>
        </p:txBody>
      </p:sp>
      <p:sp>
        <p:nvSpPr>
          <p:cNvPr id="6" name="Shape 3"/>
          <p:cNvSpPr/>
          <p:nvPr/>
        </p:nvSpPr>
        <p:spPr>
          <a:xfrm>
            <a:off x="640080" y="1627632"/>
            <a:ext cx="6035040" cy="4036527"/>
          </a:xfrm>
          <a:prstGeom prst="roundRect">
            <a:avLst>
              <a:gd name="adj" fmla="val 1586"/>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CONTOH PACKAGE.JSON</a:t>
            </a:r>
            <a:endParaRPr lang="en-US" sz="950" dirty="0"/>
          </a:p>
        </p:txBody>
      </p:sp>
      <p:sp>
        <p:nvSpPr>
          <p:cNvPr id="8" name="Text 5"/>
          <p:cNvSpPr txBox="1"/>
          <p:nvPr/>
        </p:nvSpPr>
        <p:spPr>
          <a:xfrm>
            <a:off x="859536" y="2029968"/>
            <a:ext cx="5596128" cy="3524463"/>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"name"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"aplikasi-saya"</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"version"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"1.0.0"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"description"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"Contoh aplikasi Node.js"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"main"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"commonjs"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"scripts"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"start"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 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"dev"</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"nodemon 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"jest"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"dependencies"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"^4.19.2"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"mongoose"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"~8.4.0"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"devDependencies"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"nodemon"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"^3.1.0"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"license"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"MIT"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00784"/>
            <a:ext cx="4663440" cy="585216"/>
          </a:xfrm>
          <a:prstGeom prst="roundRect">
            <a:avLst>
              <a:gd name="adj" fmla="val 10938"/>
            </a:avLst>
          </a:prstGeom>
          <a:solidFill>
            <a:srgbClr val="FFFFFF"/>
          </a:solidFill>
          <a:ln w="12700">
            <a:solidFill>
              <a:srgbClr val="E3EBDF"/>
            </a:solidFill>
            <a:prstDash val="solid"/>
          </a:ln>
        </p:spPr>
      </p:sp>
      <p:sp>
        <p:nvSpPr>
          <p:cNvPr id="10" name="Text 7"/>
          <p:cNvSpPr txBox="1"/>
          <p:nvPr/>
        </p:nvSpPr>
        <p:spPr>
          <a:xfrm>
            <a:off x="7150608" y="173736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name &amp; version</a:t>
            </a:r>
            <a:endParaRPr lang="en-US" sz="1050" dirty="0"/>
          </a:p>
        </p:txBody>
      </p:sp>
      <p:sp>
        <p:nvSpPr>
          <p:cNvPr id="11" name="Text 8"/>
          <p:cNvSpPr txBox="1"/>
          <p:nvPr/>
        </p:nvSpPr>
        <p:spPr>
          <a:xfrm>
            <a:off x="7150608" y="197510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Identitas unik paket. Wajib diisi bila paket akan diterbitkan ke registry NPM.</a:t>
            </a:r>
            <a:endParaRPr lang="en-US" sz="960" dirty="0"/>
          </a:p>
        </p:txBody>
      </p:sp>
      <p:sp>
        <p:nvSpPr>
          <p:cNvPr id="12" name="Shape 9"/>
          <p:cNvSpPr/>
          <p:nvPr/>
        </p:nvSpPr>
        <p:spPr>
          <a:xfrm>
            <a:off x="6949440" y="2340864"/>
            <a:ext cx="4663440" cy="585216"/>
          </a:xfrm>
          <a:prstGeom prst="roundRect">
            <a:avLst>
              <a:gd name="adj" fmla="val 10938"/>
            </a:avLst>
          </a:prstGeom>
          <a:solidFill>
            <a:srgbClr val="FFFFFF"/>
          </a:solidFill>
          <a:ln w="12700">
            <a:solidFill>
              <a:srgbClr val="E3EBDF"/>
            </a:solidFill>
            <a:prstDash val="solid"/>
          </a:ln>
        </p:spPr>
      </p:sp>
      <p:sp>
        <p:nvSpPr>
          <p:cNvPr id="13" name="Text 10"/>
          <p:cNvSpPr txBox="1"/>
          <p:nvPr/>
        </p:nvSpPr>
        <p:spPr>
          <a:xfrm>
            <a:off x="7150608" y="237744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main</a:t>
            </a:r>
            <a:endParaRPr lang="en-US" sz="1050" dirty="0"/>
          </a:p>
        </p:txBody>
      </p:sp>
      <p:sp>
        <p:nvSpPr>
          <p:cNvPr id="14" name="Text 11"/>
          <p:cNvSpPr txBox="1"/>
          <p:nvPr/>
        </p:nvSpPr>
        <p:spPr>
          <a:xfrm>
            <a:off x="7150608" y="261518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Berkas yang dimuat pertama kali ketika paket ini diimpor oleh proyek lain.</a:t>
            </a:r>
            <a:endParaRPr lang="en-US" sz="960" dirty="0"/>
          </a:p>
        </p:txBody>
      </p:sp>
      <p:sp>
        <p:nvSpPr>
          <p:cNvPr id="15" name="Shape 12"/>
          <p:cNvSpPr/>
          <p:nvPr/>
        </p:nvSpPr>
        <p:spPr>
          <a:xfrm>
            <a:off x="6949440" y="2980944"/>
            <a:ext cx="4663440" cy="585216"/>
          </a:xfrm>
          <a:prstGeom prst="roundRect">
            <a:avLst>
              <a:gd name="adj" fmla="val 10938"/>
            </a:avLst>
          </a:prstGeom>
          <a:solidFill>
            <a:srgbClr val="FFFFFF"/>
          </a:solidFill>
          <a:ln w="12700">
            <a:solidFill>
              <a:srgbClr val="E3EBDF"/>
            </a:solidFill>
            <a:prstDash val="solid"/>
          </a:ln>
        </p:spPr>
      </p:sp>
      <p:sp>
        <p:nvSpPr>
          <p:cNvPr id="16" name="Text 13"/>
          <p:cNvSpPr txBox="1"/>
          <p:nvPr/>
        </p:nvSpPr>
        <p:spPr>
          <a:xfrm>
            <a:off x="7150608" y="301752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type</a:t>
            </a:r>
            <a:endParaRPr lang="en-US" sz="1050" dirty="0"/>
          </a:p>
        </p:txBody>
      </p:sp>
      <p:sp>
        <p:nvSpPr>
          <p:cNvPr id="17" name="Text 14"/>
          <p:cNvSpPr txBox="1"/>
          <p:nvPr/>
        </p:nvSpPr>
        <p:spPr>
          <a:xfrm>
            <a:off x="7150608" y="325526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Menentukan sistem modul: commonjs atau module untuk ES Modules.</a:t>
            </a:r>
            <a:endParaRPr lang="en-US" sz="960" dirty="0"/>
          </a:p>
        </p:txBody>
      </p:sp>
      <p:sp>
        <p:nvSpPr>
          <p:cNvPr id="18" name="Shape 15"/>
          <p:cNvSpPr/>
          <p:nvPr/>
        </p:nvSpPr>
        <p:spPr>
          <a:xfrm>
            <a:off x="6949440" y="3621024"/>
            <a:ext cx="4663440" cy="585216"/>
          </a:xfrm>
          <a:prstGeom prst="roundRect">
            <a:avLst>
              <a:gd name="adj" fmla="val 10938"/>
            </a:avLst>
          </a:prstGeom>
          <a:solidFill>
            <a:srgbClr val="FFFFFF"/>
          </a:solidFill>
          <a:ln w="12700">
            <a:solidFill>
              <a:srgbClr val="E3EBDF"/>
            </a:solidFill>
            <a:prstDash val="solid"/>
          </a:ln>
        </p:spPr>
      </p:sp>
      <p:sp>
        <p:nvSpPr>
          <p:cNvPr id="19" name="Text 16"/>
          <p:cNvSpPr txBox="1"/>
          <p:nvPr/>
        </p:nvSpPr>
        <p:spPr>
          <a:xfrm>
            <a:off x="7150608" y="365760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scripts</a:t>
            </a:r>
            <a:endParaRPr lang="en-US" sz="1050" dirty="0"/>
          </a:p>
        </p:txBody>
      </p:sp>
      <p:sp>
        <p:nvSpPr>
          <p:cNvPr id="20" name="Text 17"/>
          <p:cNvSpPr txBox="1"/>
          <p:nvPr/>
        </p:nvSpPr>
        <p:spPr>
          <a:xfrm>
            <a:off x="7150608" y="389534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Perintah pintasan yang dijalankan dengan npm run, misalnya npm run dev.</a:t>
            </a:r>
            <a:endParaRPr lang="en-US" sz="960" dirty="0"/>
          </a:p>
        </p:txBody>
      </p:sp>
      <p:sp>
        <p:nvSpPr>
          <p:cNvPr id="21" name="Shape 18"/>
          <p:cNvSpPr/>
          <p:nvPr/>
        </p:nvSpPr>
        <p:spPr>
          <a:xfrm>
            <a:off x="6949440" y="4261104"/>
            <a:ext cx="4663440" cy="585216"/>
          </a:xfrm>
          <a:prstGeom prst="roundRect">
            <a:avLst>
              <a:gd name="adj" fmla="val 10938"/>
            </a:avLst>
          </a:prstGeom>
          <a:solidFill>
            <a:srgbClr val="FFFFFF"/>
          </a:solidFill>
          <a:ln w="12700">
            <a:solidFill>
              <a:srgbClr val="E3EBDF"/>
            </a:solidFill>
            <a:prstDash val="solid"/>
          </a:ln>
        </p:spPr>
      </p:sp>
      <p:sp>
        <p:nvSpPr>
          <p:cNvPr id="22" name="Text 19"/>
          <p:cNvSpPr txBox="1"/>
          <p:nvPr/>
        </p:nvSpPr>
        <p:spPr>
          <a:xfrm>
            <a:off x="7150608" y="429768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dependencies</a:t>
            </a:r>
            <a:endParaRPr lang="en-US" sz="1050" dirty="0"/>
          </a:p>
        </p:txBody>
      </p:sp>
      <p:sp>
        <p:nvSpPr>
          <p:cNvPr id="23" name="Text 20"/>
          <p:cNvSpPr txBox="1"/>
          <p:nvPr/>
        </p:nvSpPr>
        <p:spPr>
          <a:xfrm>
            <a:off x="7150608" y="453542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Paket yang dibutuhkan aplikasi saat berjalan di produksi.</a:t>
            </a:r>
            <a:endParaRPr lang="en-US" sz="960" dirty="0"/>
          </a:p>
        </p:txBody>
      </p:sp>
      <p:sp>
        <p:nvSpPr>
          <p:cNvPr id="24" name="Shape 21"/>
          <p:cNvSpPr/>
          <p:nvPr/>
        </p:nvSpPr>
        <p:spPr>
          <a:xfrm>
            <a:off x="6949440" y="4901184"/>
            <a:ext cx="4663440" cy="585216"/>
          </a:xfrm>
          <a:prstGeom prst="roundRect">
            <a:avLst>
              <a:gd name="adj" fmla="val 10938"/>
            </a:avLst>
          </a:prstGeom>
          <a:solidFill>
            <a:srgbClr val="FFFFFF"/>
          </a:solidFill>
          <a:ln w="12700">
            <a:solidFill>
              <a:srgbClr val="E3EBDF"/>
            </a:solidFill>
            <a:prstDash val="solid"/>
          </a:ln>
        </p:spPr>
      </p:sp>
      <p:sp>
        <p:nvSpPr>
          <p:cNvPr id="25" name="Text 22"/>
          <p:cNvSpPr txBox="1"/>
          <p:nvPr/>
        </p:nvSpPr>
        <p:spPr>
          <a:xfrm>
            <a:off x="7150608" y="493776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devDependencies</a:t>
            </a:r>
            <a:endParaRPr lang="en-US" sz="1050" dirty="0"/>
          </a:p>
        </p:txBody>
      </p:sp>
      <p:sp>
        <p:nvSpPr>
          <p:cNvPr id="26" name="Text 23"/>
          <p:cNvSpPr txBox="1"/>
          <p:nvPr/>
        </p:nvSpPr>
        <p:spPr>
          <a:xfrm>
            <a:off x="7150608" y="517550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Paket yang hanya dipakai selama pengembangan, seperti alat uji dan linter.</a:t>
            </a:r>
            <a:endParaRPr lang="en-US" sz="960" dirty="0"/>
          </a:p>
        </p:txBody>
      </p:sp>
      <p:sp>
        <p:nvSpPr>
          <p:cNvPr id="27" name="Shape 24"/>
          <p:cNvSpPr/>
          <p:nvPr/>
        </p:nvSpPr>
        <p:spPr>
          <a:xfrm>
            <a:off x="6949440" y="5541264"/>
            <a:ext cx="4663440" cy="585216"/>
          </a:xfrm>
          <a:prstGeom prst="roundRect">
            <a:avLst>
              <a:gd name="adj" fmla="val 10938"/>
            </a:avLst>
          </a:prstGeom>
          <a:solidFill>
            <a:srgbClr val="FFFFFF"/>
          </a:solidFill>
          <a:ln w="12700">
            <a:solidFill>
              <a:srgbClr val="E3EBDF"/>
            </a:solidFill>
            <a:prstDash val="solid"/>
          </a:ln>
        </p:spPr>
      </p:sp>
      <p:sp>
        <p:nvSpPr>
          <p:cNvPr id="28" name="Text 25"/>
          <p:cNvSpPr txBox="1"/>
          <p:nvPr/>
        </p:nvSpPr>
        <p:spPr>
          <a:xfrm>
            <a:off x="7150608" y="557784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license</a:t>
            </a:r>
            <a:endParaRPr lang="en-US" sz="1050" dirty="0"/>
          </a:p>
        </p:txBody>
      </p:sp>
      <p:sp>
        <p:nvSpPr>
          <p:cNvPr id="29" name="Text 26"/>
          <p:cNvSpPr txBox="1"/>
          <p:nvPr/>
        </p:nvSpPr>
        <p:spPr>
          <a:xfrm>
            <a:off x="7150608" y="581558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Menyatakan lisensi penggunaan kode, misalnya MIT, Apache-2.0, atau ISC.</a:t>
            </a:r>
            <a:endParaRPr lang="en-US" sz="960" dirty="0"/>
          </a:p>
        </p:txBody>
      </p:sp>
      <p:sp>
        <p:nvSpPr>
          <p:cNvPr id="30"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1"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Perintah NPM yang Sering Dipakai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Referensi cepat untuk pekerjaan sehari-hari</a:t>
            </a:r>
            <a:endParaRPr lang="en-US" sz="1300" dirty="0"/>
          </a:p>
        </p:txBody>
      </p:sp>
      <p:sp>
        <p:nvSpPr>
          <p:cNvPr id="6" name="Shape 3"/>
          <p:cNvSpPr/>
          <p:nvPr/>
        </p:nvSpPr>
        <p:spPr>
          <a:xfrm>
            <a:off x="640080" y="1645920"/>
            <a:ext cx="5349240" cy="384048"/>
          </a:xfrm>
          <a:prstGeom prst="roundRect">
            <a:avLst>
              <a:gd name="adj" fmla="val 11905"/>
            </a:avLst>
          </a:prstGeom>
          <a:solidFill>
            <a:srgbClr val="0B2015"/>
          </a:solidFill>
          <a:ln w="12700">
            <a:solidFill>
              <a:srgbClr val="0B2015"/>
            </a:solidFill>
            <a:prstDash val="solid"/>
          </a:ln>
        </p:spPr>
      </p:sp>
      <p:sp>
        <p:nvSpPr>
          <p:cNvPr id="7" name="Text 4"/>
          <p:cNvSpPr txBox="1"/>
          <p:nvPr/>
        </p:nvSpPr>
        <p:spPr>
          <a:xfrm>
            <a:off x="841248" y="1645920"/>
            <a:ext cx="19202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Perintah</a:t>
            </a:r>
            <a:endParaRPr lang="en-US" sz="1050" dirty="0"/>
          </a:p>
        </p:txBody>
      </p:sp>
      <p:sp>
        <p:nvSpPr>
          <p:cNvPr id="8" name="Text 5"/>
          <p:cNvSpPr txBox="1"/>
          <p:nvPr/>
        </p:nvSpPr>
        <p:spPr>
          <a:xfrm>
            <a:off x="2788920" y="1645920"/>
            <a:ext cx="31089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Kegunaan</a:t>
            </a:r>
            <a:endParaRPr lang="en-US" sz="1050" dirty="0"/>
          </a:p>
        </p:txBody>
      </p:sp>
      <p:sp>
        <p:nvSpPr>
          <p:cNvPr id="9" name="Shape 6"/>
          <p:cNvSpPr/>
          <p:nvPr/>
        </p:nvSpPr>
        <p:spPr>
          <a:xfrm>
            <a:off x="640080" y="2066544"/>
            <a:ext cx="5349240" cy="384048"/>
          </a:xfrm>
          <a:prstGeom prst="roundRect">
            <a:avLst>
              <a:gd name="adj" fmla="val 11905"/>
            </a:avLst>
          </a:prstGeom>
          <a:solidFill>
            <a:srgbClr val="FFFFFF"/>
          </a:solidFill>
          <a:ln w="12700">
            <a:solidFill>
              <a:srgbClr val="E3EBDF"/>
            </a:solidFill>
            <a:prstDash val="solid"/>
          </a:ln>
        </p:spPr>
      </p:sp>
      <p:sp>
        <p:nvSpPr>
          <p:cNvPr id="10" name="Text 7"/>
          <p:cNvSpPr txBox="1"/>
          <p:nvPr/>
        </p:nvSpPr>
        <p:spPr>
          <a:xfrm>
            <a:off x="841248" y="206654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init -y</a:t>
            </a:r>
            <a:endParaRPr lang="en-US" sz="1050" dirty="0"/>
          </a:p>
        </p:txBody>
      </p:sp>
      <p:sp>
        <p:nvSpPr>
          <p:cNvPr id="11" name="Text 8"/>
          <p:cNvSpPr txBox="1"/>
          <p:nvPr/>
        </p:nvSpPr>
        <p:spPr>
          <a:xfrm>
            <a:off x="2788920" y="206654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Membuat package.json dengan nilai bawaan</a:t>
            </a:r>
            <a:endParaRPr lang="en-US" sz="1050" dirty="0"/>
          </a:p>
        </p:txBody>
      </p:sp>
      <p:sp>
        <p:nvSpPr>
          <p:cNvPr id="12" name="Shape 9"/>
          <p:cNvSpPr/>
          <p:nvPr/>
        </p:nvSpPr>
        <p:spPr>
          <a:xfrm>
            <a:off x="640080" y="2487168"/>
            <a:ext cx="5349240" cy="384048"/>
          </a:xfrm>
          <a:prstGeom prst="roundRect">
            <a:avLst>
              <a:gd name="adj" fmla="val 11905"/>
            </a:avLst>
          </a:prstGeom>
          <a:solidFill>
            <a:srgbClr val="EDF3E9"/>
          </a:solidFill>
          <a:ln w="12700">
            <a:solidFill>
              <a:srgbClr val="E3EBDF"/>
            </a:solidFill>
            <a:prstDash val="solid"/>
          </a:ln>
        </p:spPr>
      </p:sp>
      <p:sp>
        <p:nvSpPr>
          <p:cNvPr id="13" name="Text 10"/>
          <p:cNvSpPr txBox="1"/>
          <p:nvPr/>
        </p:nvSpPr>
        <p:spPr>
          <a:xfrm>
            <a:off x="841248" y="248716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install</a:t>
            </a:r>
            <a:endParaRPr lang="en-US" sz="1050" dirty="0"/>
          </a:p>
        </p:txBody>
      </p:sp>
      <p:sp>
        <p:nvSpPr>
          <p:cNvPr id="14" name="Text 11"/>
          <p:cNvSpPr txBox="1"/>
          <p:nvPr/>
        </p:nvSpPr>
        <p:spPr>
          <a:xfrm>
            <a:off x="2788920" y="248716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semua dependensi dari package.json</a:t>
            </a:r>
            <a:endParaRPr lang="en-US" sz="1050" dirty="0"/>
          </a:p>
        </p:txBody>
      </p:sp>
      <p:sp>
        <p:nvSpPr>
          <p:cNvPr id="15" name="Shape 12"/>
          <p:cNvSpPr/>
          <p:nvPr/>
        </p:nvSpPr>
        <p:spPr>
          <a:xfrm>
            <a:off x="640080" y="2907792"/>
            <a:ext cx="5349240" cy="384048"/>
          </a:xfrm>
          <a:prstGeom prst="roundRect">
            <a:avLst>
              <a:gd name="adj" fmla="val 11905"/>
            </a:avLst>
          </a:prstGeom>
          <a:solidFill>
            <a:srgbClr val="FFFFFF"/>
          </a:solidFill>
          <a:ln w="12700">
            <a:solidFill>
              <a:srgbClr val="E3EBDF"/>
            </a:solidFill>
            <a:prstDash val="solid"/>
          </a:ln>
        </p:spPr>
      </p:sp>
      <p:sp>
        <p:nvSpPr>
          <p:cNvPr id="16" name="Text 13"/>
          <p:cNvSpPr txBox="1"/>
          <p:nvPr/>
        </p:nvSpPr>
        <p:spPr>
          <a:xfrm>
            <a:off x="841248" y="2907792"/>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&lt;paket&gt;</a:t>
            </a:r>
            <a:endParaRPr lang="en-US" sz="1050" dirty="0"/>
          </a:p>
        </p:txBody>
      </p:sp>
      <p:sp>
        <p:nvSpPr>
          <p:cNvPr id="17" name="Text 14"/>
          <p:cNvSpPr txBox="1"/>
          <p:nvPr/>
        </p:nvSpPr>
        <p:spPr>
          <a:xfrm>
            <a:off x="2788920" y="2907792"/>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tertentu ke dependencies</a:t>
            </a:r>
            <a:endParaRPr lang="en-US" sz="1050" dirty="0"/>
          </a:p>
        </p:txBody>
      </p:sp>
      <p:sp>
        <p:nvSpPr>
          <p:cNvPr id="18" name="Shape 15"/>
          <p:cNvSpPr/>
          <p:nvPr/>
        </p:nvSpPr>
        <p:spPr>
          <a:xfrm>
            <a:off x="640080" y="3328416"/>
            <a:ext cx="5349240" cy="384048"/>
          </a:xfrm>
          <a:prstGeom prst="roundRect">
            <a:avLst>
              <a:gd name="adj" fmla="val 11905"/>
            </a:avLst>
          </a:prstGeom>
          <a:solidFill>
            <a:srgbClr val="EDF3E9"/>
          </a:solidFill>
          <a:ln w="12700">
            <a:solidFill>
              <a:srgbClr val="E3EBDF"/>
            </a:solidFill>
            <a:prstDash val="solid"/>
          </a:ln>
        </p:spPr>
      </p:sp>
      <p:sp>
        <p:nvSpPr>
          <p:cNvPr id="19" name="Text 16"/>
          <p:cNvSpPr txBox="1"/>
          <p:nvPr/>
        </p:nvSpPr>
        <p:spPr>
          <a:xfrm>
            <a:off x="841248" y="3328416"/>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-D &lt;paket&gt;</a:t>
            </a:r>
            <a:endParaRPr lang="en-US" sz="1050" dirty="0"/>
          </a:p>
        </p:txBody>
      </p:sp>
      <p:sp>
        <p:nvSpPr>
          <p:cNvPr id="20" name="Text 17"/>
          <p:cNvSpPr txBox="1"/>
          <p:nvPr/>
        </p:nvSpPr>
        <p:spPr>
          <a:xfrm>
            <a:off x="2788920" y="3328416"/>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ke devDependencies</a:t>
            </a:r>
            <a:endParaRPr lang="en-US" sz="1050" dirty="0"/>
          </a:p>
        </p:txBody>
      </p:sp>
      <p:sp>
        <p:nvSpPr>
          <p:cNvPr id="21" name="Shape 18"/>
          <p:cNvSpPr/>
          <p:nvPr/>
        </p:nvSpPr>
        <p:spPr>
          <a:xfrm>
            <a:off x="640080" y="3749040"/>
            <a:ext cx="5349240" cy="384048"/>
          </a:xfrm>
          <a:prstGeom prst="roundRect">
            <a:avLst>
              <a:gd name="adj" fmla="val 11905"/>
            </a:avLst>
          </a:prstGeom>
          <a:solidFill>
            <a:srgbClr val="FFFFFF"/>
          </a:solidFill>
          <a:ln w="12700">
            <a:solidFill>
              <a:srgbClr val="E3EBDF"/>
            </a:solidFill>
            <a:prstDash val="solid"/>
          </a:ln>
        </p:spPr>
      </p:sp>
      <p:sp>
        <p:nvSpPr>
          <p:cNvPr id="22" name="Text 19"/>
          <p:cNvSpPr txBox="1"/>
          <p:nvPr/>
        </p:nvSpPr>
        <p:spPr>
          <a:xfrm>
            <a:off x="841248" y="3749040"/>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-g &lt;paket&gt;</a:t>
            </a:r>
            <a:endParaRPr lang="en-US" sz="1050" dirty="0"/>
          </a:p>
        </p:txBody>
      </p:sp>
      <p:sp>
        <p:nvSpPr>
          <p:cNvPr id="23" name="Text 20"/>
          <p:cNvSpPr txBox="1"/>
          <p:nvPr/>
        </p:nvSpPr>
        <p:spPr>
          <a:xfrm>
            <a:off x="2788920" y="3749040"/>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secara global di sistem</a:t>
            </a:r>
            <a:endParaRPr lang="en-US" sz="1050" dirty="0"/>
          </a:p>
        </p:txBody>
      </p:sp>
      <p:sp>
        <p:nvSpPr>
          <p:cNvPr id="24" name="Shape 21"/>
          <p:cNvSpPr/>
          <p:nvPr/>
        </p:nvSpPr>
        <p:spPr>
          <a:xfrm>
            <a:off x="640080" y="4169664"/>
            <a:ext cx="5349240" cy="384048"/>
          </a:xfrm>
          <a:prstGeom prst="roundRect">
            <a:avLst>
              <a:gd name="adj" fmla="val 11905"/>
            </a:avLst>
          </a:prstGeom>
          <a:solidFill>
            <a:srgbClr val="EDF3E9"/>
          </a:solidFill>
          <a:ln w="12700">
            <a:solidFill>
              <a:srgbClr val="E3EBDF"/>
            </a:solidFill>
            <a:prstDash val="solid"/>
          </a:ln>
        </p:spPr>
      </p:sp>
      <p:sp>
        <p:nvSpPr>
          <p:cNvPr id="25" name="Text 22"/>
          <p:cNvSpPr txBox="1"/>
          <p:nvPr/>
        </p:nvSpPr>
        <p:spPr>
          <a:xfrm>
            <a:off x="841248" y="416966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uninstall &lt;p&gt;</a:t>
            </a:r>
            <a:endParaRPr lang="en-US" sz="1050" dirty="0"/>
          </a:p>
        </p:txBody>
      </p:sp>
      <p:sp>
        <p:nvSpPr>
          <p:cNvPr id="26" name="Text 23"/>
          <p:cNvSpPr txBox="1"/>
          <p:nvPr/>
        </p:nvSpPr>
        <p:spPr>
          <a:xfrm>
            <a:off x="2788920" y="416966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Menghapus paket dari proyek</a:t>
            </a:r>
            <a:endParaRPr lang="en-US" sz="1050" dirty="0"/>
          </a:p>
        </p:txBody>
      </p:sp>
      <p:sp>
        <p:nvSpPr>
          <p:cNvPr id="27" name="Shape 24"/>
          <p:cNvSpPr/>
          <p:nvPr/>
        </p:nvSpPr>
        <p:spPr>
          <a:xfrm>
            <a:off x="640080" y="4590288"/>
            <a:ext cx="5349240" cy="384048"/>
          </a:xfrm>
          <a:prstGeom prst="roundRect">
            <a:avLst>
              <a:gd name="adj" fmla="val 11905"/>
            </a:avLst>
          </a:prstGeom>
          <a:solidFill>
            <a:srgbClr val="FFFFFF"/>
          </a:solidFill>
          <a:ln w="12700">
            <a:solidFill>
              <a:srgbClr val="E3EBDF"/>
            </a:solidFill>
            <a:prstDash val="solid"/>
          </a:ln>
        </p:spPr>
      </p:sp>
      <p:sp>
        <p:nvSpPr>
          <p:cNvPr id="28" name="Text 25"/>
          <p:cNvSpPr txBox="1"/>
          <p:nvPr/>
        </p:nvSpPr>
        <p:spPr>
          <a:xfrm>
            <a:off x="841248" y="459028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update</a:t>
            </a:r>
            <a:endParaRPr lang="en-US" sz="1050" dirty="0"/>
          </a:p>
        </p:txBody>
      </p:sp>
      <p:sp>
        <p:nvSpPr>
          <p:cNvPr id="29" name="Text 26"/>
          <p:cNvSpPr txBox="1"/>
          <p:nvPr/>
        </p:nvSpPr>
        <p:spPr>
          <a:xfrm>
            <a:off x="2788920" y="459028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Memperbarui paket sesuai rentang versi</a:t>
            </a:r>
            <a:endParaRPr lang="en-US" sz="1050" dirty="0"/>
          </a:p>
        </p:txBody>
      </p:sp>
      <p:sp>
        <p:nvSpPr>
          <p:cNvPr id="30" name="Shape 27"/>
          <p:cNvSpPr/>
          <p:nvPr/>
        </p:nvSpPr>
        <p:spPr>
          <a:xfrm>
            <a:off x="6263640" y="1645920"/>
            <a:ext cx="5349240" cy="384048"/>
          </a:xfrm>
          <a:prstGeom prst="roundRect">
            <a:avLst>
              <a:gd name="adj" fmla="val 11905"/>
            </a:avLst>
          </a:prstGeom>
          <a:solidFill>
            <a:srgbClr val="0B2015"/>
          </a:solidFill>
          <a:ln w="12700">
            <a:solidFill>
              <a:srgbClr val="0B2015"/>
            </a:solidFill>
            <a:prstDash val="solid"/>
          </a:ln>
        </p:spPr>
      </p:sp>
      <p:sp>
        <p:nvSpPr>
          <p:cNvPr id="31" name="Text 28"/>
          <p:cNvSpPr txBox="1"/>
          <p:nvPr/>
        </p:nvSpPr>
        <p:spPr>
          <a:xfrm>
            <a:off x="6464808" y="1645920"/>
            <a:ext cx="19202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Perintah</a:t>
            </a:r>
            <a:endParaRPr lang="en-US" sz="1050" dirty="0"/>
          </a:p>
        </p:txBody>
      </p:sp>
      <p:sp>
        <p:nvSpPr>
          <p:cNvPr id="32" name="Text 29"/>
          <p:cNvSpPr txBox="1"/>
          <p:nvPr/>
        </p:nvSpPr>
        <p:spPr>
          <a:xfrm>
            <a:off x="8412480" y="1645920"/>
            <a:ext cx="31089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Kegunaan</a:t>
            </a:r>
            <a:endParaRPr lang="en-US" sz="1050" dirty="0"/>
          </a:p>
        </p:txBody>
      </p:sp>
      <p:sp>
        <p:nvSpPr>
          <p:cNvPr id="33" name="Shape 30"/>
          <p:cNvSpPr/>
          <p:nvPr/>
        </p:nvSpPr>
        <p:spPr>
          <a:xfrm>
            <a:off x="6263640" y="2066544"/>
            <a:ext cx="5349240" cy="384048"/>
          </a:xfrm>
          <a:prstGeom prst="roundRect">
            <a:avLst>
              <a:gd name="adj" fmla="val 11905"/>
            </a:avLst>
          </a:prstGeom>
          <a:solidFill>
            <a:srgbClr val="FFFFFF"/>
          </a:solidFill>
          <a:ln w="12700">
            <a:solidFill>
              <a:srgbClr val="E3EBDF"/>
            </a:solidFill>
            <a:prstDash val="solid"/>
          </a:ln>
        </p:spPr>
      </p:sp>
      <p:sp>
        <p:nvSpPr>
          <p:cNvPr id="34" name="Text 31"/>
          <p:cNvSpPr txBox="1"/>
          <p:nvPr/>
        </p:nvSpPr>
        <p:spPr>
          <a:xfrm>
            <a:off x="6464808" y="206654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run &lt;skrip&gt;</a:t>
            </a:r>
            <a:endParaRPr lang="en-US" sz="1050" dirty="0"/>
          </a:p>
        </p:txBody>
      </p:sp>
      <p:sp>
        <p:nvSpPr>
          <p:cNvPr id="35" name="Text 32"/>
          <p:cNvSpPr txBox="1"/>
          <p:nvPr/>
        </p:nvSpPr>
        <p:spPr>
          <a:xfrm>
            <a:off x="8412480" y="206654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Menjalankan skrip dari bagian scripts</a:t>
            </a:r>
            <a:endParaRPr lang="en-US" sz="1050" dirty="0"/>
          </a:p>
        </p:txBody>
      </p:sp>
      <p:sp>
        <p:nvSpPr>
          <p:cNvPr id="36" name="Shape 33"/>
          <p:cNvSpPr/>
          <p:nvPr/>
        </p:nvSpPr>
        <p:spPr>
          <a:xfrm>
            <a:off x="6263640" y="2487168"/>
            <a:ext cx="5349240" cy="384048"/>
          </a:xfrm>
          <a:prstGeom prst="roundRect">
            <a:avLst>
              <a:gd name="adj" fmla="val 11905"/>
            </a:avLst>
          </a:prstGeom>
          <a:solidFill>
            <a:srgbClr val="EDF3E9"/>
          </a:solidFill>
          <a:ln w="12700">
            <a:solidFill>
              <a:srgbClr val="E3EBDF"/>
            </a:solidFill>
            <a:prstDash val="solid"/>
          </a:ln>
        </p:spPr>
      </p:sp>
      <p:sp>
        <p:nvSpPr>
          <p:cNvPr id="37" name="Text 34"/>
          <p:cNvSpPr txBox="1"/>
          <p:nvPr/>
        </p:nvSpPr>
        <p:spPr>
          <a:xfrm>
            <a:off x="6464808" y="248716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start</a:t>
            </a:r>
            <a:endParaRPr lang="en-US" sz="1050" dirty="0"/>
          </a:p>
        </p:txBody>
      </p:sp>
      <p:sp>
        <p:nvSpPr>
          <p:cNvPr id="38" name="Text 35"/>
          <p:cNvSpPr txBox="1"/>
          <p:nvPr/>
        </p:nvSpPr>
        <p:spPr>
          <a:xfrm>
            <a:off x="8412480" y="248716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Pintasan untuk menjalankan skrip start</a:t>
            </a:r>
            <a:endParaRPr lang="en-US" sz="1050" dirty="0"/>
          </a:p>
        </p:txBody>
      </p:sp>
      <p:sp>
        <p:nvSpPr>
          <p:cNvPr id="39" name="Shape 36"/>
          <p:cNvSpPr/>
          <p:nvPr/>
        </p:nvSpPr>
        <p:spPr>
          <a:xfrm>
            <a:off x="6263640" y="2907792"/>
            <a:ext cx="5349240" cy="384048"/>
          </a:xfrm>
          <a:prstGeom prst="roundRect">
            <a:avLst>
              <a:gd name="adj" fmla="val 11905"/>
            </a:avLst>
          </a:prstGeom>
          <a:solidFill>
            <a:srgbClr val="FFFFFF"/>
          </a:solidFill>
          <a:ln w="12700">
            <a:solidFill>
              <a:srgbClr val="E3EBDF"/>
            </a:solidFill>
            <a:prstDash val="solid"/>
          </a:ln>
        </p:spPr>
      </p:sp>
      <p:sp>
        <p:nvSpPr>
          <p:cNvPr id="40" name="Text 37"/>
          <p:cNvSpPr txBox="1"/>
          <p:nvPr/>
        </p:nvSpPr>
        <p:spPr>
          <a:xfrm>
            <a:off x="6464808" y="2907792"/>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test</a:t>
            </a:r>
            <a:endParaRPr lang="en-US" sz="1050" dirty="0"/>
          </a:p>
        </p:txBody>
      </p:sp>
      <p:sp>
        <p:nvSpPr>
          <p:cNvPr id="41" name="Text 38"/>
          <p:cNvSpPr txBox="1"/>
          <p:nvPr/>
        </p:nvSpPr>
        <p:spPr>
          <a:xfrm>
            <a:off x="8412480" y="2907792"/>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Pintasan untuk menjalankan skrip test</a:t>
            </a:r>
            <a:endParaRPr lang="en-US" sz="1050" dirty="0"/>
          </a:p>
        </p:txBody>
      </p:sp>
      <p:sp>
        <p:nvSpPr>
          <p:cNvPr id="42" name="Shape 39"/>
          <p:cNvSpPr/>
          <p:nvPr/>
        </p:nvSpPr>
        <p:spPr>
          <a:xfrm>
            <a:off x="6263640" y="3328416"/>
            <a:ext cx="5349240" cy="384048"/>
          </a:xfrm>
          <a:prstGeom prst="roundRect">
            <a:avLst>
              <a:gd name="adj" fmla="val 11905"/>
            </a:avLst>
          </a:prstGeom>
          <a:solidFill>
            <a:srgbClr val="EDF3E9"/>
          </a:solidFill>
          <a:ln w="12700">
            <a:solidFill>
              <a:srgbClr val="E3EBDF"/>
            </a:solidFill>
            <a:prstDash val="solid"/>
          </a:ln>
        </p:spPr>
      </p:sp>
      <p:sp>
        <p:nvSpPr>
          <p:cNvPr id="43" name="Text 40"/>
          <p:cNvSpPr txBox="1"/>
          <p:nvPr/>
        </p:nvSpPr>
        <p:spPr>
          <a:xfrm>
            <a:off x="6464808" y="3328416"/>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list</a:t>
            </a:r>
            <a:endParaRPr lang="en-US" sz="1050" dirty="0"/>
          </a:p>
        </p:txBody>
      </p:sp>
      <p:sp>
        <p:nvSpPr>
          <p:cNvPr id="44" name="Text 41"/>
          <p:cNvSpPr txBox="1"/>
          <p:nvPr/>
        </p:nvSpPr>
        <p:spPr>
          <a:xfrm>
            <a:off x="8412480" y="3328416"/>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Menampilkan pohon dependensi proyek</a:t>
            </a:r>
            <a:endParaRPr lang="en-US" sz="1050" dirty="0"/>
          </a:p>
        </p:txBody>
      </p:sp>
      <p:sp>
        <p:nvSpPr>
          <p:cNvPr id="45" name="Shape 42"/>
          <p:cNvSpPr/>
          <p:nvPr/>
        </p:nvSpPr>
        <p:spPr>
          <a:xfrm>
            <a:off x="6263640" y="3749040"/>
            <a:ext cx="5349240" cy="384048"/>
          </a:xfrm>
          <a:prstGeom prst="roundRect">
            <a:avLst>
              <a:gd name="adj" fmla="val 11905"/>
            </a:avLst>
          </a:prstGeom>
          <a:solidFill>
            <a:srgbClr val="FFFFFF"/>
          </a:solidFill>
          <a:ln w="12700">
            <a:solidFill>
              <a:srgbClr val="E3EBDF"/>
            </a:solidFill>
            <a:prstDash val="solid"/>
          </a:ln>
        </p:spPr>
      </p:sp>
      <p:sp>
        <p:nvSpPr>
          <p:cNvPr id="46" name="Text 43"/>
          <p:cNvSpPr txBox="1"/>
          <p:nvPr/>
        </p:nvSpPr>
        <p:spPr>
          <a:xfrm>
            <a:off x="6464808" y="3749040"/>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outdated</a:t>
            </a:r>
            <a:endParaRPr lang="en-US" sz="1050" dirty="0"/>
          </a:p>
        </p:txBody>
      </p:sp>
      <p:sp>
        <p:nvSpPr>
          <p:cNvPr id="47" name="Text 44"/>
          <p:cNvSpPr txBox="1"/>
          <p:nvPr/>
        </p:nvSpPr>
        <p:spPr>
          <a:xfrm>
            <a:off x="8412480" y="3749040"/>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Menampilkan paket yang sudah usang</a:t>
            </a:r>
            <a:endParaRPr lang="en-US" sz="1050" dirty="0"/>
          </a:p>
        </p:txBody>
      </p:sp>
      <p:sp>
        <p:nvSpPr>
          <p:cNvPr id="48" name="Shape 45"/>
          <p:cNvSpPr/>
          <p:nvPr/>
        </p:nvSpPr>
        <p:spPr>
          <a:xfrm>
            <a:off x="6263640" y="4169664"/>
            <a:ext cx="5349240" cy="384048"/>
          </a:xfrm>
          <a:prstGeom prst="roundRect">
            <a:avLst>
              <a:gd name="adj" fmla="val 11905"/>
            </a:avLst>
          </a:prstGeom>
          <a:solidFill>
            <a:srgbClr val="EDF3E9"/>
          </a:solidFill>
          <a:ln w="12700">
            <a:solidFill>
              <a:srgbClr val="E3EBDF"/>
            </a:solidFill>
            <a:prstDash val="solid"/>
          </a:ln>
        </p:spPr>
      </p:sp>
      <p:sp>
        <p:nvSpPr>
          <p:cNvPr id="49" name="Text 46"/>
          <p:cNvSpPr txBox="1"/>
          <p:nvPr/>
        </p:nvSpPr>
        <p:spPr>
          <a:xfrm>
            <a:off x="6464808" y="416966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audit fix</a:t>
            </a:r>
            <a:endParaRPr lang="en-US" sz="1050" dirty="0"/>
          </a:p>
        </p:txBody>
      </p:sp>
      <p:sp>
        <p:nvSpPr>
          <p:cNvPr id="50" name="Text 47"/>
          <p:cNvSpPr txBox="1"/>
          <p:nvPr/>
        </p:nvSpPr>
        <p:spPr>
          <a:xfrm>
            <a:off x="8412480" y="416966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Memperbaiki kerentanan keamanan otomatis</a:t>
            </a:r>
            <a:endParaRPr lang="en-US" sz="1050" dirty="0"/>
          </a:p>
        </p:txBody>
      </p:sp>
      <p:sp>
        <p:nvSpPr>
          <p:cNvPr id="51" name="Shape 48"/>
          <p:cNvSpPr/>
          <p:nvPr/>
        </p:nvSpPr>
        <p:spPr>
          <a:xfrm>
            <a:off x="6263640" y="4590288"/>
            <a:ext cx="5349240" cy="384048"/>
          </a:xfrm>
          <a:prstGeom prst="roundRect">
            <a:avLst>
              <a:gd name="adj" fmla="val 11905"/>
            </a:avLst>
          </a:prstGeom>
          <a:solidFill>
            <a:srgbClr val="FFFFFF"/>
          </a:solidFill>
          <a:ln w="12700">
            <a:solidFill>
              <a:srgbClr val="E3EBDF"/>
            </a:solidFill>
            <a:prstDash val="solid"/>
          </a:ln>
        </p:spPr>
      </p:sp>
      <p:sp>
        <p:nvSpPr>
          <p:cNvPr id="52" name="Text 49"/>
          <p:cNvSpPr txBox="1"/>
          <p:nvPr/>
        </p:nvSpPr>
        <p:spPr>
          <a:xfrm>
            <a:off x="6464808" y="459028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npx &lt;paket&gt;</a:t>
            </a:r>
            <a:endParaRPr lang="en-US" sz="1050" dirty="0"/>
          </a:p>
        </p:txBody>
      </p:sp>
      <p:sp>
        <p:nvSpPr>
          <p:cNvPr id="53" name="Text 50"/>
          <p:cNvSpPr txBox="1"/>
          <p:nvPr/>
        </p:nvSpPr>
        <p:spPr>
          <a:xfrm>
            <a:off x="8412480" y="459028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Menjalankan paket tanpa memasangnya</a:t>
            </a:r>
            <a:endParaRPr lang="en-US" sz="1050" dirty="0"/>
          </a:p>
        </p:txBody>
      </p:sp>
      <p:sp>
        <p:nvSpPr>
          <p:cNvPr id="54" name="Shape 51"/>
          <p:cNvSpPr/>
          <p:nvPr/>
        </p:nvSpPr>
        <p:spPr>
          <a:xfrm>
            <a:off x="640080" y="5266944"/>
            <a:ext cx="420624" cy="420624"/>
          </a:xfrm>
          <a:prstGeom prst="roundRect">
            <a:avLst>
              <a:gd name="adj" fmla="val 26087"/>
            </a:avLst>
          </a:prstGeom>
          <a:solidFill>
            <a:srgbClr val="E8F2E2"/>
          </a:solidFill>
          <a:ln w="12700">
            <a:solidFill>
              <a:srgbClr val="E8F2E2"/>
            </a:solidFill>
            <a:prstDash val="solid"/>
          </a:ln>
        </p:spPr>
      </p:sp>
      <p:pic>
        <p:nvPicPr>
          <p:cNvPr id="55" name="Image 1" descr="preencoded.png">    </p:cNvPr>
          <p:cNvPicPr>
            <a:picLocks noChangeAspect="1"/>
          </p:cNvPicPr>
          <p:nvPr/>
        </p:nvPicPr>
        <p:blipFill>
          <a:blip r:embed="rId2"/>
          <a:stretch>
            <a:fillRect/>
          </a:stretch>
        </p:blipFill>
        <p:spPr>
          <a:xfrm>
            <a:off x="745236" y="5372100"/>
            <a:ext cx="210312" cy="210312"/>
          </a:xfrm>
          <a:prstGeom prst="rect">
            <a:avLst/>
          </a:prstGeom>
        </p:spPr>
      </p:pic>
      <p:sp>
        <p:nvSpPr>
          <p:cNvPr id="56" name="Text 52"/>
          <p:cNvSpPr txBox="1"/>
          <p:nvPr/>
        </p:nvSpPr>
        <p:spPr>
          <a:xfrm>
            <a:off x="1207008"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npx</a:t>
            </a:r>
            <a:endParaRPr lang="en-US" sz="1250" dirty="0"/>
          </a:p>
        </p:txBody>
      </p:sp>
      <p:sp>
        <p:nvSpPr>
          <p:cNvPr id="57" name="Text 53"/>
          <p:cNvSpPr txBox="1"/>
          <p:nvPr/>
        </p:nvSpPr>
        <p:spPr>
          <a:xfrm>
            <a:off x="1207008"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paket sekali pakai tanpa instalasi permanen.</a:t>
            </a:r>
            <a:endParaRPr lang="en-US" sz="1030" dirty="0"/>
          </a:p>
        </p:txBody>
      </p:sp>
      <p:sp>
        <p:nvSpPr>
          <p:cNvPr id="58" name="Shape 54"/>
          <p:cNvSpPr/>
          <p:nvPr/>
        </p:nvSpPr>
        <p:spPr>
          <a:xfrm>
            <a:off x="4443984" y="5266944"/>
            <a:ext cx="420624" cy="420624"/>
          </a:xfrm>
          <a:prstGeom prst="roundRect">
            <a:avLst>
              <a:gd name="adj" fmla="val 26087"/>
            </a:avLst>
          </a:prstGeom>
          <a:solidFill>
            <a:srgbClr val="E8F2E2"/>
          </a:solidFill>
          <a:ln w="12700">
            <a:solidFill>
              <a:srgbClr val="E8F2E2"/>
            </a:solidFill>
            <a:prstDash val="solid"/>
          </a:ln>
        </p:spPr>
      </p:sp>
      <p:pic>
        <p:nvPicPr>
          <p:cNvPr id="59" name="Image 2" descr="preencoded.png">    </p:cNvPr>
          <p:cNvPicPr>
            <a:picLocks noChangeAspect="1"/>
          </p:cNvPicPr>
          <p:nvPr/>
        </p:nvPicPr>
        <p:blipFill>
          <a:blip r:embed="rId3"/>
          <a:stretch>
            <a:fillRect/>
          </a:stretch>
        </p:blipFill>
        <p:spPr>
          <a:xfrm>
            <a:off x="4549140" y="5372100"/>
            <a:ext cx="210312" cy="210312"/>
          </a:xfrm>
          <a:prstGeom prst="rect">
            <a:avLst/>
          </a:prstGeom>
        </p:spPr>
      </p:pic>
      <p:sp>
        <p:nvSpPr>
          <p:cNvPr id="60" name="Text 55"/>
          <p:cNvSpPr txBox="1"/>
          <p:nvPr/>
        </p:nvSpPr>
        <p:spPr>
          <a:xfrm>
            <a:off x="5010912"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package-lock.json</a:t>
            </a:r>
            <a:endParaRPr lang="en-US" sz="1250" dirty="0"/>
          </a:p>
        </p:txBody>
      </p:sp>
      <p:sp>
        <p:nvSpPr>
          <p:cNvPr id="61" name="Text 56"/>
          <p:cNvSpPr txBox="1"/>
          <p:nvPr/>
        </p:nvSpPr>
        <p:spPr>
          <a:xfrm>
            <a:off x="5010912"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Mengunci versi persis dependensi. Sertakan ke dalam Git.</a:t>
            </a:r>
            <a:endParaRPr lang="en-US" sz="1030" dirty="0"/>
          </a:p>
        </p:txBody>
      </p:sp>
      <p:sp>
        <p:nvSpPr>
          <p:cNvPr id="62" name="Shape 57"/>
          <p:cNvSpPr/>
          <p:nvPr/>
        </p:nvSpPr>
        <p:spPr>
          <a:xfrm>
            <a:off x="8247888" y="5266944"/>
            <a:ext cx="420624" cy="420624"/>
          </a:xfrm>
          <a:prstGeom prst="roundRect">
            <a:avLst>
              <a:gd name="adj" fmla="val 26087"/>
            </a:avLst>
          </a:prstGeom>
          <a:solidFill>
            <a:srgbClr val="E8F2E2"/>
          </a:solidFill>
          <a:ln w="12700">
            <a:solidFill>
              <a:srgbClr val="E8F2E2"/>
            </a:solidFill>
            <a:prstDash val="solid"/>
          </a:ln>
        </p:spPr>
      </p:sp>
      <p:pic>
        <p:nvPicPr>
          <p:cNvPr id="63" name="Image 3" descr="preencoded.png">    </p:cNvPr>
          <p:cNvPicPr>
            <a:picLocks noChangeAspect="1"/>
          </p:cNvPicPr>
          <p:nvPr/>
        </p:nvPicPr>
        <p:blipFill>
          <a:blip r:embed="rId4"/>
          <a:stretch>
            <a:fillRect/>
          </a:stretch>
        </p:blipFill>
        <p:spPr>
          <a:xfrm>
            <a:off x="8353044" y="5372100"/>
            <a:ext cx="210312" cy="210312"/>
          </a:xfrm>
          <a:prstGeom prst="rect">
            <a:avLst/>
          </a:prstGeom>
        </p:spPr>
      </p:pic>
      <p:sp>
        <p:nvSpPr>
          <p:cNvPr id="64" name="Text 58"/>
          <p:cNvSpPr txBox="1"/>
          <p:nvPr/>
        </p:nvSpPr>
        <p:spPr>
          <a:xfrm>
            <a:off x="8814816"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npm ci</a:t>
            </a:r>
            <a:endParaRPr lang="en-US" sz="1250" dirty="0"/>
          </a:p>
        </p:txBody>
      </p:sp>
      <p:sp>
        <p:nvSpPr>
          <p:cNvPr id="65" name="Text 59"/>
          <p:cNvSpPr txBox="1"/>
          <p:nvPr/>
        </p:nvSpPr>
        <p:spPr>
          <a:xfrm>
            <a:off x="8814816"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Instalasi bersih dari lock file. Cocok untuk pipeline CI/CD.</a:t>
            </a:r>
            <a:endParaRPr lang="en-US" sz="1030" dirty="0"/>
          </a:p>
        </p:txBody>
      </p:sp>
      <p:sp>
        <p:nvSpPr>
          <p:cNvPr id="66" name="Text 6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67" name="Text 6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Semantic Versioning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Membaca arti nomor versi agar pembaruan paket tidak merusak aplikasi</a:t>
            </a:r>
            <a:endParaRPr lang="en-US" sz="1300" dirty="0"/>
          </a:p>
        </p:txBody>
      </p:sp>
      <p:sp>
        <p:nvSpPr>
          <p:cNvPr id="6" name="Shape 3"/>
          <p:cNvSpPr/>
          <p:nvPr/>
        </p:nvSpPr>
        <p:spPr>
          <a:xfrm>
            <a:off x="640080" y="1627632"/>
            <a:ext cx="5577840" cy="1737360"/>
          </a:xfrm>
          <a:prstGeom prst="roundRect">
            <a:avLst>
              <a:gd name="adj" fmla="val 4737"/>
            </a:avLst>
          </a:prstGeom>
          <a:solidFill>
            <a:srgbClr val="0B2015"/>
          </a:solidFill>
          <a:ln w="12700">
            <a:solidFill>
              <a:srgbClr val="0B2015"/>
            </a:solidFill>
            <a:prstDash val="solid"/>
          </a:ln>
        </p:spPr>
      </p:sp>
      <p:sp>
        <p:nvSpPr>
          <p:cNvPr id="7" name="Text 4"/>
          <p:cNvSpPr txBox="1"/>
          <p:nvPr/>
        </p:nvSpPr>
        <p:spPr>
          <a:xfrm>
            <a:off x="640080" y="1773936"/>
            <a:ext cx="5577840" cy="731520"/>
          </a:xfrm>
          <a:prstGeom prst="rect">
            <a:avLst/>
          </a:prstGeom>
          <a:noFill/>
          <a:ln/>
        </p:spPr>
        <p:txBody>
          <a:bodyPr wrap="square" lIns="0" tIns="0" rIns="0" bIns="0" rtlCol="0" anchor="ctr"/>
          <a:lstStyle/>
          <a:p>
            <a:pPr algn="ctr" indent="0" marL="0">
              <a:buNone/>
            </a:pPr>
            <a:r>
              <a:rPr lang="en-US" sz="3800" b="1" dirty="0">
                <a:solidFill>
                  <a:srgbClr val="8CC84B"/>
                </a:solidFill>
                <a:latin typeface="Courier New" pitchFamily="34" charset="0"/>
                <a:ea typeface="Courier New" pitchFamily="34" charset="-122"/>
                <a:cs typeface="Courier New" pitchFamily="34" charset="-120"/>
              </a:rPr>
              <a:t>4 . 19 . 2</a:t>
            </a:r>
            <a:endParaRPr lang="en-US" sz="3800" dirty="0"/>
          </a:p>
        </p:txBody>
      </p:sp>
      <p:sp>
        <p:nvSpPr>
          <p:cNvPr id="8" name="Text 5"/>
          <p:cNvSpPr txBox="1"/>
          <p:nvPr/>
        </p:nvSpPr>
        <p:spPr>
          <a:xfrm>
            <a:off x="73152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MAJOR</a:t>
            </a:r>
            <a:endParaRPr lang="en-US" sz="1100" dirty="0"/>
          </a:p>
        </p:txBody>
      </p:sp>
      <p:sp>
        <p:nvSpPr>
          <p:cNvPr id="9" name="Text 6"/>
          <p:cNvSpPr txBox="1"/>
          <p:nvPr/>
        </p:nvSpPr>
        <p:spPr>
          <a:xfrm>
            <a:off x="278892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MINOR</a:t>
            </a:r>
            <a:endParaRPr lang="en-US" sz="1100" dirty="0"/>
          </a:p>
        </p:txBody>
      </p:sp>
      <p:sp>
        <p:nvSpPr>
          <p:cNvPr id="10" name="Text 7"/>
          <p:cNvSpPr txBox="1"/>
          <p:nvPr/>
        </p:nvSpPr>
        <p:spPr>
          <a:xfrm>
            <a:off x="443484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PATCH</a:t>
            </a:r>
            <a:endParaRPr lang="en-US" sz="1100" dirty="0"/>
          </a:p>
        </p:txBody>
      </p:sp>
      <p:sp>
        <p:nvSpPr>
          <p:cNvPr id="11" name="Text 8"/>
          <p:cNvSpPr txBox="1"/>
          <p:nvPr/>
        </p:nvSpPr>
        <p:spPr>
          <a:xfrm>
            <a:off x="914400" y="2871216"/>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MAJOR — </a:t>
            </a:r>
            <a:pPr indent="0" marL="0">
              <a:buNone/>
            </a:pPr>
            <a:r>
              <a:rPr lang="en-US" sz="960" dirty="0">
                <a:solidFill>
                  <a:srgbClr val="BCD6C1"/>
                </a:solidFill>
                <a:latin typeface="Calibri" pitchFamily="34" charset="0"/>
                <a:ea typeface="Calibri" pitchFamily="34" charset="-122"/>
                <a:cs typeface="Calibri" pitchFamily="34" charset="-120"/>
              </a:rPr>
              <a:t>Perubahan yang merusak kompatibilitas</a:t>
            </a:r>
            <a:endParaRPr lang="en-US" sz="960" dirty="0"/>
          </a:p>
        </p:txBody>
      </p:sp>
      <p:sp>
        <p:nvSpPr>
          <p:cNvPr id="12" name="Text 9"/>
          <p:cNvSpPr txBox="1"/>
          <p:nvPr/>
        </p:nvSpPr>
        <p:spPr>
          <a:xfrm>
            <a:off x="914400" y="3044952"/>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MINOR — </a:t>
            </a:r>
            <a:pPr indent="0" marL="0">
              <a:buNone/>
            </a:pPr>
            <a:r>
              <a:rPr lang="en-US" sz="960" dirty="0">
                <a:solidFill>
                  <a:srgbClr val="BCD6C1"/>
                </a:solidFill>
                <a:latin typeface="Calibri" pitchFamily="34" charset="0"/>
                <a:ea typeface="Calibri" pitchFamily="34" charset="-122"/>
                <a:cs typeface="Calibri" pitchFamily="34" charset="-120"/>
              </a:rPr>
              <a:t>Fitur baru namun tetap kompatibel</a:t>
            </a:r>
            <a:endParaRPr lang="en-US" sz="960" dirty="0"/>
          </a:p>
        </p:txBody>
      </p:sp>
      <p:sp>
        <p:nvSpPr>
          <p:cNvPr id="13" name="Text 10"/>
          <p:cNvSpPr txBox="1"/>
          <p:nvPr/>
        </p:nvSpPr>
        <p:spPr>
          <a:xfrm>
            <a:off x="914400" y="3218688"/>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PATCH — </a:t>
            </a:r>
            <a:pPr indent="0" marL="0">
              <a:buNone/>
            </a:pPr>
            <a:r>
              <a:rPr lang="en-US" sz="960" dirty="0">
                <a:solidFill>
                  <a:srgbClr val="BCD6C1"/>
                </a:solidFill>
                <a:latin typeface="Calibri" pitchFamily="34" charset="0"/>
                <a:ea typeface="Calibri" pitchFamily="34" charset="-122"/>
                <a:cs typeface="Calibri" pitchFamily="34" charset="-120"/>
              </a:rPr>
              <a:t>Perbaikan bug tanpa fitur baru</a:t>
            </a:r>
            <a:endParaRPr lang="en-US" sz="960" dirty="0"/>
          </a:p>
        </p:txBody>
      </p:sp>
      <p:sp>
        <p:nvSpPr>
          <p:cNvPr id="14" name="Shape 11"/>
          <p:cNvSpPr/>
          <p:nvPr/>
        </p:nvSpPr>
        <p:spPr>
          <a:xfrm>
            <a:off x="6492240" y="1627632"/>
            <a:ext cx="5120640" cy="438912"/>
          </a:xfrm>
          <a:prstGeom prst="roundRect">
            <a:avLst>
              <a:gd name="adj" fmla="val 10417"/>
            </a:avLst>
          </a:prstGeom>
          <a:solidFill>
            <a:srgbClr val="0B2015"/>
          </a:solidFill>
          <a:ln w="12700">
            <a:solidFill>
              <a:srgbClr val="0B2015"/>
            </a:solidFill>
            <a:prstDash val="solid"/>
          </a:ln>
        </p:spPr>
      </p:sp>
      <p:sp>
        <p:nvSpPr>
          <p:cNvPr id="15" name="Text 12"/>
          <p:cNvSpPr txBox="1"/>
          <p:nvPr/>
        </p:nvSpPr>
        <p:spPr>
          <a:xfrm>
            <a:off x="6693408" y="1627632"/>
            <a:ext cx="1572768"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Notasi</a:t>
            </a:r>
            <a:endParaRPr lang="en-US" sz="1050" dirty="0"/>
          </a:p>
        </p:txBody>
      </p:sp>
      <p:sp>
        <p:nvSpPr>
          <p:cNvPr id="16" name="Text 13"/>
          <p:cNvSpPr txBox="1"/>
          <p:nvPr/>
        </p:nvSpPr>
        <p:spPr>
          <a:xfrm>
            <a:off x="8321040" y="1627632"/>
            <a:ext cx="310896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Versi yang diizinkan</a:t>
            </a:r>
            <a:endParaRPr lang="en-US" sz="1050" dirty="0"/>
          </a:p>
        </p:txBody>
      </p:sp>
      <p:sp>
        <p:nvSpPr>
          <p:cNvPr id="17" name="Shape 14"/>
          <p:cNvSpPr/>
          <p:nvPr/>
        </p:nvSpPr>
        <p:spPr>
          <a:xfrm>
            <a:off x="6492240" y="2112264"/>
            <a:ext cx="5120640" cy="438912"/>
          </a:xfrm>
          <a:prstGeom prst="roundRect">
            <a:avLst>
              <a:gd name="adj" fmla="val 10417"/>
            </a:avLst>
          </a:prstGeom>
          <a:solidFill>
            <a:srgbClr val="FFFFFF"/>
          </a:solidFill>
          <a:ln w="12700">
            <a:solidFill>
              <a:srgbClr val="E3EBDF"/>
            </a:solidFill>
            <a:prstDash val="solid"/>
          </a:ln>
        </p:spPr>
      </p:sp>
      <p:sp>
        <p:nvSpPr>
          <p:cNvPr id="18" name="Text 15"/>
          <p:cNvSpPr txBox="1"/>
          <p:nvPr/>
        </p:nvSpPr>
        <p:spPr>
          <a:xfrm>
            <a:off x="6693408" y="2112264"/>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19" name="Text 16"/>
          <p:cNvSpPr txBox="1"/>
          <p:nvPr/>
        </p:nvSpPr>
        <p:spPr>
          <a:xfrm>
            <a:off x="8321040" y="2112264"/>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Persis versi tersebut, tidak berubah</a:t>
            </a:r>
            <a:endParaRPr lang="en-US" sz="1050" dirty="0"/>
          </a:p>
        </p:txBody>
      </p:sp>
      <p:sp>
        <p:nvSpPr>
          <p:cNvPr id="20" name="Shape 17"/>
          <p:cNvSpPr/>
          <p:nvPr/>
        </p:nvSpPr>
        <p:spPr>
          <a:xfrm>
            <a:off x="6492240" y="2596896"/>
            <a:ext cx="5120640" cy="438912"/>
          </a:xfrm>
          <a:prstGeom prst="roundRect">
            <a:avLst>
              <a:gd name="adj" fmla="val 10417"/>
            </a:avLst>
          </a:prstGeom>
          <a:solidFill>
            <a:srgbClr val="EDF3E9"/>
          </a:solidFill>
          <a:ln w="12700">
            <a:solidFill>
              <a:srgbClr val="E3EBDF"/>
            </a:solidFill>
            <a:prstDash val="solid"/>
          </a:ln>
        </p:spPr>
      </p:sp>
      <p:sp>
        <p:nvSpPr>
          <p:cNvPr id="21" name="Text 18"/>
          <p:cNvSpPr txBox="1"/>
          <p:nvPr/>
        </p:nvSpPr>
        <p:spPr>
          <a:xfrm>
            <a:off x="6693408" y="2596896"/>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22" name="Text 19"/>
          <p:cNvSpPr txBox="1"/>
          <p:nvPr/>
        </p:nvSpPr>
        <p:spPr>
          <a:xfrm>
            <a:off x="8321040" y="2596896"/>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4.19.2 sampai di bawah 5.0.0</a:t>
            </a:r>
            <a:endParaRPr lang="en-US" sz="1050" dirty="0"/>
          </a:p>
        </p:txBody>
      </p:sp>
      <p:sp>
        <p:nvSpPr>
          <p:cNvPr id="23" name="Shape 20"/>
          <p:cNvSpPr/>
          <p:nvPr/>
        </p:nvSpPr>
        <p:spPr>
          <a:xfrm>
            <a:off x="6492240" y="3081528"/>
            <a:ext cx="5120640" cy="438912"/>
          </a:xfrm>
          <a:prstGeom prst="roundRect">
            <a:avLst>
              <a:gd name="adj" fmla="val 10417"/>
            </a:avLst>
          </a:prstGeom>
          <a:solidFill>
            <a:srgbClr val="FFFFFF"/>
          </a:solidFill>
          <a:ln w="12700">
            <a:solidFill>
              <a:srgbClr val="E3EBDF"/>
            </a:solidFill>
            <a:prstDash val="solid"/>
          </a:ln>
        </p:spPr>
      </p:sp>
      <p:sp>
        <p:nvSpPr>
          <p:cNvPr id="24" name="Text 21"/>
          <p:cNvSpPr txBox="1"/>
          <p:nvPr/>
        </p:nvSpPr>
        <p:spPr>
          <a:xfrm>
            <a:off x="6693408" y="3081528"/>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25" name="Text 22"/>
          <p:cNvSpPr txBox="1"/>
          <p:nvPr/>
        </p:nvSpPr>
        <p:spPr>
          <a:xfrm>
            <a:off x="8321040" y="3081528"/>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4.19.2 sampai di bawah 4.20.0</a:t>
            </a:r>
            <a:endParaRPr lang="en-US" sz="1050" dirty="0"/>
          </a:p>
        </p:txBody>
      </p:sp>
      <p:sp>
        <p:nvSpPr>
          <p:cNvPr id="26" name="Shape 23"/>
          <p:cNvSpPr/>
          <p:nvPr/>
        </p:nvSpPr>
        <p:spPr>
          <a:xfrm>
            <a:off x="6492240" y="3566160"/>
            <a:ext cx="5120640" cy="438912"/>
          </a:xfrm>
          <a:prstGeom prst="roundRect">
            <a:avLst>
              <a:gd name="adj" fmla="val 10417"/>
            </a:avLst>
          </a:prstGeom>
          <a:solidFill>
            <a:srgbClr val="EDF3E9"/>
          </a:solidFill>
          <a:ln w="12700">
            <a:solidFill>
              <a:srgbClr val="E3EBDF"/>
            </a:solidFill>
            <a:prstDash val="solid"/>
          </a:ln>
        </p:spPr>
      </p:sp>
      <p:sp>
        <p:nvSpPr>
          <p:cNvPr id="27" name="Text 24"/>
          <p:cNvSpPr txBox="1"/>
          <p:nvPr/>
        </p:nvSpPr>
        <p:spPr>
          <a:xfrm>
            <a:off x="6693408" y="3566160"/>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latest</a:t>
            </a:r>
            <a:endParaRPr lang="en-US" sz="1050" dirty="0"/>
          </a:p>
        </p:txBody>
      </p:sp>
      <p:sp>
        <p:nvSpPr>
          <p:cNvPr id="28" name="Text 25"/>
          <p:cNvSpPr txBox="1"/>
          <p:nvPr/>
        </p:nvSpPr>
        <p:spPr>
          <a:xfrm>
            <a:off x="8321040" y="3566160"/>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Selalu versi terbaru, berisiko tinggi</a:t>
            </a:r>
            <a:endParaRPr lang="en-US" sz="1050" dirty="0"/>
          </a:p>
        </p:txBody>
      </p:sp>
      <p:sp>
        <p:nvSpPr>
          <p:cNvPr id="29" name="Shape 26"/>
          <p:cNvSpPr/>
          <p:nvPr/>
        </p:nvSpPr>
        <p:spPr>
          <a:xfrm>
            <a:off x="640080"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0" name="Shape 27"/>
          <p:cNvSpPr/>
          <p:nvPr/>
        </p:nvSpPr>
        <p:spPr>
          <a:xfrm>
            <a:off x="896112" y="4133088"/>
            <a:ext cx="457200" cy="457200"/>
          </a:xfrm>
          <a:prstGeom prst="roundRect">
            <a:avLst>
              <a:gd name="adj" fmla="val 26000"/>
            </a:avLst>
          </a:prstGeom>
          <a:solidFill>
            <a:srgbClr val="E8F2E2"/>
          </a:solidFill>
          <a:ln w="12700">
            <a:solidFill>
              <a:srgbClr val="E8F2E2"/>
            </a:solidFill>
            <a:prstDash val="solid"/>
          </a:ln>
        </p:spPr>
      </p:sp>
      <p:pic>
        <p:nvPicPr>
          <p:cNvPr id="31" name="Image 1" descr="preencoded.png">    </p:cNvPr>
          <p:cNvPicPr>
            <a:picLocks noChangeAspect="1"/>
          </p:cNvPicPr>
          <p:nvPr/>
        </p:nvPicPr>
        <p:blipFill>
          <a:blip r:embed="rId2"/>
          <a:stretch>
            <a:fillRect/>
          </a:stretch>
        </p:blipFill>
        <p:spPr>
          <a:xfrm>
            <a:off x="1010412" y="4247388"/>
            <a:ext cx="228600" cy="228600"/>
          </a:xfrm>
          <a:prstGeom prst="rect">
            <a:avLst/>
          </a:prstGeom>
        </p:spPr>
      </p:pic>
      <p:sp>
        <p:nvSpPr>
          <p:cNvPr id="32" name="Text 28"/>
          <p:cNvSpPr txBox="1"/>
          <p:nvPr/>
        </p:nvSpPr>
        <p:spPr>
          <a:xfrm>
            <a:off x="1499616"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Tanda Sisipan (^)</a:t>
            </a:r>
            <a:endParaRPr lang="en-US" sz="1250" dirty="0"/>
          </a:p>
        </p:txBody>
      </p:sp>
      <p:sp>
        <p:nvSpPr>
          <p:cNvPr id="33" name="Text 29"/>
          <p:cNvSpPr txBox="1"/>
          <p:nvPr/>
        </p:nvSpPr>
        <p:spPr>
          <a:xfrm>
            <a:off x="896112"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Bawaan NPM. Mengizinkan pembaruan minor dan patch, sehingga fitur baru masuk tanpa merusak kode.</a:t>
            </a:r>
            <a:endParaRPr lang="en-US" sz="1050" dirty="0"/>
          </a:p>
        </p:txBody>
      </p:sp>
      <p:sp>
        <p:nvSpPr>
          <p:cNvPr id="34" name="Shape 30"/>
          <p:cNvSpPr/>
          <p:nvPr/>
        </p:nvSpPr>
        <p:spPr>
          <a:xfrm>
            <a:off x="4443984"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5" name="Shape 31"/>
          <p:cNvSpPr/>
          <p:nvPr/>
        </p:nvSpPr>
        <p:spPr>
          <a:xfrm>
            <a:off x="4700016" y="4133088"/>
            <a:ext cx="457200" cy="457200"/>
          </a:xfrm>
          <a:prstGeom prst="roundRect">
            <a:avLst>
              <a:gd name="adj" fmla="val 26000"/>
            </a:avLst>
          </a:prstGeom>
          <a:solidFill>
            <a:srgbClr val="E5EEFB"/>
          </a:solidFill>
          <a:ln w="12700">
            <a:solidFill>
              <a:srgbClr val="E5EEFB"/>
            </a:solidFill>
            <a:prstDash val="solid"/>
          </a:ln>
        </p:spPr>
      </p:sp>
      <p:pic>
        <p:nvPicPr>
          <p:cNvPr id="36" name="Image 2" descr="preencoded.png">    </p:cNvPr>
          <p:cNvPicPr>
            <a:picLocks noChangeAspect="1"/>
          </p:cNvPicPr>
          <p:nvPr/>
        </p:nvPicPr>
        <p:blipFill>
          <a:blip r:embed="rId3"/>
          <a:stretch>
            <a:fillRect/>
          </a:stretch>
        </p:blipFill>
        <p:spPr>
          <a:xfrm>
            <a:off x="4814316" y="4247388"/>
            <a:ext cx="228600" cy="228600"/>
          </a:xfrm>
          <a:prstGeom prst="rect">
            <a:avLst/>
          </a:prstGeom>
        </p:spPr>
      </p:pic>
      <p:sp>
        <p:nvSpPr>
          <p:cNvPr id="37" name="Text 32"/>
          <p:cNvSpPr txBox="1"/>
          <p:nvPr/>
        </p:nvSpPr>
        <p:spPr>
          <a:xfrm>
            <a:off x="5303520"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Tanda Tilde (~)</a:t>
            </a:r>
            <a:endParaRPr lang="en-US" sz="1250" dirty="0"/>
          </a:p>
        </p:txBody>
      </p:sp>
      <p:sp>
        <p:nvSpPr>
          <p:cNvPr id="38" name="Text 33"/>
          <p:cNvSpPr txBox="1"/>
          <p:nvPr/>
        </p:nvSpPr>
        <p:spPr>
          <a:xfrm>
            <a:off x="4700016"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Hanya mengizinkan pembaruan patch. Pilihan konservatif untuk proyek yang mengutamakan kestabilan.</a:t>
            </a:r>
            <a:endParaRPr lang="en-US" sz="1050" dirty="0"/>
          </a:p>
        </p:txBody>
      </p:sp>
      <p:sp>
        <p:nvSpPr>
          <p:cNvPr id="39" name="Shape 34"/>
          <p:cNvSpPr/>
          <p:nvPr/>
        </p:nvSpPr>
        <p:spPr>
          <a:xfrm>
            <a:off x="8247888"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0" name="Shape 35"/>
          <p:cNvSpPr/>
          <p:nvPr/>
        </p:nvSpPr>
        <p:spPr>
          <a:xfrm>
            <a:off x="8503920" y="4133088"/>
            <a:ext cx="457200" cy="457200"/>
          </a:xfrm>
          <a:prstGeom prst="roundRect">
            <a:avLst>
              <a:gd name="adj" fmla="val 26000"/>
            </a:avLst>
          </a:prstGeom>
          <a:solidFill>
            <a:srgbClr val="FDF3D8"/>
          </a:solidFill>
          <a:ln w="12700">
            <a:solidFill>
              <a:srgbClr val="FDF3D8"/>
            </a:solidFill>
            <a:prstDash val="solid"/>
          </a:ln>
        </p:spPr>
      </p:sp>
      <p:pic>
        <p:nvPicPr>
          <p:cNvPr id="41" name="Image 3" descr="preencoded.png">    </p:cNvPr>
          <p:cNvPicPr>
            <a:picLocks noChangeAspect="1"/>
          </p:cNvPicPr>
          <p:nvPr/>
        </p:nvPicPr>
        <p:blipFill>
          <a:blip r:embed="rId4"/>
          <a:stretch>
            <a:fillRect/>
          </a:stretch>
        </p:blipFill>
        <p:spPr>
          <a:xfrm>
            <a:off x="8618220" y="4247388"/>
            <a:ext cx="228600" cy="228600"/>
          </a:xfrm>
          <a:prstGeom prst="rect">
            <a:avLst/>
          </a:prstGeom>
        </p:spPr>
      </p:pic>
      <p:sp>
        <p:nvSpPr>
          <p:cNvPr id="42" name="Text 36"/>
          <p:cNvSpPr txBox="1"/>
          <p:nvPr/>
        </p:nvSpPr>
        <p:spPr>
          <a:xfrm>
            <a:off x="9107424"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Versi Pra-rilis</a:t>
            </a:r>
            <a:endParaRPr lang="en-US" sz="1250" dirty="0"/>
          </a:p>
        </p:txBody>
      </p:sp>
      <p:sp>
        <p:nvSpPr>
          <p:cNvPr id="43" name="Text 37"/>
          <p:cNvSpPr txBox="1"/>
          <p:nvPr/>
        </p:nvSpPr>
        <p:spPr>
          <a:xfrm>
            <a:off x="8503920"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Akhiran seperti 5.0.0-beta.1 menandakan versi uji coba yang belum layak dipakai di produksi.</a:t>
            </a:r>
            <a:endParaRPr lang="en-US" sz="1050" dirty="0"/>
          </a:p>
        </p:txBody>
      </p:sp>
      <p:sp>
        <p:nvSpPr>
          <p:cNvPr id="44" name="Text 38"/>
          <p:cNvSpPr txBox="1"/>
          <p:nvPr/>
        </p:nvSpPr>
        <p:spPr>
          <a:xfrm>
            <a:off x="640080" y="5577840"/>
            <a:ext cx="10972800" cy="36576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Jalankan npm outdated untuk melihat paket yang tertinggal, lalu perbarui bertahap dan uji aplikasi setiap kali menaikkan versi MAJOR.</a:t>
            </a:r>
            <a:endParaRPr lang="en-US" sz="1100" dirty="0"/>
          </a:p>
        </p:txBody>
      </p:sp>
      <p:sp>
        <p:nvSpPr>
          <p:cNvPr id="45"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6"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05</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Pemrograman Asinkron</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Menguasai cara Node.js menangani operasi yang membutuhkan waktu, dari callback klasik hingga async/await modern.</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Callback, callback hell, dan cara menghindarinya</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Promise beserta tiga keadaannya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Async/await, EventEmitter, Stream, dan Buffer</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Callback dan Callback Hell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Pola asinkron paling awal di Node.js beserta kelemahannya</a:t>
            </a:r>
            <a:endParaRPr lang="en-US" sz="1300" dirty="0"/>
          </a:p>
        </p:txBody>
      </p:sp>
      <p:sp>
        <p:nvSpPr>
          <p:cNvPr id="6" name="Shape 3"/>
          <p:cNvSpPr/>
          <p:nvPr/>
        </p:nvSpPr>
        <p:spPr>
          <a:xfrm>
            <a:off x="640080" y="1609344"/>
            <a:ext cx="5349240" cy="960120"/>
          </a:xfrm>
          <a:prstGeom prst="roundRect">
            <a:avLst>
              <a:gd name="adj" fmla="val 857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2336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Apa Itu Callback?</a:t>
            </a:r>
            <a:endParaRPr lang="en-US" sz="1300" dirty="0"/>
          </a:p>
        </p:txBody>
      </p:sp>
      <p:sp>
        <p:nvSpPr>
          <p:cNvPr id="10" name="Text 6"/>
          <p:cNvSpPr txBox="1"/>
          <p:nvPr/>
        </p:nvSpPr>
        <p:spPr>
          <a:xfrm>
            <a:off x="896112" y="2395728"/>
            <a:ext cx="4837176" cy="91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Fungsi yang dikirim sebagai argumen ke fungsi lain, lalu dijalankan setelah operasi selesai. Node.js memakai konvensi error-first: argumen pertama selalu berisi error.</a:t>
            </a:r>
            <a:endParaRPr lang="en-US" sz="1080" dirty="0"/>
          </a:p>
        </p:txBody>
      </p:sp>
      <p:sp>
        <p:nvSpPr>
          <p:cNvPr id="11" name="Shape 7"/>
          <p:cNvSpPr/>
          <p:nvPr/>
        </p:nvSpPr>
        <p:spPr>
          <a:xfrm>
            <a:off x="640080" y="2697480"/>
            <a:ext cx="5349240" cy="2097634"/>
          </a:xfrm>
          <a:prstGeom prst="roundRect">
            <a:avLst>
              <a:gd name="adj" fmla="val 3051"/>
            </a:avLst>
          </a:prstGeom>
          <a:solidFill>
            <a:srgbClr val="0E2417"/>
          </a:solidFill>
          <a:ln w="12700">
            <a:solidFill>
              <a:srgbClr val="234A31"/>
            </a:solidFill>
            <a:prstDash val="solid"/>
          </a:ln>
        </p:spPr>
      </p:sp>
      <p:sp>
        <p:nvSpPr>
          <p:cNvPr id="12" name="Text 8"/>
          <p:cNvSpPr txBox="1"/>
          <p:nvPr/>
        </p:nvSpPr>
        <p:spPr>
          <a:xfrm>
            <a:off x="859536" y="2788920"/>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POLA ERROR-FIRST CALLBACK</a:t>
            </a:r>
            <a:endParaRPr lang="en-US" sz="950" dirty="0"/>
          </a:p>
        </p:txBody>
      </p:sp>
      <p:sp>
        <p:nvSpPr>
          <p:cNvPr id="13" name="Text 9"/>
          <p:cNvSpPr txBox="1"/>
          <p:nvPr/>
        </p:nvSpPr>
        <p:spPr>
          <a:xfrm>
            <a:off x="859536" y="3099816"/>
            <a:ext cx="4910328" cy="1585570"/>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 data) =&gt;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.error(</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'Gagal membaca:'</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err.message);</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'Isi berkas:'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data);</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p:txBody>
      </p:sp>
      <p:sp>
        <p:nvSpPr>
          <p:cNvPr id="14" name="Shape 10"/>
          <p:cNvSpPr/>
          <p:nvPr/>
        </p:nvSpPr>
        <p:spPr>
          <a:xfrm>
            <a:off x="6263640" y="1609344"/>
            <a:ext cx="5349240" cy="402336"/>
          </a:xfrm>
          <a:prstGeom prst="roundRect">
            <a:avLst>
              <a:gd name="adj" fmla="val 18182"/>
            </a:avLst>
          </a:prstGeom>
          <a:solidFill>
            <a:srgbClr val="C0392B"/>
          </a:solidFill>
          <a:ln w="12700">
            <a:solidFill>
              <a:srgbClr val="C0392B"/>
            </a:solidFill>
            <a:prstDash val="solid"/>
          </a:ln>
        </p:spPr>
      </p:sp>
      <p:sp>
        <p:nvSpPr>
          <p:cNvPr id="15" name="Text 11"/>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Callback Hell — Piramida Kesengsaraan</a:t>
            </a:r>
            <a:endParaRPr lang="en-US" sz="1250" dirty="0"/>
          </a:p>
        </p:txBody>
      </p:sp>
      <p:sp>
        <p:nvSpPr>
          <p:cNvPr id="16" name="Shape 12"/>
          <p:cNvSpPr/>
          <p:nvPr/>
        </p:nvSpPr>
        <p:spPr>
          <a:xfrm>
            <a:off x="6263640" y="2121408"/>
            <a:ext cx="5349240" cy="2274040"/>
          </a:xfrm>
          <a:prstGeom prst="roundRect">
            <a:avLst>
              <a:gd name="adj" fmla="val 2815"/>
            </a:avLst>
          </a:prstGeom>
          <a:solidFill>
            <a:srgbClr val="0E2417"/>
          </a:solidFill>
          <a:ln w="12700">
            <a:solidFill>
              <a:srgbClr val="234A31"/>
            </a:solidFill>
            <a:prstDash val="solid"/>
          </a:ln>
        </p:spPr>
      </p:sp>
      <p:sp>
        <p:nvSpPr>
          <p:cNvPr id="17" name="Text 13"/>
          <p:cNvSpPr txBox="1"/>
          <p:nvPr/>
        </p:nvSpPr>
        <p:spPr>
          <a:xfrm>
            <a:off x="6483096" y="2322576"/>
            <a:ext cx="4910328" cy="196314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ambilPengguna(id, (err, user)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ambilPesanan(user, (err, pesanan)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ambilProduk(pesanan, (err, produk)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hitungTotal(produk, (err, total)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kirimEmail(total, (err, hasil)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8" name="Shape 14"/>
          <p:cNvSpPr/>
          <p:nvPr/>
        </p:nvSpPr>
        <p:spPr>
          <a:xfrm>
            <a:off x="640080"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5"/>
          <p:cNvSpPr/>
          <p:nvPr/>
        </p:nvSpPr>
        <p:spPr>
          <a:xfrm>
            <a:off x="896112" y="5157216"/>
            <a:ext cx="457200" cy="457200"/>
          </a:xfrm>
          <a:prstGeom prst="roundRect">
            <a:avLst>
              <a:gd name="adj" fmla="val 26000"/>
            </a:avLst>
          </a:prstGeom>
          <a:solidFill>
            <a:srgbClr val="FBE9E7"/>
          </a:solidFill>
          <a:ln w="12700">
            <a:solidFill>
              <a:srgbClr val="FBE9E7"/>
            </a:solidFill>
            <a:prstDash val="solid"/>
          </a:ln>
        </p:spPr>
      </p:sp>
      <p:pic>
        <p:nvPicPr>
          <p:cNvPr id="20" name="Image 2" descr="preencoded.png">    </p:cNvPr>
          <p:cNvPicPr>
            <a:picLocks noChangeAspect="1"/>
          </p:cNvPicPr>
          <p:nvPr/>
        </p:nvPicPr>
        <p:blipFill>
          <a:blip r:embed="rId3"/>
          <a:stretch>
            <a:fillRect/>
          </a:stretch>
        </p:blipFill>
        <p:spPr>
          <a:xfrm>
            <a:off x="1010412" y="5271516"/>
            <a:ext cx="228600" cy="228600"/>
          </a:xfrm>
          <a:prstGeom prst="rect">
            <a:avLst/>
          </a:prstGeom>
        </p:spPr>
      </p:pic>
      <p:sp>
        <p:nvSpPr>
          <p:cNvPr id="21" name="Text 16"/>
          <p:cNvSpPr txBox="1"/>
          <p:nvPr/>
        </p:nvSpPr>
        <p:spPr>
          <a:xfrm>
            <a:off x="1499616"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Sulit Dibaca</a:t>
            </a:r>
            <a:endParaRPr lang="en-US" sz="1250" dirty="0"/>
          </a:p>
        </p:txBody>
      </p:sp>
      <p:sp>
        <p:nvSpPr>
          <p:cNvPr id="22" name="Text 17"/>
          <p:cNvSpPr txBox="1"/>
          <p:nvPr/>
        </p:nvSpPr>
        <p:spPr>
          <a:xfrm>
            <a:off x="896112"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Indentasi makin dalam sehingga alur program sukar diikuti.</a:t>
            </a:r>
            <a:endParaRPr lang="en-US" sz="1030" dirty="0"/>
          </a:p>
        </p:txBody>
      </p:sp>
      <p:sp>
        <p:nvSpPr>
          <p:cNvPr id="23" name="Shape 18"/>
          <p:cNvSpPr/>
          <p:nvPr/>
        </p:nvSpPr>
        <p:spPr>
          <a:xfrm>
            <a:off x="4443984"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4" name="Shape 19"/>
          <p:cNvSpPr/>
          <p:nvPr/>
        </p:nvSpPr>
        <p:spPr>
          <a:xfrm>
            <a:off x="4700016" y="5157216"/>
            <a:ext cx="457200" cy="457200"/>
          </a:xfrm>
          <a:prstGeom prst="roundRect">
            <a:avLst>
              <a:gd name="adj" fmla="val 26000"/>
            </a:avLst>
          </a:prstGeom>
          <a:solidFill>
            <a:srgbClr val="FBE9E7"/>
          </a:solidFill>
          <a:ln w="12700">
            <a:solidFill>
              <a:srgbClr val="FBE9E7"/>
            </a:solidFill>
            <a:prstDash val="solid"/>
          </a:ln>
        </p:spPr>
      </p:sp>
      <p:pic>
        <p:nvPicPr>
          <p:cNvPr id="25" name="Image 3" descr="preencoded.png">    </p:cNvPr>
          <p:cNvPicPr>
            <a:picLocks noChangeAspect="1"/>
          </p:cNvPicPr>
          <p:nvPr/>
        </p:nvPicPr>
        <p:blipFill>
          <a:blip r:embed="rId4"/>
          <a:stretch>
            <a:fillRect/>
          </a:stretch>
        </p:blipFill>
        <p:spPr>
          <a:xfrm>
            <a:off x="4814316" y="5271516"/>
            <a:ext cx="228600" cy="228600"/>
          </a:xfrm>
          <a:prstGeom prst="rect">
            <a:avLst/>
          </a:prstGeom>
        </p:spPr>
      </p:pic>
      <p:sp>
        <p:nvSpPr>
          <p:cNvPr id="26" name="Text 20"/>
          <p:cNvSpPr txBox="1"/>
          <p:nvPr/>
        </p:nvSpPr>
        <p:spPr>
          <a:xfrm>
            <a:off x="5303520"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Error Berulang</a:t>
            </a:r>
            <a:endParaRPr lang="en-US" sz="1250" dirty="0"/>
          </a:p>
        </p:txBody>
      </p:sp>
      <p:sp>
        <p:nvSpPr>
          <p:cNvPr id="27" name="Text 21"/>
          <p:cNvSpPr txBox="1"/>
          <p:nvPr/>
        </p:nvSpPr>
        <p:spPr>
          <a:xfrm>
            <a:off x="4700016"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Tiap tingkat memeriksa error terpisah dan mudah terlewat.</a:t>
            </a:r>
            <a:endParaRPr lang="en-US" sz="1030" dirty="0"/>
          </a:p>
        </p:txBody>
      </p:sp>
      <p:sp>
        <p:nvSpPr>
          <p:cNvPr id="28" name="Shape 22"/>
          <p:cNvSpPr/>
          <p:nvPr/>
        </p:nvSpPr>
        <p:spPr>
          <a:xfrm>
            <a:off x="8247888"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9" name="Shape 23"/>
          <p:cNvSpPr/>
          <p:nvPr/>
        </p:nvSpPr>
        <p:spPr>
          <a:xfrm>
            <a:off x="8503920" y="5157216"/>
            <a:ext cx="457200" cy="457200"/>
          </a:xfrm>
          <a:prstGeom prst="roundRect">
            <a:avLst>
              <a:gd name="adj" fmla="val 26000"/>
            </a:avLst>
          </a:prstGeom>
          <a:solidFill>
            <a:srgbClr val="E8F2E2"/>
          </a:solidFill>
          <a:ln w="12700">
            <a:solidFill>
              <a:srgbClr val="E8F2E2"/>
            </a:solidFill>
            <a:prstDash val="solid"/>
          </a:ln>
        </p:spPr>
      </p:sp>
      <p:pic>
        <p:nvPicPr>
          <p:cNvPr id="30" name="Image 4" descr="preencoded.png">    </p:cNvPr>
          <p:cNvPicPr>
            <a:picLocks noChangeAspect="1"/>
          </p:cNvPicPr>
          <p:nvPr/>
        </p:nvPicPr>
        <p:blipFill>
          <a:blip r:embed="rId5"/>
          <a:stretch>
            <a:fillRect/>
          </a:stretch>
        </p:blipFill>
        <p:spPr>
          <a:xfrm>
            <a:off x="8618220" y="5271516"/>
            <a:ext cx="228600" cy="228600"/>
          </a:xfrm>
          <a:prstGeom prst="rect">
            <a:avLst/>
          </a:prstGeom>
        </p:spPr>
      </p:pic>
      <p:sp>
        <p:nvSpPr>
          <p:cNvPr id="31" name="Text 24"/>
          <p:cNvSpPr txBox="1"/>
          <p:nvPr/>
        </p:nvSpPr>
        <p:spPr>
          <a:xfrm>
            <a:off x="9107424"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Solusinya</a:t>
            </a:r>
            <a:endParaRPr lang="en-US" sz="1250" dirty="0"/>
          </a:p>
        </p:txBody>
      </p:sp>
      <p:sp>
        <p:nvSpPr>
          <p:cNvPr id="32" name="Text 25"/>
          <p:cNvSpPr txBox="1"/>
          <p:nvPr/>
        </p:nvSpPr>
        <p:spPr>
          <a:xfrm>
            <a:off x="8503920"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Pakai Promise atau async/await agar kode kembali mendatar.</a:t>
            </a:r>
            <a:endParaRPr lang="en-US" sz="1030" dirty="0"/>
          </a:p>
        </p:txBody>
      </p:sp>
      <p:sp>
        <p:nvSpPr>
          <p:cNvPr id="33" name="Text 26"/>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4" name="Text 27"/>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Promise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Objek yang mewakili hasil operasi asinkron di masa depan</a:t>
            </a:r>
            <a:endParaRPr lang="en-US" sz="1300" dirty="0"/>
          </a:p>
        </p:txBody>
      </p:sp>
      <p:sp>
        <p:nvSpPr>
          <p:cNvPr id="6" name="Shape 3"/>
          <p:cNvSpPr/>
          <p:nvPr/>
        </p:nvSpPr>
        <p:spPr>
          <a:xfrm>
            <a:off x="640080"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FDF3D8"/>
          </a:solidFill>
          <a:ln w="12700">
            <a:solidFill>
              <a:srgbClr val="FDF3D8"/>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Pending</a:t>
            </a:r>
            <a:endParaRPr lang="en-US" sz="1300" dirty="0"/>
          </a:p>
        </p:txBody>
      </p:sp>
      <p:sp>
        <p:nvSpPr>
          <p:cNvPr id="10" name="Text 6"/>
          <p:cNvSpPr txBox="1"/>
          <p:nvPr/>
        </p:nvSpPr>
        <p:spPr>
          <a:xfrm>
            <a:off x="896112"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masih berjalan, hasil belum tersedia.</a:t>
            </a:r>
            <a:endParaRPr lang="en-US" sz="1080" dirty="0"/>
          </a:p>
        </p:txBody>
      </p:sp>
      <p:sp>
        <p:nvSpPr>
          <p:cNvPr id="11" name="Shape 7"/>
          <p:cNvSpPr/>
          <p:nvPr/>
        </p:nvSpPr>
        <p:spPr>
          <a:xfrm>
            <a:off x="4443984"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4" name="Text 9"/>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Fulfilled</a:t>
            </a:r>
            <a:endParaRPr lang="en-US" sz="1300" dirty="0"/>
          </a:p>
        </p:txBody>
      </p:sp>
      <p:sp>
        <p:nvSpPr>
          <p:cNvPr id="15" name="Text 10"/>
          <p:cNvSpPr txBox="1"/>
          <p:nvPr/>
        </p:nvSpPr>
        <p:spPr>
          <a:xfrm>
            <a:off x="4700016"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berhasil dan menghasilkan sebuah nilai.</a:t>
            </a:r>
            <a:endParaRPr lang="en-US" sz="1080" dirty="0"/>
          </a:p>
        </p:txBody>
      </p:sp>
      <p:sp>
        <p:nvSpPr>
          <p:cNvPr id="16" name="Shape 11"/>
          <p:cNvSpPr/>
          <p:nvPr/>
        </p:nvSpPr>
        <p:spPr>
          <a:xfrm>
            <a:off x="8247888"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28800"/>
            <a:ext cx="457200" cy="457200"/>
          </a:xfrm>
          <a:prstGeom prst="roundRect">
            <a:avLst>
              <a:gd name="adj" fmla="val 26000"/>
            </a:avLst>
          </a:prstGeom>
          <a:solidFill>
            <a:srgbClr val="FBE9E7"/>
          </a:solidFill>
          <a:ln w="12700">
            <a:solidFill>
              <a:srgbClr val="FBE9E7"/>
            </a:solidFill>
            <a:prstDash val="solid"/>
          </a:ln>
        </p:spPr>
      </p:sp>
      <p:pic>
        <p:nvPicPr>
          <p:cNvPr id="18"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19" name="Text 13"/>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Rejected</a:t>
            </a:r>
            <a:endParaRPr lang="en-US" sz="1300" dirty="0"/>
          </a:p>
        </p:txBody>
      </p:sp>
      <p:sp>
        <p:nvSpPr>
          <p:cNvPr id="20" name="Text 14"/>
          <p:cNvSpPr txBox="1"/>
          <p:nvPr/>
        </p:nvSpPr>
        <p:spPr>
          <a:xfrm>
            <a:off x="8503920"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gagal dan menghasilkan sebuah error.</a:t>
            </a:r>
            <a:endParaRPr lang="en-US" sz="1080" dirty="0"/>
          </a:p>
        </p:txBody>
      </p:sp>
      <p:sp>
        <p:nvSpPr>
          <p:cNvPr id="21" name="Shape 15"/>
          <p:cNvSpPr/>
          <p:nvPr/>
        </p:nvSpPr>
        <p:spPr>
          <a:xfrm>
            <a:off x="640080" y="2926080"/>
            <a:ext cx="5577840" cy="2822168"/>
          </a:xfrm>
          <a:prstGeom prst="roundRect">
            <a:avLst>
              <a:gd name="adj" fmla="val 2268"/>
            </a:avLst>
          </a:prstGeom>
          <a:solidFill>
            <a:srgbClr val="0E2417"/>
          </a:solidFill>
          <a:ln w="12700">
            <a:solidFill>
              <a:srgbClr val="234A31"/>
            </a:solidFill>
            <a:prstDash val="solid"/>
          </a:ln>
        </p:spPr>
      </p:sp>
      <p:sp>
        <p:nvSpPr>
          <p:cNvPr id="22" name="Text 16"/>
          <p:cNvSpPr txBox="1"/>
          <p:nvPr/>
        </p:nvSpPr>
        <p:spPr>
          <a:xfrm>
            <a:off x="859536" y="3017520"/>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DAN MEMAKAI PROMISE</a:t>
            </a:r>
            <a:endParaRPr lang="en-US" sz="950" dirty="0"/>
          </a:p>
        </p:txBody>
      </p:sp>
      <p:sp>
        <p:nvSpPr>
          <p:cNvPr id="23" name="Text 17"/>
          <p:cNvSpPr txBox="1"/>
          <p:nvPr/>
        </p:nvSpPr>
        <p:spPr>
          <a:xfrm>
            <a:off x="859536" y="3328416"/>
            <a:ext cx="5138928" cy="231010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ambilData(id)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((resolve, reject)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setTimeout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(id &gt;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resolve({ id,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reject(</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'ID tidak valid'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ambilData(</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.then(user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.log(user.nama))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.error(err.message))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finally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4" name="Shape 18"/>
          <p:cNvSpPr/>
          <p:nvPr/>
        </p:nvSpPr>
        <p:spPr>
          <a:xfrm>
            <a:off x="6492240" y="2926080"/>
            <a:ext cx="5120640" cy="2648688"/>
          </a:xfrm>
          <a:prstGeom prst="roundRect">
            <a:avLst>
              <a:gd name="adj" fmla="val 2417"/>
            </a:avLst>
          </a:prstGeom>
          <a:solidFill>
            <a:srgbClr val="0E2417"/>
          </a:solidFill>
          <a:ln w="12700">
            <a:solidFill>
              <a:srgbClr val="234A31"/>
            </a:solidFill>
            <a:prstDash val="solid"/>
          </a:ln>
        </p:spPr>
      </p:sp>
      <p:sp>
        <p:nvSpPr>
          <p:cNvPr id="25" name="Text 19"/>
          <p:cNvSpPr txBox="1"/>
          <p:nvPr/>
        </p:nvSpPr>
        <p:spPr>
          <a:xfrm>
            <a:off x="6711696" y="3017520"/>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METODE STATIS PROMISE</a:t>
            </a:r>
            <a:endParaRPr lang="en-US" sz="950" dirty="0"/>
          </a:p>
        </p:txBody>
      </p:sp>
      <p:sp>
        <p:nvSpPr>
          <p:cNvPr id="26" name="Text 20"/>
          <p:cNvSpPr txBox="1"/>
          <p:nvPr/>
        </p:nvSpPr>
        <p:spPr>
          <a:xfrm>
            <a:off x="6711696" y="3328416"/>
            <a:ext cx="4681728" cy="213662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Menunggu semua selesai; gagal bila satu gagal</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.all([p1, p2, p3])</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.then(([a, b, c])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 b, c));</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Menunggu semua selesai apa pun hasilnya</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.allSettled([p1, p2]);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Mengambil hasil pertama yang selesai</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.race([p1, p2]);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Mengambil keberhasilan pertama</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.any([p1, p2]);</a:t>
            </a:r>
            <a:endParaRPr lang="en-US" sz="1020" dirty="0"/>
          </a:p>
        </p:txBody>
      </p:sp>
      <p:sp>
        <p:nvSpPr>
          <p:cNvPr id="27" name="Shape 21"/>
          <p:cNvSpPr/>
          <p:nvPr/>
        </p:nvSpPr>
        <p:spPr>
          <a:xfrm>
            <a:off x="640080" y="5577840"/>
            <a:ext cx="10972800" cy="530352"/>
          </a:xfrm>
          <a:prstGeom prst="roundRect">
            <a:avLst>
              <a:gd name="adj" fmla="val 13793"/>
            </a:avLst>
          </a:prstGeom>
          <a:solidFill>
            <a:srgbClr val="E8F2E2"/>
          </a:solidFill>
          <a:ln w="12700">
            <a:solidFill>
              <a:srgbClr val="D2E5C8"/>
            </a:solidFill>
            <a:prstDash val="solid"/>
          </a:ln>
        </p:spPr>
      </p:sp>
      <p:sp>
        <p:nvSpPr>
          <p:cNvPr id="28" name="Text 22"/>
          <p:cNvSpPr txBox="1"/>
          <p:nvPr/>
        </p:nvSpPr>
        <p:spPr>
          <a:xfrm>
            <a:off x="896112" y="5577840"/>
            <a:ext cx="10515600" cy="530352"/>
          </a:xfrm>
          <a:prstGeom prst="rect">
            <a:avLst/>
          </a:prstGeom>
          <a:noFill/>
          <a:ln/>
        </p:spPr>
        <p:txBody>
          <a:bodyPr wrap="square" lIns="0" tIns="0" rIns="0" bIns="0" rtlCol="0" anchor="ctr"/>
          <a:lstStyle/>
          <a:p>
            <a:pPr indent="0" marL="0">
              <a:buNone/>
            </a:pPr>
            <a:r>
              <a:rPr lang="en-US" sz="1150" dirty="0">
                <a:solidFill>
                  <a:srgbClr val="2C4433"/>
                </a:solidFill>
                <a:latin typeface="Calibri" pitchFamily="34" charset="0"/>
                <a:ea typeface="Calibri" pitchFamily="34" charset="-122"/>
                <a:cs typeface="Calibri" pitchFamily="34" charset="-120"/>
              </a:rPr>
              <a:t>Promise membuat rantai operasi asinkron menjadi mendatar: setiap .then() mengembalikan Promise baru sehingga dapat disambung tanpa menjorok ke dalam.</a:t>
            </a:r>
            <a:endParaRPr lang="en-US" sz="1150" dirty="0"/>
          </a:p>
        </p:txBody>
      </p:sp>
      <p:sp>
        <p:nvSpPr>
          <p:cNvPr id="29" name="Text 2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Async / Await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Menulis kode asinkron dengan gaya yang terbaca seperti kode sinkron</a:t>
            </a:r>
            <a:endParaRPr lang="en-US" sz="1300" dirty="0"/>
          </a:p>
        </p:txBody>
      </p:sp>
      <p:sp>
        <p:nvSpPr>
          <p:cNvPr id="6" name="Shape 3"/>
          <p:cNvSpPr/>
          <p:nvPr/>
        </p:nvSpPr>
        <p:spPr>
          <a:xfrm>
            <a:off x="640080" y="1627632"/>
            <a:ext cx="5577840" cy="3169128"/>
          </a:xfrm>
          <a:prstGeom prst="roundRect">
            <a:avLst>
              <a:gd name="adj" fmla="val 2020"/>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DASAR ASYNC/AWAIT</a:t>
            </a:r>
            <a:endParaRPr lang="en-US" sz="950" dirty="0"/>
          </a:p>
        </p:txBody>
      </p:sp>
      <p:sp>
        <p:nvSpPr>
          <p:cNvPr id="8" name="Text 5"/>
          <p:cNvSpPr txBox="1"/>
          <p:nvPr/>
        </p:nvSpPr>
        <p:spPr>
          <a:xfrm>
            <a:off x="859536" y="2029968"/>
            <a:ext cx="5138928" cy="265706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async membuat fungsi selalu mengembalikan Promise</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tampilkanPengguna(id)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await menunggu Promise selesai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ambilData(id);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ambilPesanan(user.id);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.log(user.nama, pesanan.length);</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user, pesanan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'Terjadi galat:'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err.message);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finally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'Proses 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92240" y="1627632"/>
            <a:ext cx="5120640" cy="2648688"/>
          </a:xfrm>
          <a:prstGeom prst="roundRect">
            <a:avLst>
              <a:gd name="adj" fmla="val 2417"/>
            </a:avLst>
          </a:prstGeom>
          <a:solidFill>
            <a:srgbClr val="0E2417"/>
          </a:solidFill>
          <a:ln w="12700">
            <a:solidFill>
              <a:srgbClr val="234A31"/>
            </a:solidFill>
            <a:prstDash val="solid"/>
          </a:ln>
        </p:spPr>
      </p:sp>
      <p:sp>
        <p:nvSpPr>
          <p:cNvPr id="10" name="Text 7"/>
          <p:cNvSpPr txBox="1"/>
          <p:nvPr/>
        </p:nvSpPr>
        <p:spPr>
          <a:xfrm>
            <a:off x="6711696" y="171907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PARALEL VS BERURUTAN</a:t>
            </a:r>
            <a:endParaRPr lang="en-US" sz="950" dirty="0"/>
          </a:p>
        </p:txBody>
      </p:sp>
      <p:sp>
        <p:nvSpPr>
          <p:cNvPr id="11" name="Text 8"/>
          <p:cNvSpPr txBox="1"/>
          <p:nvPr/>
        </p:nvSpPr>
        <p:spPr>
          <a:xfrm>
            <a:off x="6711696" y="2029968"/>
            <a:ext cx="4681728" cy="213662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Berurutan — total 3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tugas1();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tugas2();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tugas3();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Paralel — total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 b, c]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tugas1(), tugas2(), tugas3()</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Top-level await (hanya di ES Modules)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fetch(</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'https://api.contoh'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2" name="Shape 9"/>
          <p:cNvSpPr/>
          <p:nvPr/>
        </p:nvSpPr>
        <p:spPr>
          <a:xfrm>
            <a:off x="640080"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10"/>
          <p:cNvSpPr/>
          <p:nvPr/>
        </p:nvSpPr>
        <p:spPr>
          <a:xfrm>
            <a:off x="896112" y="4937760"/>
            <a:ext cx="457200" cy="457200"/>
          </a:xfrm>
          <a:prstGeom prst="roundRect">
            <a:avLst>
              <a:gd name="adj" fmla="val 26000"/>
            </a:avLst>
          </a:prstGeom>
          <a:solidFill>
            <a:srgbClr val="E8F2E2"/>
          </a:solidFill>
          <a:ln w="12700">
            <a:solidFill>
              <a:srgbClr val="E8F2E2"/>
            </a:solidFill>
            <a:prstDash val="solid"/>
          </a:ln>
        </p:spPr>
      </p:sp>
      <p:pic>
        <p:nvPicPr>
          <p:cNvPr id="14" name="Image 1" descr="preencoded.png">    </p:cNvPr>
          <p:cNvPicPr>
            <a:picLocks noChangeAspect="1"/>
          </p:cNvPicPr>
          <p:nvPr/>
        </p:nvPicPr>
        <p:blipFill>
          <a:blip r:embed="rId2"/>
          <a:stretch>
            <a:fillRect/>
          </a:stretch>
        </p:blipFill>
        <p:spPr>
          <a:xfrm>
            <a:off x="1010412" y="5052060"/>
            <a:ext cx="228600" cy="228600"/>
          </a:xfrm>
          <a:prstGeom prst="rect">
            <a:avLst/>
          </a:prstGeom>
        </p:spPr>
      </p:pic>
      <p:sp>
        <p:nvSpPr>
          <p:cNvPr id="15" name="Text 11"/>
          <p:cNvSpPr txBox="1"/>
          <p:nvPr/>
        </p:nvSpPr>
        <p:spPr>
          <a:xfrm>
            <a:off x="1499616"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Selalu Kembalikan Promise</a:t>
            </a:r>
            <a:endParaRPr lang="en-US" sz="1250" dirty="0"/>
          </a:p>
        </p:txBody>
      </p:sp>
      <p:sp>
        <p:nvSpPr>
          <p:cNvPr id="16" name="Text 12"/>
          <p:cNvSpPr txBox="1"/>
          <p:nvPr/>
        </p:nvSpPr>
        <p:spPr>
          <a:xfrm>
            <a:off x="896112"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Fungsi bertanda async otomatis membungkus nilai kembaliannya menjadi Promise.</a:t>
            </a:r>
            <a:endParaRPr lang="en-US" sz="1030" dirty="0"/>
          </a:p>
        </p:txBody>
      </p:sp>
      <p:sp>
        <p:nvSpPr>
          <p:cNvPr id="17" name="Shape 13"/>
          <p:cNvSpPr/>
          <p:nvPr/>
        </p:nvSpPr>
        <p:spPr>
          <a:xfrm>
            <a:off x="4443984"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8" name="Shape 14"/>
          <p:cNvSpPr/>
          <p:nvPr/>
        </p:nvSpPr>
        <p:spPr>
          <a:xfrm>
            <a:off x="4700016" y="4937760"/>
            <a:ext cx="457200" cy="457200"/>
          </a:xfrm>
          <a:prstGeom prst="roundRect">
            <a:avLst>
              <a:gd name="adj" fmla="val 26000"/>
            </a:avLst>
          </a:prstGeom>
          <a:solidFill>
            <a:srgbClr val="E8F2E2"/>
          </a:solidFill>
          <a:ln w="12700">
            <a:solidFill>
              <a:srgbClr val="E8F2E2"/>
            </a:solidFill>
            <a:prstDash val="solid"/>
          </a:ln>
        </p:spPr>
      </p:sp>
      <p:pic>
        <p:nvPicPr>
          <p:cNvPr id="19" name="Image 2" descr="preencoded.png">    </p:cNvPr>
          <p:cNvPicPr>
            <a:picLocks noChangeAspect="1"/>
          </p:cNvPicPr>
          <p:nvPr/>
        </p:nvPicPr>
        <p:blipFill>
          <a:blip r:embed="rId3"/>
          <a:stretch>
            <a:fillRect/>
          </a:stretch>
        </p:blipFill>
        <p:spPr>
          <a:xfrm>
            <a:off x="4814316" y="5052060"/>
            <a:ext cx="228600" cy="228600"/>
          </a:xfrm>
          <a:prstGeom prst="rect">
            <a:avLst/>
          </a:prstGeom>
        </p:spPr>
      </p:pic>
      <p:sp>
        <p:nvSpPr>
          <p:cNvPr id="20" name="Text 15"/>
          <p:cNvSpPr txBox="1"/>
          <p:nvPr/>
        </p:nvSpPr>
        <p:spPr>
          <a:xfrm>
            <a:off x="5303520"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Gunakan try/catch</a:t>
            </a:r>
            <a:endParaRPr lang="en-US" sz="1250" dirty="0"/>
          </a:p>
        </p:txBody>
      </p:sp>
      <p:sp>
        <p:nvSpPr>
          <p:cNvPr id="21" name="Text 16"/>
          <p:cNvSpPr txBox="1"/>
          <p:nvPr/>
        </p:nvSpPr>
        <p:spPr>
          <a:xfrm>
            <a:off x="4700016"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Penanganan error kembali memakai blok try/catch yang sudah dikenal luas.</a:t>
            </a:r>
            <a:endParaRPr lang="en-US" sz="1030" dirty="0"/>
          </a:p>
        </p:txBody>
      </p:sp>
      <p:sp>
        <p:nvSpPr>
          <p:cNvPr id="22" name="Shape 17"/>
          <p:cNvSpPr/>
          <p:nvPr/>
        </p:nvSpPr>
        <p:spPr>
          <a:xfrm>
            <a:off x="8247888"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8"/>
          <p:cNvSpPr/>
          <p:nvPr/>
        </p:nvSpPr>
        <p:spPr>
          <a:xfrm>
            <a:off x="8503920" y="4937760"/>
            <a:ext cx="457200" cy="457200"/>
          </a:xfrm>
          <a:prstGeom prst="roundRect">
            <a:avLst>
              <a:gd name="adj" fmla="val 26000"/>
            </a:avLst>
          </a:prstGeom>
          <a:solidFill>
            <a:srgbClr val="E8F2E2"/>
          </a:solidFill>
          <a:ln w="12700">
            <a:solidFill>
              <a:srgbClr val="E8F2E2"/>
            </a:solidFill>
            <a:prstDash val="solid"/>
          </a:ln>
        </p:spPr>
      </p:sp>
      <p:pic>
        <p:nvPicPr>
          <p:cNvPr id="24" name="Image 3" descr="preencoded.png">    </p:cNvPr>
          <p:cNvPicPr>
            <a:picLocks noChangeAspect="1"/>
          </p:cNvPicPr>
          <p:nvPr/>
        </p:nvPicPr>
        <p:blipFill>
          <a:blip r:embed="rId4"/>
          <a:stretch>
            <a:fillRect/>
          </a:stretch>
        </p:blipFill>
        <p:spPr>
          <a:xfrm>
            <a:off x="8618220" y="5052060"/>
            <a:ext cx="228600" cy="228600"/>
          </a:xfrm>
          <a:prstGeom prst="rect">
            <a:avLst/>
          </a:prstGeom>
        </p:spPr>
      </p:pic>
      <p:sp>
        <p:nvSpPr>
          <p:cNvPr id="25" name="Text 19"/>
          <p:cNvSpPr txBox="1"/>
          <p:nvPr/>
        </p:nvSpPr>
        <p:spPr>
          <a:xfrm>
            <a:off x="9107424"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Waspadai await Berurutan</a:t>
            </a:r>
            <a:endParaRPr lang="en-US" sz="1250" dirty="0"/>
          </a:p>
        </p:txBody>
      </p:sp>
      <p:sp>
        <p:nvSpPr>
          <p:cNvPr id="26" name="Text 20"/>
          <p:cNvSpPr txBox="1"/>
          <p:nvPr/>
        </p:nvSpPr>
        <p:spPr>
          <a:xfrm>
            <a:off x="8503920"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Jangan meng-await operasi yang sebenarnya bisa berjalan bersamaan.</a:t>
            </a:r>
            <a:endParaRPr lang="en-US" sz="1030" dirty="0"/>
          </a:p>
        </p:txBody>
      </p:sp>
      <p:sp>
        <p:nvSpPr>
          <p:cNvPr id="27"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28"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Perbandingan Tiga Pola Asinkron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Menyelesaikan masalah yang sama dengan gaya penulisan berbeda</a:t>
            </a:r>
            <a:endParaRPr lang="en-US" sz="1300" dirty="0"/>
          </a:p>
        </p:txBody>
      </p:sp>
      <p:sp>
        <p:nvSpPr>
          <p:cNvPr id="6" name="Shape 3"/>
          <p:cNvSpPr/>
          <p:nvPr/>
        </p:nvSpPr>
        <p:spPr>
          <a:xfrm>
            <a:off x="640080" y="1609344"/>
            <a:ext cx="3520440" cy="402336"/>
          </a:xfrm>
          <a:prstGeom prst="roundRect">
            <a:avLst>
              <a:gd name="adj" fmla="val 18182"/>
            </a:avLst>
          </a:prstGeom>
          <a:solidFill>
            <a:srgbClr val="5A6B5D"/>
          </a:solidFill>
          <a:ln w="12700">
            <a:solidFill>
              <a:srgbClr val="5A6B5D"/>
            </a:solidFill>
            <a:prstDash val="solid"/>
          </a:ln>
        </p:spPr>
      </p:sp>
      <p:sp>
        <p:nvSpPr>
          <p:cNvPr id="7" name="Text 4"/>
          <p:cNvSpPr txBox="1"/>
          <p:nvPr/>
        </p:nvSpPr>
        <p:spPr>
          <a:xfrm>
            <a:off x="640080"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Callback</a:t>
            </a:r>
            <a:endParaRPr lang="en-US" sz="1250" dirty="0"/>
          </a:p>
        </p:txBody>
      </p:sp>
      <p:sp>
        <p:nvSpPr>
          <p:cNvPr id="8" name="Shape 5"/>
          <p:cNvSpPr/>
          <p:nvPr/>
        </p:nvSpPr>
        <p:spPr>
          <a:xfrm>
            <a:off x="640080" y="2103120"/>
            <a:ext cx="3520440" cy="1700784"/>
          </a:xfrm>
          <a:prstGeom prst="roundRect">
            <a:avLst>
              <a:gd name="adj" fmla="val 3763"/>
            </a:avLst>
          </a:prstGeom>
          <a:solidFill>
            <a:srgbClr val="0E2417"/>
          </a:solidFill>
          <a:ln w="12700">
            <a:solidFill>
              <a:srgbClr val="234A31"/>
            </a:solidFill>
            <a:prstDash val="solid"/>
          </a:ln>
        </p:spPr>
      </p:sp>
      <p:sp>
        <p:nvSpPr>
          <p:cNvPr id="9" name="Text 6"/>
          <p:cNvSpPr txBox="1"/>
          <p:nvPr/>
        </p:nvSpPr>
        <p:spPr>
          <a:xfrm>
            <a:off x="859536"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u) =&gt;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ambilPesanan(u, (e2, p) =&gt;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(e2)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tangani(e2);</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p:txBody>
      </p:sp>
      <p:sp>
        <p:nvSpPr>
          <p:cNvPr id="10" name="Shape 7"/>
          <p:cNvSpPr/>
          <p:nvPr/>
        </p:nvSpPr>
        <p:spPr>
          <a:xfrm>
            <a:off x="4443984" y="1609344"/>
            <a:ext cx="3520440" cy="402336"/>
          </a:xfrm>
          <a:prstGeom prst="roundRect">
            <a:avLst>
              <a:gd name="adj" fmla="val 18182"/>
            </a:avLst>
          </a:prstGeom>
          <a:solidFill>
            <a:srgbClr val="3B7DD8"/>
          </a:solidFill>
          <a:ln w="12700">
            <a:solidFill>
              <a:srgbClr val="3B7DD8"/>
            </a:solidFill>
            <a:prstDash val="solid"/>
          </a:ln>
        </p:spPr>
      </p:sp>
      <p:sp>
        <p:nvSpPr>
          <p:cNvPr id="11" name="Text 8"/>
          <p:cNvSpPr txBox="1"/>
          <p:nvPr/>
        </p:nvSpPr>
        <p:spPr>
          <a:xfrm>
            <a:off x="4443984"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Promise</a:t>
            </a:r>
            <a:endParaRPr lang="en-US" sz="1250" dirty="0"/>
          </a:p>
        </p:txBody>
      </p:sp>
      <p:sp>
        <p:nvSpPr>
          <p:cNvPr id="12" name="Shape 9"/>
          <p:cNvSpPr/>
          <p:nvPr/>
        </p:nvSpPr>
        <p:spPr>
          <a:xfrm>
            <a:off x="4443984" y="2103120"/>
            <a:ext cx="3520440" cy="1700784"/>
          </a:xfrm>
          <a:prstGeom prst="roundRect">
            <a:avLst>
              <a:gd name="adj" fmla="val 3763"/>
            </a:avLst>
          </a:prstGeom>
          <a:solidFill>
            <a:srgbClr val="0E2417"/>
          </a:solidFill>
          <a:ln w="12700">
            <a:solidFill>
              <a:srgbClr val="234A31"/>
            </a:solidFill>
            <a:prstDash val="solid"/>
          </a:ln>
        </p:spPr>
      </p:sp>
      <p:sp>
        <p:nvSpPr>
          <p:cNvPr id="13" name="Text 10"/>
          <p:cNvSpPr txBox="1"/>
          <p:nvPr/>
        </p:nvSpPr>
        <p:spPr>
          <a:xfrm>
            <a:off x="4663440"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.then(u =&gt; ambilPesanan(u))</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.then(p =&gt;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(e =&gt;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p:txBody>
      </p:sp>
      <p:sp>
        <p:nvSpPr>
          <p:cNvPr id="14" name="Shape 11"/>
          <p:cNvSpPr/>
          <p:nvPr/>
        </p:nvSpPr>
        <p:spPr>
          <a:xfrm>
            <a:off x="8247888" y="1609344"/>
            <a:ext cx="3520440" cy="402336"/>
          </a:xfrm>
          <a:prstGeom prst="roundRect">
            <a:avLst>
              <a:gd name="adj" fmla="val 18182"/>
            </a:avLst>
          </a:prstGeom>
          <a:solidFill>
            <a:srgbClr val="3C873A"/>
          </a:solidFill>
          <a:ln w="12700">
            <a:solidFill>
              <a:srgbClr val="3C873A"/>
            </a:solidFill>
            <a:prstDash val="solid"/>
          </a:ln>
        </p:spPr>
      </p:sp>
      <p:sp>
        <p:nvSpPr>
          <p:cNvPr id="15" name="Text 12"/>
          <p:cNvSpPr txBox="1"/>
          <p:nvPr/>
        </p:nvSpPr>
        <p:spPr>
          <a:xfrm>
            <a:off x="8247888"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Async / Await</a:t>
            </a:r>
            <a:endParaRPr lang="en-US" sz="1250" dirty="0"/>
          </a:p>
        </p:txBody>
      </p:sp>
      <p:sp>
        <p:nvSpPr>
          <p:cNvPr id="16" name="Shape 13"/>
          <p:cNvSpPr/>
          <p:nvPr/>
        </p:nvSpPr>
        <p:spPr>
          <a:xfrm>
            <a:off x="8247888" y="2103120"/>
            <a:ext cx="3520440" cy="1700784"/>
          </a:xfrm>
          <a:prstGeom prst="roundRect">
            <a:avLst>
              <a:gd name="adj" fmla="val 3763"/>
            </a:avLst>
          </a:prstGeom>
          <a:solidFill>
            <a:srgbClr val="0E2417"/>
          </a:solidFill>
          <a:ln w="12700">
            <a:solidFill>
              <a:srgbClr val="234A31"/>
            </a:solidFill>
            <a:prstDash val="solid"/>
          </a:ln>
        </p:spPr>
      </p:sp>
      <p:sp>
        <p:nvSpPr>
          <p:cNvPr id="17" name="Text 14"/>
          <p:cNvSpPr txBox="1"/>
          <p:nvPr/>
        </p:nvSpPr>
        <p:spPr>
          <a:xfrm>
            <a:off x="8467344"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u =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p =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ambilPesanan(u);</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p:txBody>
      </p:sp>
      <p:sp>
        <p:nvSpPr>
          <p:cNvPr id="18" name="Shape 15"/>
          <p:cNvSpPr/>
          <p:nvPr/>
        </p:nvSpPr>
        <p:spPr>
          <a:xfrm>
            <a:off x="640080" y="4023360"/>
            <a:ext cx="10972800" cy="365760"/>
          </a:xfrm>
          <a:prstGeom prst="roundRect">
            <a:avLst>
              <a:gd name="adj" fmla="val 12500"/>
            </a:avLst>
          </a:prstGeom>
          <a:solidFill>
            <a:srgbClr val="0B2015"/>
          </a:solidFill>
          <a:ln w="12700">
            <a:solidFill>
              <a:srgbClr val="0B2015"/>
            </a:solidFill>
            <a:prstDash val="solid"/>
          </a:ln>
        </p:spPr>
      </p:sp>
      <p:sp>
        <p:nvSpPr>
          <p:cNvPr id="19" name="Text 16"/>
          <p:cNvSpPr txBox="1"/>
          <p:nvPr/>
        </p:nvSpPr>
        <p:spPr>
          <a:xfrm>
            <a:off x="841248" y="4023360"/>
            <a:ext cx="22860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Aspek</a:t>
            </a:r>
            <a:endParaRPr lang="en-US" sz="1080" dirty="0"/>
          </a:p>
        </p:txBody>
      </p:sp>
      <p:sp>
        <p:nvSpPr>
          <p:cNvPr id="20" name="Text 17"/>
          <p:cNvSpPr txBox="1"/>
          <p:nvPr/>
        </p:nvSpPr>
        <p:spPr>
          <a:xfrm>
            <a:off x="3200400" y="4023360"/>
            <a:ext cx="27432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Callback</a:t>
            </a:r>
            <a:endParaRPr lang="en-US" sz="1080" dirty="0"/>
          </a:p>
        </p:txBody>
      </p:sp>
      <p:sp>
        <p:nvSpPr>
          <p:cNvPr id="21" name="Text 18"/>
          <p:cNvSpPr txBox="1"/>
          <p:nvPr/>
        </p:nvSpPr>
        <p:spPr>
          <a:xfrm>
            <a:off x="6035040" y="4023360"/>
            <a:ext cx="27432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Promise</a:t>
            </a:r>
            <a:endParaRPr lang="en-US" sz="1080" dirty="0"/>
          </a:p>
        </p:txBody>
      </p:sp>
      <p:sp>
        <p:nvSpPr>
          <p:cNvPr id="22" name="Text 19"/>
          <p:cNvSpPr txBox="1"/>
          <p:nvPr/>
        </p:nvSpPr>
        <p:spPr>
          <a:xfrm>
            <a:off x="8869680" y="4023360"/>
            <a:ext cx="256032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Async / Await</a:t>
            </a:r>
            <a:endParaRPr lang="en-US" sz="1080" dirty="0"/>
          </a:p>
        </p:txBody>
      </p:sp>
      <p:sp>
        <p:nvSpPr>
          <p:cNvPr id="23" name="Shape 20"/>
          <p:cNvSpPr/>
          <p:nvPr/>
        </p:nvSpPr>
        <p:spPr>
          <a:xfrm>
            <a:off x="640080" y="4425696"/>
            <a:ext cx="10972800" cy="365760"/>
          </a:xfrm>
          <a:prstGeom prst="roundRect">
            <a:avLst>
              <a:gd name="adj" fmla="val 12500"/>
            </a:avLst>
          </a:prstGeom>
          <a:solidFill>
            <a:srgbClr val="FFFFFF"/>
          </a:solidFill>
          <a:ln w="12700">
            <a:solidFill>
              <a:srgbClr val="E3EBDF"/>
            </a:solidFill>
            <a:prstDash val="solid"/>
          </a:ln>
        </p:spPr>
      </p:sp>
      <p:sp>
        <p:nvSpPr>
          <p:cNvPr id="24" name="Text 21"/>
          <p:cNvSpPr txBox="1"/>
          <p:nvPr/>
        </p:nvSpPr>
        <p:spPr>
          <a:xfrm>
            <a:off x="841248" y="4425696"/>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Keterbacaan</a:t>
            </a:r>
            <a:endParaRPr lang="en-US" sz="1080" dirty="0"/>
          </a:p>
        </p:txBody>
      </p:sp>
      <p:sp>
        <p:nvSpPr>
          <p:cNvPr id="25" name="Text 22"/>
          <p:cNvSpPr txBox="1"/>
          <p:nvPr/>
        </p:nvSpPr>
        <p:spPr>
          <a:xfrm>
            <a:off x="3200400" y="4425696"/>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Rendah bila bersarang</a:t>
            </a:r>
            <a:endParaRPr lang="en-US" sz="1080" dirty="0"/>
          </a:p>
        </p:txBody>
      </p:sp>
      <p:sp>
        <p:nvSpPr>
          <p:cNvPr id="26" name="Text 23"/>
          <p:cNvSpPr txBox="1"/>
          <p:nvPr/>
        </p:nvSpPr>
        <p:spPr>
          <a:xfrm>
            <a:off x="6035040" y="4425696"/>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Cukup baik</a:t>
            </a:r>
            <a:endParaRPr lang="en-US" sz="1080" dirty="0"/>
          </a:p>
        </p:txBody>
      </p:sp>
      <p:sp>
        <p:nvSpPr>
          <p:cNvPr id="27" name="Text 24"/>
          <p:cNvSpPr txBox="1"/>
          <p:nvPr/>
        </p:nvSpPr>
        <p:spPr>
          <a:xfrm>
            <a:off x="8869680" y="4425696"/>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Paling baik</a:t>
            </a:r>
            <a:endParaRPr lang="en-US" sz="1080" dirty="0"/>
          </a:p>
        </p:txBody>
      </p:sp>
      <p:sp>
        <p:nvSpPr>
          <p:cNvPr id="28" name="Shape 25"/>
          <p:cNvSpPr/>
          <p:nvPr/>
        </p:nvSpPr>
        <p:spPr>
          <a:xfrm>
            <a:off x="640080" y="4828032"/>
            <a:ext cx="10972800" cy="365760"/>
          </a:xfrm>
          <a:prstGeom prst="roundRect">
            <a:avLst>
              <a:gd name="adj" fmla="val 12500"/>
            </a:avLst>
          </a:prstGeom>
          <a:solidFill>
            <a:srgbClr val="EDF3E9"/>
          </a:solidFill>
          <a:ln w="12700">
            <a:solidFill>
              <a:srgbClr val="E3EBDF"/>
            </a:solidFill>
            <a:prstDash val="solid"/>
          </a:ln>
        </p:spPr>
      </p:sp>
      <p:sp>
        <p:nvSpPr>
          <p:cNvPr id="29" name="Text 26"/>
          <p:cNvSpPr txBox="1"/>
          <p:nvPr/>
        </p:nvSpPr>
        <p:spPr>
          <a:xfrm>
            <a:off x="841248" y="4828032"/>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Penanganan error</a:t>
            </a:r>
            <a:endParaRPr lang="en-US" sz="1080" dirty="0"/>
          </a:p>
        </p:txBody>
      </p:sp>
      <p:sp>
        <p:nvSpPr>
          <p:cNvPr id="30" name="Text 27"/>
          <p:cNvSpPr txBox="1"/>
          <p:nvPr/>
        </p:nvSpPr>
        <p:spPr>
          <a:xfrm>
            <a:off x="3200400" y="4828032"/>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Manual di tiap tingkat</a:t>
            </a:r>
            <a:endParaRPr lang="en-US" sz="1080" dirty="0"/>
          </a:p>
        </p:txBody>
      </p:sp>
      <p:sp>
        <p:nvSpPr>
          <p:cNvPr id="31" name="Text 28"/>
          <p:cNvSpPr txBox="1"/>
          <p:nvPr/>
        </p:nvSpPr>
        <p:spPr>
          <a:xfrm>
            <a:off x="6035040" y="4828032"/>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Terpusat di .catch()</a:t>
            </a:r>
            <a:endParaRPr lang="en-US" sz="1080" dirty="0"/>
          </a:p>
        </p:txBody>
      </p:sp>
      <p:sp>
        <p:nvSpPr>
          <p:cNvPr id="32" name="Text 29"/>
          <p:cNvSpPr txBox="1"/>
          <p:nvPr/>
        </p:nvSpPr>
        <p:spPr>
          <a:xfrm>
            <a:off x="8869680" y="4828032"/>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try / catch biasa</a:t>
            </a:r>
            <a:endParaRPr lang="en-US" sz="1080" dirty="0"/>
          </a:p>
        </p:txBody>
      </p:sp>
      <p:sp>
        <p:nvSpPr>
          <p:cNvPr id="33" name="Shape 30"/>
          <p:cNvSpPr/>
          <p:nvPr/>
        </p:nvSpPr>
        <p:spPr>
          <a:xfrm>
            <a:off x="640080" y="5230368"/>
            <a:ext cx="10972800" cy="365760"/>
          </a:xfrm>
          <a:prstGeom prst="roundRect">
            <a:avLst>
              <a:gd name="adj" fmla="val 12500"/>
            </a:avLst>
          </a:prstGeom>
          <a:solidFill>
            <a:srgbClr val="FFFFFF"/>
          </a:solidFill>
          <a:ln w="12700">
            <a:solidFill>
              <a:srgbClr val="E3EBDF"/>
            </a:solidFill>
            <a:prstDash val="solid"/>
          </a:ln>
        </p:spPr>
      </p:sp>
      <p:sp>
        <p:nvSpPr>
          <p:cNvPr id="34" name="Text 31"/>
          <p:cNvSpPr txBox="1"/>
          <p:nvPr/>
        </p:nvSpPr>
        <p:spPr>
          <a:xfrm>
            <a:off x="841248" y="5230368"/>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Alur bersarang</a:t>
            </a:r>
            <a:endParaRPr lang="en-US" sz="1080" dirty="0"/>
          </a:p>
        </p:txBody>
      </p:sp>
      <p:sp>
        <p:nvSpPr>
          <p:cNvPr id="35" name="Text 32"/>
          <p:cNvSpPr txBox="1"/>
          <p:nvPr/>
        </p:nvSpPr>
        <p:spPr>
          <a:xfrm>
            <a:off x="3200400" y="5230368"/>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Menjorok makin dalam</a:t>
            </a:r>
            <a:endParaRPr lang="en-US" sz="1080" dirty="0"/>
          </a:p>
        </p:txBody>
      </p:sp>
      <p:sp>
        <p:nvSpPr>
          <p:cNvPr id="36" name="Text 33"/>
          <p:cNvSpPr txBox="1"/>
          <p:nvPr/>
        </p:nvSpPr>
        <p:spPr>
          <a:xfrm>
            <a:off x="6035040" y="5230368"/>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Mendatar berantai</a:t>
            </a:r>
            <a:endParaRPr lang="en-US" sz="1080" dirty="0"/>
          </a:p>
        </p:txBody>
      </p:sp>
      <p:sp>
        <p:nvSpPr>
          <p:cNvPr id="37" name="Text 34"/>
          <p:cNvSpPr txBox="1"/>
          <p:nvPr/>
        </p:nvSpPr>
        <p:spPr>
          <a:xfrm>
            <a:off x="8869680" y="5230368"/>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Mendatar dan lurus</a:t>
            </a:r>
            <a:endParaRPr lang="en-US" sz="1080" dirty="0"/>
          </a:p>
        </p:txBody>
      </p:sp>
      <p:sp>
        <p:nvSpPr>
          <p:cNvPr id="38" name="Shape 35"/>
          <p:cNvSpPr/>
          <p:nvPr/>
        </p:nvSpPr>
        <p:spPr>
          <a:xfrm>
            <a:off x="640080" y="5632704"/>
            <a:ext cx="10972800" cy="365760"/>
          </a:xfrm>
          <a:prstGeom prst="roundRect">
            <a:avLst>
              <a:gd name="adj" fmla="val 12500"/>
            </a:avLst>
          </a:prstGeom>
          <a:solidFill>
            <a:srgbClr val="EDF3E9"/>
          </a:solidFill>
          <a:ln w="12700">
            <a:solidFill>
              <a:srgbClr val="E3EBDF"/>
            </a:solidFill>
            <a:prstDash val="solid"/>
          </a:ln>
        </p:spPr>
      </p:sp>
      <p:sp>
        <p:nvSpPr>
          <p:cNvPr id="39" name="Text 36"/>
          <p:cNvSpPr txBox="1"/>
          <p:nvPr/>
        </p:nvSpPr>
        <p:spPr>
          <a:xfrm>
            <a:off x="841248" y="5632704"/>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Ketersediaan</a:t>
            </a:r>
            <a:endParaRPr lang="en-US" sz="1080" dirty="0"/>
          </a:p>
        </p:txBody>
      </p:sp>
      <p:sp>
        <p:nvSpPr>
          <p:cNvPr id="40" name="Text 37"/>
          <p:cNvSpPr txBox="1"/>
          <p:nvPr/>
        </p:nvSpPr>
        <p:spPr>
          <a:xfrm>
            <a:off x="3200400" y="5632704"/>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awal Node.js</a:t>
            </a:r>
            <a:endParaRPr lang="en-US" sz="1080" dirty="0"/>
          </a:p>
        </p:txBody>
      </p:sp>
      <p:sp>
        <p:nvSpPr>
          <p:cNvPr id="41" name="Text 38"/>
          <p:cNvSpPr txBox="1"/>
          <p:nvPr/>
        </p:nvSpPr>
        <p:spPr>
          <a:xfrm>
            <a:off x="6035040" y="5632704"/>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ES2015</a:t>
            </a:r>
            <a:endParaRPr lang="en-US" sz="1080" dirty="0"/>
          </a:p>
        </p:txBody>
      </p:sp>
      <p:sp>
        <p:nvSpPr>
          <p:cNvPr id="42" name="Text 39"/>
          <p:cNvSpPr txBox="1"/>
          <p:nvPr/>
        </p:nvSpPr>
        <p:spPr>
          <a:xfrm>
            <a:off x="8869680" y="5632704"/>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ES2017</a:t>
            </a:r>
            <a:endParaRPr lang="en-US" sz="1080" dirty="0"/>
          </a:p>
        </p:txBody>
      </p:sp>
      <p:sp>
        <p:nvSpPr>
          <p:cNvPr id="43" name="Shape 40"/>
          <p:cNvSpPr/>
          <p:nvPr/>
        </p:nvSpPr>
        <p:spPr>
          <a:xfrm>
            <a:off x="640080" y="6035040"/>
            <a:ext cx="10972800" cy="365760"/>
          </a:xfrm>
          <a:prstGeom prst="roundRect">
            <a:avLst>
              <a:gd name="adj" fmla="val 12500"/>
            </a:avLst>
          </a:prstGeom>
          <a:solidFill>
            <a:srgbClr val="FFFFFF"/>
          </a:solidFill>
          <a:ln w="12700">
            <a:solidFill>
              <a:srgbClr val="E3EBDF"/>
            </a:solidFill>
            <a:prstDash val="solid"/>
          </a:ln>
        </p:spPr>
      </p:sp>
      <p:sp>
        <p:nvSpPr>
          <p:cNvPr id="44" name="Text 41"/>
          <p:cNvSpPr txBox="1"/>
          <p:nvPr/>
        </p:nvSpPr>
        <p:spPr>
          <a:xfrm>
            <a:off x="841248" y="6035040"/>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Rekomendasi</a:t>
            </a:r>
            <a:endParaRPr lang="en-US" sz="1080" dirty="0"/>
          </a:p>
        </p:txBody>
      </p:sp>
      <p:sp>
        <p:nvSpPr>
          <p:cNvPr id="45" name="Text 42"/>
          <p:cNvSpPr txBox="1"/>
          <p:nvPr/>
        </p:nvSpPr>
        <p:spPr>
          <a:xfrm>
            <a:off x="3200400" y="6035040"/>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Hanya untuk API lama</a:t>
            </a:r>
            <a:endParaRPr lang="en-US" sz="1080" dirty="0"/>
          </a:p>
        </p:txBody>
      </p:sp>
      <p:sp>
        <p:nvSpPr>
          <p:cNvPr id="46" name="Text 43"/>
          <p:cNvSpPr txBox="1"/>
          <p:nvPr/>
        </p:nvSpPr>
        <p:spPr>
          <a:xfrm>
            <a:off x="6035040" y="6035040"/>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Untuk operasi paralel</a:t>
            </a:r>
            <a:endParaRPr lang="en-US" sz="1080" dirty="0"/>
          </a:p>
        </p:txBody>
      </p:sp>
      <p:sp>
        <p:nvSpPr>
          <p:cNvPr id="47" name="Text 44"/>
          <p:cNvSpPr txBox="1"/>
          <p:nvPr/>
        </p:nvSpPr>
        <p:spPr>
          <a:xfrm>
            <a:off x="8869680" y="6035040"/>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Pilihan utama kode baru</a:t>
            </a:r>
            <a:endParaRPr lang="en-US" sz="1080" dirty="0"/>
          </a:p>
        </p:txBody>
      </p:sp>
      <p:sp>
        <p:nvSpPr>
          <p:cNvPr id="48" name="Text 4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9" name="Text 4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EventEmitter dan Pola Event-Driven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Fondasi arsitektur Node.js: bereaksi terhadap peristiwa</a:t>
            </a:r>
            <a:endParaRPr lang="en-US" sz="1300" dirty="0"/>
          </a:p>
        </p:txBody>
      </p:sp>
      <p:sp>
        <p:nvSpPr>
          <p:cNvPr id="6" name="Shape 3"/>
          <p:cNvSpPr/>
          <p:nvPr/>
        </p:nvSpPr>
        <p:spPr>
          <a:xfrm>
            <a:off x="640080" y="1609344"/>
            <a:ext cx="5577840" cy="1225296"/>
          </a:xfrm>
          <a:prstGeom prst="roundRect">
            <a:avLst>
              <a:gd name="adj" fmla="val 671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4622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Konsep Dasar</a:t>
            </a:r>
            <a:endParaRPr lang="en-US" sz="1300" dirty="0"/>
          </a:p>
        </p:txBody>
      </p:sp>
      <p:sp>
        <p:nvSpPr>
          <p:cNvPr id="10" name="Text 6"/>
          <p:cNvSpPr txBox="1"/>
          <p:nvPr/>
        </p:nvSpPr>
        <p:spPr>
          <a:xfrm>
            <a:off x="896112" y="2395728"/>
            <a:ext cx="5065776" cy="274320"/>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Sebuah objek memancarkan peristiwa bernama, dan objek lain mendaftarkan pendengar untuk bereaksi. Modul http, stream, dan fs dibangun di atas pola ini.</a:t>
            </a:r>
            <a:endParaRPr lang="en-US" sz="1080" dirty="0"/>
          </a:p>
        </p:txBody>
      </p:sp>
      <p:sp>
        <p:nvSpPr>
          <p:cNvPr id="11" name="Shape 7"/>
          <p:cNvSpPr/>
          <p:nvPr/>
        </p:nvSpPr>
        <p:spPr>
          <a:xfrm>
            <a:off x="640080" y="2907792"/>
            <a:ext cx="5577840" cy="3342607"/>
          </a:xfrm>
          <a:prstGeom prst="roundRect">
            <a:avLst>
              <a:gd name="adj" fmla="val 1915"/>
            </a:avLst>
          </a:prstGeom>
          <a:solidFill>
            <a:srgbClr val="0E2417"/>
          </a:solidFill>
          <a:ln w="12700">
            <a:solidFill>
              <a:srgbClr val="234A31"/>
            </a:solidFill>
            <a:prstDash val="solid"/>
          </a:ln>
        </p:spPr>
      </p:sp>
      <p:sp>
        <p:nvSpPr>
          <p:cNvPr id="12" name="Text 8"/>
          <p:cNvSpPr txBox="1"/>
          <p:nvPr/>
        </p:nvSpPr>
        <p:spPr>
          <a:xfrm>
            <a:off x="859536" y="29992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EVENT EMITTER</a:t>
            </a:r>
            <a:endParaRPr lang="en-US" sz="950" dirty="0"/>
          </a:p>
        </p:txBody>
      </p:sp>
      <p:sp>
        <p:nvSpPr>
          <p:cNvPr id="13" name="Text 9"/>
          <p:cNvSpPr txBox="1"/>
          <p:nvPr/>
        </p:nvSpPr>
        <p:spPr>
          <a:xfrm>
            <a:off x="859536" y="3310128"/>
            <a:ext cx="5138928" cy="283054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EventEmitter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'events'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class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extends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EventEmitter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buat(item)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proses penyimpanan pesanan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this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'dibuat'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pesanan.on(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'dibuat'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'Pesanan baru:'</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pesanan.buat({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'Kopi'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jumlah: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p:txBody>
      </p:sp>
      <p:sp>
        <p:nvSpPr>
          <p:cNvPr id="14" name="Shape 10"/>
          <p:cNvSpPr/>
          <p:nvPr/>
        </p:nvSpPr>
        <p:spPr>
          <a:xfrm>
            <a:off x="6492240" y="1609344"/>
            <a:ext cx="5120640" cy="365760"/>
          </a:xfrm>
          <a:prstGeom prst="roundRect">
            <a:avLst>
              <a:gd name="adj" fmla="val 12500"/>
            </a:avLst>
          </a:prstGeom>
          <a:solidFill>
            <a:srgbClr val="0B2015"/>
          </a:solidFill>
          <a:ln w="12700">
            <a:solidFill>
              <a:srgbClr val="0B2015"/>
            </a:solidFill>
            <a:prstDash val="solid"/>
          </a:ln>
        </p:spPr>
      </p:sp>
      <p:sp>
        <p:nvSpPr>
          <p:cNvPr id="15" name="Text 11"/>
          <p:cNvSpPr txBox="1"/>
          <p:nvPr/>
        </p:nvSpPr>
        <p:spPr>
          <a:xfrm>
            <a:off x="6675120" y="1609344"/>
            <a:ext cx="1965960" cy="365760"/>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Metode</a:t>
            </a:r>
            <a:endParaRPr lang="en-US" sz="1020" dirty="0"/>
          </a:p>
        </p:txBody>
      </p:sp>
      <p:sp>
        <p:nvSpPr>
          <p:cNvPr id="16" name="Text 12"/>
          <p:cNvSpPr txBox="1"/>
          <p:nvPr/>
        </p:nvSpPr>
        <p:spPr>
          <a:xfrm>
            <a:off x="8686800" y="1609344"/>
            <a:ext cx="2743200" cy="365760"/>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Kegunaan</a:t>
            </a:r>
            <a:endParaRPr lang="en-US" sz="1020" dirty="0"/>
          </a:p>
        </p:txBody>
      </p:sp>
      <p:sp>
        <p:nvSpPr>
          <p:cNvPr id="17" name="Shape 13"/>
          <p:cNvSpPr/>
          <p:nvPr/>
        </p:nvSpPr>
        <p:spPr>
          <a:xfrm>
            <a:off x="6492240" y="2011680"/>
            <a:ext cx="5120640" cy="365760"/>
          </a:xfrm>
          <a:prstGeom prst="roundRect">
            <a:avLst>
              <a:gd name="adj" fmla="val 12500"/>
            </a:avLst>
          </a:prstGeom>
          <a:solidFill>
            <a:srgbClr val="FFFFFF"/>
          </a:solidFill>
          <a:ln w="12700">
            <a:solidFill>
              <a:srgbClr val="E3EBDF"/>
            </a:solidFill>
            <a:prstDash val="solid"/>
          </a:ln>
        </p:spPr>
      </p:sp>
      <p:sp>
        <p:nvSpPr>
          <p:cNvPr id="18" name="Text 14"/>
          <p:cNvSpPr txBox="1"/>
          <p:nvPr/>
        </p:nvSpPr>
        <p:spPr>
          <a:xfrm>
            <a:off x="6675120" y="2011680"/>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on(nama, fn)</a:t>
            </a:r>
            <a:endParaRPr lang="en-US" sz="1020" dirty="0"/>
          </a:p>
        </p:txBody>
      </p:sp>
      <p:sp>
        <p:nvSpPr>
          <p:cNvPr id="19" name="Text 15"/>
          <p:cNvSpPr txBox="1"/>
          <p:nvPr/>
        </p:nvSpPr>
        <p:spPr>
          <a:xfrm>
            <a:off x="8686800" y="2011680"/>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Mendaftarkan pendengar peristiwa</a:t>
            </a:r>
            <a:endParaRPr lang="en-US" sz="1020" dirty="0"/>
          </a:p>
        </p:txBody>
      </p:sp>
      <p:sp>
        <p:nvSpPr>
          <p:cNvPr id="20" name="Shape 16"/>
          <p:cNvSpPr/>
          <p:nvPr/>
        </p:nvSpPr>
        <p:spPr>
          <a:xfrm>
            <a:off x="6492240" y="2414016"/>
            <a:ext cx="5120640" cy="365760"/>
          </a:xfrm>
          <a:prstGeom prst="roundRect">
            <a:avLst>
              <a:gd name="adj" fmla="val 12500"/>
            </a:avLst>
          </a:prstGeom>
          <a:solidFill>
            <a:srgbClr val="EDF3E9"/>
          </a:solidFill>
          <a:ln w="12700">
            <a:solidFill>
              <a:srgbClr val="E3EBDF"/>
            </a:solidFill>
            <a:prstDash val="solid"/>
          </a:ln>
        </p:spPr>
      </p:sp>
      <p:sp>
        <p:nvSpPr>
          <p:cNvPr id="21" name="Text 17"/>
          <p:cNvSpPr txBox="1"/>
          <p:nvPr/>
        </p:nvSpPr>
        <p:spPr>
          <a:xfrm>
            <a:off x="6675120" y="2414016"/>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once(nama, fn)</a:t>
            </a:r>
            <a:endParaRPr lang="en-US" sz="1020" dirty="0"/>
          </a:p>
        </p:txBody>
      </p:sp>
      <p:sp>
        <p:nvSpPr>
          <p:cNvPr id="22" name="Text 18"/>
          <p:cNvSpPr txBox="1"/>
          <p:nvPr/>
        </p:nvSpPr>
        <p:spPr>
          <a:xfrm>
            <a:off x="8686800" y="2414016"/>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Pendengar yang berjalan sekali saja</a:t>
            </a:r>
            <a:endParaRPr lang="en-US" sz="1020" dirty="0"/>
          </a:p>
        </p:txBody>
      </p:sp>
      <p:sp>
        <p:nvSpPr>
          <p:cNvPr id="23" name="Shape 19"/>
          <p:cNvSpPr/>
          <p:nvPr/>
        </p:nvSpPr>
        <p:spPr>
          <a:xfrm>
            <a:off x="6492240" y="2816352"/>
            <a:ext cx="5120640" cy="365760"/>
          </a:xfrm>
          <a:prstGeom prst="roundRect">
            <a:avLst>
              <a:gd name="adj" fmla="val 12500"/>
            </a:avLst>
          </a:prstGeom>
          <a:solidFill>
            <a:srgbClr val="FFFFFF"/>
          </a:solidFill>
          <a:ln w="12700">
            <a:solidFill>
              <a:srgbClr val="E3EBDF"/>
            </a:solidFill>
            <a:prstDash val="solid"/>
          </a:ln>
        </p:spPr>
      </p:sp>
      <p:sp>
        <p:nvSpPr>
          <p:cNvPr id="24" name="Text 20"/>
          <p:cNvSpPr txBox="1"/>
          <p:nvPr/>
        </p:nvSpPr>
        <p:spPr>
          <a:xfrm>
            <a:off x="6675120" y="2816352"/>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emit(nama, ...)</a:t>
            </a:r>
            <a:endParaRPr lang="en-US" sz="1020" dirty="0"/>
          </a:p>
        </p:txBody>
      </p:sp>
      <p:sp>
        <p:nvSpPr>
          <p:cNvPr id="25" name="Text 21"/>
          <p:cNvSpPr txBox="1"/>
          <p:nvPr/>
        </p:nvSpPr>
        <p:spPr>
          <a:xfrm>
            <a:off x="8686800" y="2816352"/>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Memancarkan peristiwa ke pendengar</a:t>
            </a:r>
            <a:endParaRPr lang="en-US" sz="1020" dirty="0"/>
          </a:p>
        </p:txBody>
      </p:sp>
      <p:sp>
        <p:nvSpPr>
          <p:cNvPr id="26" name="Shape 22"/>
          <p:cNvSpPr/>
          <p:nvPr/>
        </p:nvSpPr>
        <p:spPr>
          <a:xfrm>
            <a:off x="6492240" y="3218688"/>
            <a:ext cx="5120640" cy="365760"/>
          </a:xfrm>
          <a:prstGeom prst="roundRect">
            <a:avLst>
              <a:gd name="adj" fmla="val 12500"/>
            </a:avLst>
          </a:prstGeom>
          <a:solidFill>
            <a:srgbClr val="EDF3E9"/>
          </a:solidFill>
          <a:ln w="12700">
            <a:solidFill>
              <a:srgbClr val="E3EBDF"/>
            </a:solidFill>
            <a:prstDash val="solid"/>
          </a:ln>
        </p:spPr>
      </p:sp>
      <p:sp>
        <p:nvSpPr>
          <p:cNvPr id="27" name="Text 23"/>
          <p:cNvSpPr txBox="1"/>
          <p:nvPr/>
        </p:nvSpPr>
        <p:spPr>
          <a:xfrm>
            <a:off x="6675120" y="3218688"/>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off(nama, fn)</a:t>
            </a:r>
            <a:endParaRPr lang="en-US" sz="1020" dirty="0"/>
          </a:p>
        </p:txBody>
      </p:sp>
      <p:sp>
        <p:nvSpPr>
          <p:cNvPr id="28" name="Text 24"/>
          <p:cNvSpPr txBox="1"/>
          <p:nvPr/>
        </p:nvSpPr>
        <p:spPr>
          <a:xfrm>
            <a:off x="8686800" y="3218688"/>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Menghapus satu pendengar tertentu</a:t>
            </a:r>
            <a:endParaRPr lang="en-US" sz="1020" dirty="0"/>
          </a:p>
        </p:txBody>
      </p:sp>
      <p:sp>
        <p:nvSpPr>
          <p:cNvPr id="29" name="Shape 25"/>
          <p:cNvSpPr/>
          <p:nvPr/>
        </p:nvSpPr>
        <p:spPr>
          <a:xfrm>
            <a:off x="6492240" y="3621024"/>
            <a:ext cx="5120640" cy="365760"/>
          </a:xfrm>
          <a:prstGeom prst="roundRect">
            <a:avLst>
              <a:gd name="adj" fmla="val 12500"/>
            </a:avLst>
          </a:prstGeom>
          <a:solidFill>
            <a:srgbClr val="FFFFFF"/>
          </a:solidFill>
          <a:ln w="12700">
            <a:solidFill>
              <a:srgbClr val="E3EBDF"/>
            </a:solidFill>
            <a:prstDash val="solid"/>
          </a:ln>
        </p:spPr>
      </p:sp>
      <p:sp>
        <p:nvSpPr>
          <p:cNvPr id="30" name="Text 26"/>
          <p:cNvSpPr txBox="1"/>
          <p:nvPr/>
        </p:nvSpPr>
        <p:spPr>
          <a:xfrm>
            <a:off x="6675120" y="3621024"/>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listenerCount(n)</a:t>
            </a:r>
            <a:endParaRPr lang="en-US" sz="1020" dirty="0"/>
          </a:p>
        </p:txBody>
      </p:sp>
      <p:sp>
        <p:nvSpPr>
          <p:cNvPr id="31" name="Text 27"/>
          <p:cNvSpPr txBox="1"/>
          <p:nvPr/>
        </p:nvSpPr>
        <p:spPr>
          <a:xfrm>
            <a:off x="8686800" y="3621024"/>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Menghitung jumlah pendengar aktif</a:t>
            </a:r>
            <a:endParaRPr lang="en-US" sz="1020" dirty="0"/>
          </a:p>
        </p:txBody>
      </p:sp>
      <p:sp>
        <p:nvSpPr>
          <p:cNvPr id="32" name="Shape 28"/>
          <p:cNvSpPr/>
          <p:nvPr/>
        </p:nvSpPr>
        <p:spPr>
          <a:xfrm>
            <a:off x="6492240" y="4224528"/>
            <a:ext cx="420624" cy="420624"/>
          </a:xfrm>
          <a:prstGeom prst="roundRect">
            <a:avLst>
              <a:gd name="adj" fmla="val 26087"/>
            </a:avLst>
          </a:prstGeom>
          <a:solidFill>
            <a:srgbClr val="E8F2E2"/>
          </a:solidFill>
          <a:ln w="12700">
            <a:solidFill>
              <a:srgbClr val="E8F2E2"/>
            </a:solidFill>
            <a:prstDash val="solid"/>
          </a:ln>
        </p:spPr>
      </p:sp>
      <p:pic>
        <p:nvPicPr>
          <p:cNvPr id="33" name="Image 2" descr="preencoded.png">    </p:cNvPr>
          <p:cNvPicPr>
            <a:picLocks noChangeAspect="1"/>
          </p:cNvPicPr>
          <p:nvPr/>
        </p:nvPicPr>
        <p:blipFill>
          <a:blip r:embed="rId3"/>
          <a:stretch>
            <a:fillRect/>
          </a:stretch>
        </p:blipFill>
        <p:spPr>
          <a:xfrm>
            <a:off x="6597396" y="4329684"/>
            <a:ext cx="210312" cy="210312"/>
          </a:xfrm>
          <a:prstGeom prst="rect">
            <a:avLst/>
          </a:prstGeom>
        </p:spPr>
      </p:pic>
      <p:sp>
        <p:nvSpPr>
          <p:cNvPr id="34" name="Text 29"/>
          <p:cNvSpPr txBox="1"/>
          <p:nvPr/>
        </p:nvSpPr>
        <p:spPr>
          <a:xfrm>
            <a:off x="7059168" y="4206240"/>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Server HTTP</a:t>
            </a:r>
            <a:endParaRPr lang="en-US" sz="1250" dirty="0"/>
          </a:p>
        </p:txBody>
      </p:sp>
      <p:sp>
        <p:nvSpPr>
          <p:cNvPr id="35" name="Text 30"/>
          <p:cNvSpPr txBox="1"/>
          <p:nvPr/>
        </p:nvSpPr>
        <p:spPr>
          <a:xfrm>
            <a:off x="7059168" y="4462272"/>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Objek server memancarkan peristiwa request dan connection untuk setiap koneksi masuk.</a:t>
            </a:r>
            <a:endParaRPr lang="en-US" sz="1030" dirty="0"/>
          </a:p>
        </p:txBody>
      </p:sp>
      <p:sp>
        <p:nvSpPr>
          <p:cNvPr id="36" name="Shape 31"/>
          <p:cNvSpPr/>
          <p:nvPr/>
        </p:nvSpPr>
        <p:spPr>
          <a:xfrm>
            <a:off x="6492240" y="4882896"/>
            <a:ext cx="420624" cy="420624"/>
          </a:xfrm>
          <a:prstGeom prst="roundRect">
            <a:avLst>
              <a:gd name="adj" fmla="val 26087"/>
            </a:avLst>
          </a:prstGeom>
          <a:solidFill>
            <a:srgbClr val="E8F2E2"/>
          </a:solidFill>
          <a:ln w="12700">
            <a:solidFill>
              <a:srgbClr val="E8F2E2"/>
            </a:solidFill>
            <a:prstDash val="solid"/>
          </a:ln>
        </p:spPr>
      </p:sp>
      <p:pic>
        <p:nvPicPr>
          <p:cNvPr id="37" name="Image 3" descr="preencoded.png">    </p:cNvPr>
          <p:cNvPicPr>
            <a:picLocks noChangeAspect="1"/>
          </p:cNvPicPr>
          <p:nvPr/>
        </p:nvPicPr>
        <p:blipFill>
          <a:blip r:embed="rId4"/>
          <a:stretch>
            <a:fillRect/>
          </a:stretch>
        </p:blipFill>
        <p:spPr>
          <a:xfrm>
            <a:off x="6597396" y="4988052"/>
            <a:ext cx="210312" cy="210312"/>
          </a:xfrm>
          <a:prstGeom prst="rect">
            <a:avLst/>
          </a:prstGeom>
        </p:spPr>
      </p:pic>
      <p:sp>
        <p:nvSpPr>
          <p:cNvPr id="38" name="Text 32"/>
          <p:cNvSpPr txBox="1"/>
          <p:nvPr/>
        </p:nvSpPr>
        <p:spPr>
          <a:xfrm>
            <a:off x="7059168" y="4864608"/>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Stream</a:t>
            </a:r>
            <a:endParaRPr lang="en-US" sz="1250" dirty="0"/>
          </a:p>
        </p:txBody>
      </p:sp>
      <p:sp>
        <p:nvSpPr>
          <p:cNvPr id="39" name="Text 33"/>
          <p:cNvSpPr txBox="1"/>
          <p:nvPr/>
        </p:nvSpPr>
        <p:spPr>
          <a:xfrm>
            <a:off x="7059168" y="5120640"/>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Stream memancarkan data, end, dan error selama proses pembacaan berlangsung.</a:t>
            </a:r>
            <a:endParaRPr lang="en-US" sz="1030" dirty="0"/>
          </a:p>
        </p:txBody>
      </p:sp>
      <p:sp>
        <p:nvSpPr>
          <p:cNvPr id="40" name="Shape 34"/>
          <p:cNvSpPr/>
          <p:nvPr/>
        </p:nvSpPr>
        <p:spPr>
          <a:xfrm>
            <a:off x="6492240" y="5541264"/>
            <a:ext cx="420624" cy="420624"/>
          </a:xfrm>
          <a:prstGeom prst="roundRect">
            <a:avLst>
              <a:gd name="adj" fmla="val 26087"/>
            </a:avLst>
          </a:prstGeom>
          <a:solidFill>
            <a:srgbClr val="E8F2E2"/>
          </a:solidFill>
          <a:ln w="12700">
            <a:solidFill>
              <a:srgbClr val="E8F2E2"/>
            </a:solidFill>
            <a:prstDash val="solid"/>
          </a:ln>
        </p:spPr>
      </p:sp>
      <p:pic>
        <p:nvPicPr>
          <p:cNvPr id="41" name="Image 4" descr="preencoded.png">    </p:cNvPr>
          <p:cNvPicPr>
            <a:picLocks noChangeAspect="1"/>
          </p:cNvPicPr>
          <p:nvPr/>
        </p:nvPicPr>
        <p:blipFill>
          <a:blip r:embed="rId5"/>
          <a:stretch>
            <a:fillRect/>
          </a:stretch>
        </p:blipFill>
        <p:spPr>
          <a:xfrm>
            <a:off x="6597396" y="5646420"/>
            <a:ext cx="210312" cy="210312"/>
          </a:xfrm>
          <a:prstGeom prst="rect">
            <a:avLst/>
          </a:prstGeom>
        </p:spPr>
      </p:pic>
      <p:sp>
        <p:nvSpPr>
          <p:cNvPr id="42" name="Text 35"/>
          <p:cNvSpPr txBox="1"/>
          <p:nvPr/>
        </p:nvSpPr>
        <p:spPr>
          <a:xfrm>
            <a:off x="7059168" y="5522976"/>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Real-Time</a:t>
            </a:r>
            <a:endParaRPr lang="en-US" sz="1250" dirty="0"/>
          </a:p>
        </p:txBody>
      </p:sp>
      <p:sp>
        <p:nvSpPr>
          <p:cNvPr id="43" name="Text 36"/>
          <p:cNvSpPr txBox="1"/>
          <p:nvPr/>
        </p:nvSpPr>
        <p:spPr>
          <a:xfrm>
            <a:off x="7059168" y="5779008"/>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Menjadi dasar pustaka seperti Socket.IO untuk komunikasi dua arah.</a:t>
            </a:r>
            <a:endParaRPr lang="en-US" sz="1030" dirty="0"/>
          </a:p>
        </p:txBody>
      </p:sp>
      <p:sp>
        <p:nvSpPr>
          <p:cNvPr id="44" name="Text 3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5" name="Text 3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Stream dan Buffer</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Mengolah data berukuran besar tanpa membebani memori</a:t>
            </a:r>
            <a:endParaRPr lang="en-US" sz="1300" dirty="0"/>
          </a:p>
        </p:txBody>
      </p:sp>
      <p:sp>
        <p:nvSpPr>
          <p:cNvPr id="6" name="Shape 3"/>
          <p:cNvSpPr/>
          <p:nvPr/>
        </p:nvSpPr>
        <p:spPr>
          <a:xfrm>
            <a:off x="640080"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Readable</a:t>
            </a:r>
            <a:endParaRPr lang="en-US" sz="1300" dirty="0"/>
          </a:p>
        </p:txBody>
      </p:sp>
      <p:sp>
        <p:nvSpPr>
          <p:cNvPr id="10" name="Text 6"/>
          <p:cNvSpPr txBox="1"/>
          <p:nvPr/>
        </p:nvSpPr>
        <p:spPr>
          <a:xfrm>
            <a:off x="896112"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Sumber data yang dapat dibaca, misalnya berkas atau permintaan HTTP masuk.</a:t>
            </a:r>
            <a:endParaRPr lang="en-US" sz="1030" dirty="0"/>
          </a:p>
        </p:txBody>
      </p:sp>
      <p:sp>
        <p:nvSpPr>
          <p:cNvPr id="11" name="Shape 7"/>
          <p:cNvSpPr/>
          <p:nvPr/>
        </p:nvSpPr>
        <p:spPr>
          <a:xfrm>
            <a:off x="3447288"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Writable</a:t>
            </a:r>
            <a:endParaRPr lang="en-US" sz="1300" dirty="0"/>
          </a:p>
        </p:txBody>
      </p:sp>
      <p:sp>
        <p:nvSpPr>
          <p:cNvPr id="15" name="Text 10"/>
          <p:cNvSpPr txBox="1"/>
          <p:nvPr/>
        </p:nvSpPr>
        <p:spPr>
          <a:xfrm>
            <a:off x="3703320"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Tujuan penulisan data, misalnya berkas keluaran atau respons HTTP.</a:t>
            </a:r>
            <a:endParaRPr lang="en-US" sz="1030" dirty="0"/>
          </a:p>
        </p:txBody>
      </p:sp>
      <p:sp>
        <p:nvSpPr>
          <p:cNvPr id="16" name="Shape 11"/>
          <p:cNvSpPr/>
          <p:nvPr/>
        </p:nvSpPr>
        <p:spPr>
          <a:xfrm>
            <a:off x="6254496"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Duplex</a:t>
            </a:r>
            <a:endParaRPr lang="en-US" sz="1300" dirty="0"/>
          </a:p>
        </p:txBody>
      </p:sp>
      <p:sp>
        <p:nvSpPr>
          <p:cNvPr id="20" name="Text 14"/>
          <p:cNvSpPr txBox="1"/>
          <p:nvPr/>
        </p:nvSpPr>
        <p:spPr>
          <a:xfrm>
            <a:off x="6510528"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Dapat membaca sekaligus menulis, misalnya socket TCP.</a:t>
            </a:r>
            <a:endParaRPr lang="en-US" sz="1030" dirty="0"/>
          </a:p>
        </p:txBody>
      </p:sp>
      <p:sp>
        <p:nvSpPr>
          <p:cNvPr id="21" name="Shape 15"/>
          <p:cNvSpPr/>
          <p:nvPr/>
        </p:nvSpPr>
        <p:spPr>
          <a:xfrm>
            <a:off x="9061704"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Transform</a:t>
            </a:r>
            <a:endParaRPr lang="en-US" sz="1300" dirty="0"/>
          </a:p>
        </p:txBody>
      </p:sp>
      <p:sp>
        <p:nvSpPr>
          <p:cNvPr id="25" name="Text 18"/>
          <p:cNvSpPr txBox="1"/>
          <p:nvPr/>
        </p:nvSpPr>
        <p:spPr>
          <a:xfrm>
            <a:off x="9317736"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Duplex yang mengubah data saat melewatinya, misalnya kompresi zlib.</a:t>
            </a:r>
            <a:endParaRPr lang="en-US" sz="1030" dirty="0"/>
          </a:p>
        </p:txBody>
      </p:sp>
      <p:sp>
        <p:nvSpPr>
          <p:cNvPr id="26" name="Shape 19"/>
          <p:cNvSpPr/>
          <p:nvPr/>
        </p:nvSpPr>
        <p:spPr>
          <a:xfrm>
            <a:off x="640080" y="3127248"/>
            <a:ext cx="5577840" cy="2475208"/>
          </a:xfrm>
          <a:prstGeom prst="roundRect">
            <a:avLst>
              <a:gd name="adj" fmla="val 2586"/>
            </a:avLst>
          </a:prstGeom>
          <a:solidFill>
            <a:srgbClr val="0E2417"/>
          </a:solidFill>
          <a:ln w="12700">
            <a:solidFill>
              <a:srgbClr val="234A31"/>
            </a:solidFill>
            <a:prstDash val="solid"/>
          </a:ln>
        </p:spPr>
      </p:sp>
      <p:sp>
        <p:nvSpPr>
          <p:cNvPr id="27" name="Text 20"/>
          <p:cNvSpPr txBox="1"/>
          <p:nvPr/>
        </p:nvSpPr>
        <p:spPr>
          <a:xfrm>
            <a:off x="859536" y="3218688"/>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MENYALIN BERKAS BESAR DENGAN STREAM</a:t>
            </a:r>
            <a:endParaRPr lang="en-US" sz="950" dirty="0"/>
          </a:p>
        </p:txBody>
      </p:sp>
      <p:sp>
        <p:nvSpPr>
          <p:cNvPr id="28" name="Text 21"/>
          <p:cNvSpPr txBox="1"/>
          <p:nvPr/>
        </p:nvSpPr>
        <p:spPr>
          <a:xfrm>
            <a:off x="859536" y="3529584"/>
            <a:ext cx="5138928" cy="19631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zlib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'zlib'</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Hemat memori: data mengalir sepotong demi sepotong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fs.createReadStream(</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'besar.txt'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.pipe(zlib.createGzip())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.pipe(fs.createWriteStream(</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'besar.txt.gz'</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'finish'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Tanpa stream: seluruh berkas masuk ke memori</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const data = fs.readFileSync('besar.txt');</a:t>
            </a:r>
            <a:endParaRPr lang="en-US" sz="1020" dirty="0"/>
          </a:p>
        </p:txBody>
      </p:sp>
      <p:sp>
        <p:nvSpPr>
          <p:cNvPr id="29" name="Shape 22"/>
          <p:cNvSpPr/>
          <p:nvPr/>
        </p:nvSpPr>
        <p:spPr>
          <a:xfrm>
            <a:off x="6492240" y="3127248"/>
            <a:ext cx="51206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0" name="Shape 23"/>
          <p:cNvSpPr/>
          <p:nvPr/>
        </p:nvSpPr>
        <p:spPr>
          <a:xfrm>
            <a:off x="6748272" y="3346704"/>
            <a:ext cx="457200" cy="457200"/>
          </a:xfrm>
          <a:prstGeom prst="roundRect">
            <a:avLst>
              <a:gd name="adj" fmla="val 26000"/>
            </a:avLst>
          </a:prstGeom>
          <a:solidFill>
            <a:srgbClr val="E8F2E2"/>
          </a:solidFill>
          <a:ln w="12700">
            <a:solidFill>
              <a:srgbClr val="E8F2E2"/>
            </a:solidFill>
            <a:prstDash val="solid"/>
          </a:ln>
        </p:spPr>
      </p:sp>
      <p:pic>
        <p:nvPicPr>
          <p:cNvPr id="31" name="Image 5" descr="preencoded.png">    </p:cNvPr>
          <p:cNvPicPr>
            <a:picLocks noChangeAspect="1"/>
          </p:cNvPicPr>
          <p:nvPr/>
        </p:nvPicPr>
        <p:blipFill>
          <a:blip r:embed="rId6"/>
          <a:stretch>
            <a:fillRect/>
          </a:stretch>
        </p:blipFill>
        <p:spPr>
          <a:xfrm>
            <a:off x="6862572" y="3461004"/>
            <a:ext cx="228600" cy="228600"/>
          </a:xfrm>
          <a:prstGeom prst="rect">
            <a:avLst/>
          </a:prstGeom>
        </p:spPr>
      </p:pic>
      <p:sp>
        <p:nvSpPr>
          <p:cNvPr id="32" name="Text 24"/>
          <p:cNvSpPr txBox="1"/>
          <p:nvPr/>
        </p:nvSpPr>
        <p:spPr>
          <a:xfrm>
            <a:off x="7351776" y="3346704"/>
            <a:ext cx="40050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Buffer</a:t>
            </a:r>
            <a:endParaRPr lang="en-US" sz="1300" dirty="0"/>
          </a:p>
        </p:txBody>
      </p:sp>
      <p:sp>
        <p:nvSpPr>
          <p:cNvPr id="33" name="Text 25"/>
          <p:cNvSpPr txBox="1"/>
          <p:nvPr/>
        </p:nvSpPr>
        <p:spPr>
          <a:xfrm>
            <a:off x="6748272" y="3913632"/>
            <a:ext cx="4608576" cy="34747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Wadah penyimpanan data biner mentah dengan ukuran tetap di luar heap V8. Stream mengalirkan data dalam bentuk potongan Buffer.</a:t>
            </a:r>
            <a:endParaRPr lang="en-US" sz="1080" dirty="0"/>
          </a:p>
        </p:txBody>
      </p:sp>
      <p:sp>
        <p:nvSpPr>
          <p:cNvPr id="34" name="Shape 26"/>
          <p:cNvSpPr/>
          <p:nvPr/>
        </p:nvSpPr>
        <p:spPr>
          <a:xfrm>
            <a:off x="6492240" y="4553712"/>
            <a:ext cx="5120640" cy="1059680"/>
          </a:xfrm>
          <a:prstGeom prst="roundRect">
            <a:avLst>
              <a:gd name="adj" fmla="val 6040"/>
            </a:avLst>
          </a:prstGeom>
          <a:solidFill>
            <a:srgbClr val="0E2417"/>
          </a:solidFill>
          <a:ln w="12700">
            <a:solidFill>
              <a:srgbClr val="234A31"/>
            </a:solidFill>
            <a:prstDash val="solid"/>
          </a:ln>
        </p:spPr>
      </p:sp>
      <p:sp>
        <p:nvSpPr>
          <p:cNvPr id="35" name="Text 27"/>
          <p:cNvSpPr txBox="1"/>
          <p:nvPr/>
        </p:nvSpPr>
        <p:spPr>
          <a:xfrm>
            <a:off x="6711696" y="4754880"/>
            <a:ext cx="4681728" cy="74878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buf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Buffer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Node'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.log(buf.length);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9</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.log(buf.toString());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Halo Node</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.log(buf.toString(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'hex'</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36" name="Text 28"/>
          <p:cNvSpPr txBox="1"/>
          <p:nvPr/>
        </p:nvSpPr>
        <p:spPr>
          <a:xfrm>
            <a:off x="640080" y="5669280"/>
            <a:ext cx="5577840" cy="457200"/>
          </a:xfrm>
          <a:prstGeom prst="rect">
            <a:avLst/>
          </a:prstGeom>
          <a:noFill/>
          <a:ln/>
        </p:spPr>
        <p:txBody>
          <a:bodyPr wrap="square" lIns="0" tIns="0" rIns="0" bIns="0" rtlCol="0" anchor="ctr"/>
          <a:lstStyle/>
          <a:p>
            <a:pPr indent="0" marL="0">
              <a:lnSpc>
                <a:spcPct val="110000"/>
              </a:lnSpc>
              <a:buNone/>
            </a:pPr>
            <a:r>
              <a:rPr lang="en-US" sz="1080" dirty="0">
                <a:solidFill>
                  <a:srgbClr val="5F6F62"/>
                </a:solidFill>
                <a:latin typeface="Calibri" pitchFamily="34" charset="0"/>
                <a:ea typeface="Calibri" pitchFamily="34" charset="-122"/>
                <a:cs typeface="Calibri" pitchFamily="34" charset="-120"/>
              </a:rPr>
              <a:t>Gunakan stream ketika menangani berkas besar, unggahan pengguna, atau respons API yang panjang agar penggunaan memori tetap stabil.</a:t>
            </a:r>
            <a:endParaRPr lang="en-US" sz="1080" dirty="0"/>
          </a:p>
        </p:txBody>
      </p:sp>
      <p:sp>
        <p:nvSpPr>
          <p:cNvPr id="37"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8"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06</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Membangun Aplikasi</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Menerapkan seluruh konsep sebelumnya untuk membangun server, REST API, dan koneksi basis data yang siap dipakai.</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Modul fs dan server HTTP bawaan Node.js</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Express.js, routing, dan middleware</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REST API, basis data, konfigurasi, dan penanganan galat</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Modul File System (fs)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Membaca dan menulis berkas dengan tiga gaya penulisan</a:t>
            </a:r>
            <a:endParaRPr lang="en-US" sz="1300" dirty="0"/>
          </a:p>
        </p:txBody>
      </p:sp>
      <p:sp>
        <p:nvSpPr>
          <p:cNvPr id="6" name="Shape 3"/>
          <p:cNvSpPr/>
          <p:nvPr/>
        </p:nvSpPr>
        <p:spPr>
          <a:xfrm>
            <a:off x="640080" y="1627632"/>
            <a:ext cx="5577840" cy="3516087"/>
          </a:xfrm>
          <a:prstGeom prst="roundRect">
            <a:avLst>
              <a:gd name="adj" fmla="val 1820"/>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TIGA GAYA API MODUL FS</a:t>
            </a:r>
            <a:endParaRPr lang="en-US" sz="950" dirty="0"/>
          </a:p>
        </p:txBody>
      </p:sp>
      <p:sp>
        <p:nvSpPr>
          <p:cNvPr id="8" name="Text 5"/>
          <p:cNvSpPr txBox="1"/>
          <p:nvPr/>
        </p:nvSpPr>
        <p:spPr>
          <a:xfrm>
            <a:off x="859536" y="202996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Sinkron — memblokir, hindari di server</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isi = fs.readFileSync(</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2. Callback — gaya klasik Node.js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isi)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.error(err);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.log(isi);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3. Promise — gaya modern yang disarankan</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fsp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'fs/promises'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baca()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isi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fsp.readFile(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.log(isi);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92240" y="1627632"/>
            <a:ext cx="5120640" cy="402336"/>
          </a:xfrm>
          <a:prstGeom prst="roundRect">
            <a:avLst>
              <a:gd name="adj" fmla="val 11364"/>
            </a:avLst>
          </a:prstGeom>
          <a:solidFill>
            <a:srgbClr val="0B2015"/>
          </a:solidFill>
          <a:ln w="12700">
            <a:solidFill>
              <a:srgbClr val="0B2015"/>
            </a:solidFill>
            <a:prstDash val="solid"/>
          </a:ln>
        </p:spPr>
      </p:sp>
      <p:sp>
        <p:nvSpPr>
          <p:cNvPr id="10" name="Text 7"/>
          <p:cNvSpPr txBox="1"/>
          <p:nvPr/>
        </p:nvSpPr>
        <p:spPr>
          <a:xfrm>
            <a:off x="6675120" y="1627632"/>
            <a:ext cx="2011680" cy="402336"/>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Operasi</a:t>
            </a:r>
            <a:endParaRPr lang="en-US" sz="1020" dirty="0"/>
          </a:p>
        </p:txBody>
      </p:sp>
      <p:sp>
        <p:nvSpPr>
          <p:cNvPr id="11" name="Text 8"/>
          <p:cNvSpPr txBox="1"/>
          <p:nvPr/>
        </p:nvSpPr>
        <p:spPr>
          <a:xfrm>
            <a:off x="8732520" y="1627632"/>
            <a:ext cx="2697480" cy="402336"/>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Kegunaan</a:t>
            </a:r>
            <a:endParaRPr lang="en-US" sz="1020" dirty="0"/>
          </a:p>
        </p:txBody>
      </p:sp>
      <p:sp>
        <p:nvSpPr>
          <p:cNvPr id="12" name="Shape 9"/>
          <p:cNvSpPr/>
          <p:nvPr/>
        </p:nvSpPr>
        <p:spPr>
          <a:xfrm>
            <a:off x="6492240" y="2075688"/>
            <a:ext cx="5120640" cy="402336"/>
          </a:xfrm>
          <a:prstGeom prst="roundRect">
            <a:avLst>
              <a:gd name="adj" fmla="val 11364"/>
            </a:avLst>
          </a:prstGeom>
          <a:solidFill>
            <a:srgbClr val="FFFFFF"/>
          </a:solidFill>
          <a:ln w="12700">
            <a:solidFill>
              <a:srgbClr val="E3EBDF"/>
            </a:solidFill>
            <a:prstDash val="solid"/>
          </a:ln>
        </p:spPr>
      </p:sp>
      <p:sp>
        <p:nvSpPr>
          <p:cNvPr id="13" name="Text 10"/>
          <p:cNvSpPr txBox="1"/>
          <p:nvPr/>
        </p:nvSpPr>
        <p:spPr>
          <a:xfrm>
            <a:off x="6675120" y="2075688"/>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readFile</a:t>
            </a:r>
            <a:endParaRPr lang="en-US" sz="1020" dirty="0"/>
          </a:p>
        </p:txBody>
      </p:sp>
      <p:sp>
        <p:nvSpPr>
          <p:cNvPr id="14" name="Text 11"/>
          <p:cNvSpPr txBox="1"/>
          <p:nvPr/>
        </p:nvSpPr>
        <p:spPr>
          <a:xfrm>
            <a:off x="8732520" y="2075688"/>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seluruh isi berkas</a:t>
            </a:r>
            <a:endParaRPr lang="en-US" sz="1020" dirty="0"/>
          </a:p>
        </p:txBody>
      </p:sp>
      <p:sp>
        <p:nvSpPr>
          <p:cNvPr id="15" name="Shape 12"/>
          <p:cNvSpPr/>
          <p:nvPr/>
        </p:nvSpPr>
        <p:spPr>
          <a:xfrm>
            <a:off x="6492240" y="2523744"/>
            <a:ext cx="5120640" cy="402336"/>
          </a:xfrm>
          <a:prstGeom prst="roundRect">
            <a:avLst>
              <a:gd name="adj" fmla="val 11364"/>
            </a:avLst>
          </a:prstGeom>
          <a:solidFill>
            <a:srgbClr val="EDF3E9"/>
          </a:solidFill>
          <a:ln w="12700">
            <a:solidFill>
              <a:srgbClr val="E3EBDF"/>
            </a:solidFill>
            <a:prstDash val="solid"/>
          </a:ln>
        </p:spPr>
      </p:sp>
      <p:sp>
        <p:nvSpPr>
          <p:cNvPr id="16" name="Text 13"/>
          <p:cNvSpPr txBox="1"/>
          <p:nvPr/>
        </p:nvSpPr>
        <p:spPr>
          <a:xfrm>
            <a:off x="6675120" y="2523744"/>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writeFile</a:t>
            </a:r>
            <a:endParaRPr lang="en-US" sz="1020" dirty="0"/>
          </a:p>
        </p:txBody>
      </p:sp>
      <p:sp>
        <p:nvSpPr>
          <p:cNvPr id="17" name="Text 14"/>
          <p:cNvSpPr txBox="1"/>
          <p:nvPr/>
        </p:nvSpPr>
        <p:spPr>
          <a:xfrm>
            <a:off x="8732520" y="2523744"/>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Menulis dan menimpa isi berkas</a:t>
            </a:r>
            <a:endParaRPr lang="en-US" sz="1020" dirty="0"/>
          </a:p>
        </p:txBody>
      </p:sp>
      <p:sp>
        <p:nvSpPr>
          <p:cNvPr id="18" name="Shape 15"/>
          <p:cNvSpPr/>
          <p:nvPr/>
        </p:nvSpPr>
        <p:spPr>
          <a:xfrm>
            <a:off x="6492240" y="2971800"/>
            <a:ext cx="5120640" cy="402336"/>
          </a:xfrm>
          <a:prstGeom prst="roundRect">
            <a:avLst>
              <a:gd name="adj" fmla="val 11364"/>
            </a:avLst>
          </a:prstGeom>
          <a:solidFill>
            <a:srgbClr val="FFFFFF"/>
          </a:solidFill>
          <a:ln w="12700">
            <a:solidFill>
              <a:srgbClr val="E3EBDF"/>
            </a:solidFill>
            <a:prstDash val="solid"/>
          </a:ln>
        </p:spPr>
      </p:sp>
      <p:sp>
        <p:nvSpPr>
          <p:cNvPr id="19" name="Text 16"/>
          <p:cNvSpPr txBox="1"/>
          <p:nvPr/>
        </p:nvSpPr>
        <p:spPr>
          <a:xfrm>
            <a:off x="6675120" y="2971800"/>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appendFile</a:t>
            </a:r>
            <a:endParaRPr lang="en-US" sz="1020" dirty="0"/>
          </a:p>
        </p:txBody>
      </p:sp>
      <p:sp>
        <p:nvSpPr>
          <p:cNvPr id="20" name="Text 17"/>
          <p:cNvSpPr txBox="1"/>
          <p:nvPr/>
        </p:nvSpPr>
        <p:spPr>
          <a:xfrm>
            <a:off x="8732520" y="2971800"/>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Menambahkan data di akhir berkas</a:t>
            </a:r>
            <a:endParaRPr lang="en-US" sz="1020" dirty="0"/>
          </a:p>
        </p:txBody>
      </p:sp>
      <p:sp>
        <p:nvSpPr>
          <p:cNvPr id="21" name="Shape 18"/>
          <p:cNvSpPr/>
          <p:nvPr/>
        </p:nvSpPr>
        <p:spPr>
          <a:xfrm>
            <a:off x="6492240" y="3419856"/>
            <a:ext cx="5120640" cy="402336"/>
          </a:xfrm>
          <a:prstGeom prst="roundRect">
            <a:avLst>
              <a:gd name="adj" fmla="val 11364"/>
            </a:avLst>
          </a:prstGeom>
          <a:solidFill>
            <a:srgbClr val="EDF3E9"/>
          </a:solidFill>
          <a:ln w="12700">
            <a:solidFill>
              <a:srgbClr val="E3EBDF"/>
            </a:solidFill>
            <a:prstDash val="solid"/>
          </a:ln>
        </p:spPr>
      </p:sp>
      <p:sp>
        <p:nvSpPr>
          <p:cNvPr id="22" name="Text 19"/>
          <p:cNvSpPr txBox="1"/>
          <p:nvPr/>
        </p:nvSpPr>
        <p:spPr>
          <a:xfrm>
            <a:off x="6675120" y="3419856"/>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unlink</a:t>
            </a:r>
            <a:endParaRPr lang="en-US" sz="1020" dirty="0"/>
          </a:p>
        </p:txBody>
      </p:sp>
      <p:sp>
        <p:nvSpPr>
          <p:cNvPr id="23" name="Text 20"/>
          <p:cNvSpPr txBox="1"/>
          <p:nvPr/>
        </p:nvSpPr>
        <p:spPr>
          <a:xfrm>
            <a:off x="8732520" y="3419856"/>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Menghapus sebuah berkas</a:t>
            </a:r>
            <a:endParaRPr lang="en-US" sz="1020" dirty="0"/>
          </a:p>
        </p:txBody>
      </p:sp>
      <p:sp>
        <p:nvSpPr>
          <p:cNvPr id="24" name="Shape 21"/>
          <p:cNvSpPr/>
          <p:nvPr/>
        </p:nvSpPr>
        <p:spPr>
          <a:xfrm>
            <a:off x="6492240" y="3867912"/>
            <a:ext cx="5120640" cy="402336"/>
          </a:xfrm>
          <a:prstGeom prst="roundRect">
            <a:avLst>
              <a:gd name="adj" fmla="val 11364"/>
            </a:avLst>
          </a:prstGeom>
          <a:solidFill>
            <a:srgbClr val="FFFFFF"/>
          </a:solidFill>
          <a:ln w="12700">
            <a:solidFill>
              <a:srgbClr val="E3EBDF"/>
            </a:solidFill>
            <a:prstDash val="solid"/>
          </a:ln>
        </p:spPr>
      </p:sp>
      <p:sp>
        <p:nvSpPr>
          <p:cNvPr id="25" name="Text 22"/>
          <p:cNvSpPr txBox="1"/>
          <p:nvPr/>
        </p:nvSpPr>
        <p:spPr>
          <a:xfrm>
            <a:off x="6675120" y="3867912"/>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mkdir</a:t>
            </a:r>
            <a:endParaRPr lang="en-US" sz="1020" dirty="0"/>
          </a:p>
        </p:txBody>
      </p:sp>
      <p:sp>
        <p:nvSpPr>
          <p:cNvPr id="26" name="Text 23"/>
          <p:cNvSpPr txBox="1"/>
          <p:nvPr/>
        </p:nvSpPr>
        <p:spPr>
          <a:xfrm>
            <a:off x="8732520" y="3867912"/>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Membuat folder baru</a:t>
            </a:r>
            <a:endParaRPr lang="en-US" sz="1020" dirty="0"/>
          </a:p>
        </p:txBody>
      </p:sp>
      <p:sp>
        <p:nvSpPr>
          <p:cNvPr id="27" name="Shape 24"/>
          <p:cNvSpPr/>
          <p:nvPr/>
        </p:nvSpPr>
        <p:spPr>
          <a:xfrm>
            <a:off x="6492240" y="4315968"/>
            <a:ext cx="5120640" cy="402336"/>
          </a:xfrm>
          <a:prstGeom prst="roundRect">
            <a:avLst>
              <a:gd name="adj" fmla="val 11364"/>
            </a:avLst>
          </a:prstGeom>
          <a:solidFill>
            <a:srgbClr val="EDF3E9"/>
          </a:solidFill>
          <a:ln w="12700">
            <a:solidFill>
              <a:srgbClr val="E3EBDF"/>
            </a:solidFill>
            <a:prstDash val="solid"/>
          </a:ln>
        </p:spPr>
      </p:sp>
      <p:sp>
        <p:nvSpPr>
          <p:cNvPr id="28" name="Text 25"/>
          <p:cNvSpPr txBox="1"/>
          <p:nvPr/>
        </p:nvSpPr>
        <p:spPr>
          <a:xfrm>
            <a:off x="6675120" y="4315968"/>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readdir</a:t>
            </a:r>
            <a:endParaRPr lang="en-US" sz="1020" dirty="0"/>
          </a:p>
        </p:txBody>
      </p:sp>
      <p:sp>
        <p:nvSpPr>
          <p:cNvPr id="29" name="Text 26"/>
          <p:cNvSpPr txBox="1"/>
          <p:nvPr/>
        </p:nvSpPr>
        <p:spPr>
          <a:xfrm>
            <a:off x="8732520" y="4315968"/>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daftar isi folder</a:t>
            </a:r>
            <a:endParaRPr lang="en-US" sz="1020" dirty="0"/>
          </a:p>
        </p:txBody>
      </p:sp>
      <p:sp>
        <p:nvSpPr>
          <p:cNvPr id="30" name="Shape 27"/>
          <p:cNvSpPr/>
          <p:nvPr/>
        </p:nvSpPr>
        <p:spPr>
          <a:xfrm>
            <a:off x="6492240" y="4764024"/>
            <a:ext cx="5120640" cy="402336"/>
          </a:xfrm>
          <a:prstGeom prst="roundRect">
            <a:avLst>
              <a:gd name="adj" fmla="val 11364"/>
            </a:avLst>
          </a:prstGeom>
          <a:solidFill>
            <a:srgbClr val="FFFFFF"/>
          </a:solidFill>
          <a:ln w="12700">
            <a:solidFill>
              <a:srgbClr val="E3EBDF"/>
            </a:solidFill>
            <a:prstDash val="solid"/>
          </a:ln>
        </p:spPr>
      </p:sp>
      <p:sp>
        <p:nvSpPr>
          <p:cNvPr id="31" name="Text 28"/>
          <p:cNvSpPr txBox="1"/>
          <p:nvPr/>
        </p:nvSpPr>
        <p:spPr>
          <a:xfrm>
            <a:off x="6675120" y="4764024"/>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stat</a:t>
            </a:r>
            <a:endParaRPr lang="en-US" sz="1020" dirty="0"/>
          </a:p>
        </p:txBody>
      </p:sp>
      <p:sp>
        <p:nvSpPr>
          <p:cNvPr id="32" name="Text 29"/>
          <p:cNvSpPr txBox="1"/>
          <p:nvPr/>
        </p:nvSpPr>
        <p:spPr>
          <a:xfrm>
            <a:off x="8732520" y="4764024"/>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metadata berkas</a:t>
            </a:r>
            <a:endParaRPr lang="en-US" sz="1020" dirty="0"/>
          </a:p>
        </p:txBody>
      </p:sp>
      <p:sp>
        <p:nvSpPr>
          <p:cNvPr id="33" name="Shape 30"/>
          <p:cNvSpPr/>
          <p:nvPr/>
        </p:nvSpPr>
        <p:spPr>
          <a:xfrm>
            <a:off x="6492240" y="5358384"/>
            <a:ext cx="5120640" cy="705917"/>
          </a:xfrm>
          <a:prstGeom prst="roundRect">
            <a:avLst>
              <a:gd name="adj" fmla="val 9067"/>
            </a:avLst>
          </a:prstGeom>
          <a:solidFill>
            <a:srgbClr val="0E2417"/>
          </a:solidFill>
          <a:ln w="12700">
            <a:solidFill>
              <a:srgbClr val="234A31"/>
            </a:solidFill>
            <a:prstDash val="solid"/>
          </a:ln>
        </p:spPr>
      </p:sp>
      <p:sp>
        <p:nvSpPr>
          <p:cNvPr id="34" name="Text 31"/>
          <p:cNvSpPr txBox="1"/>
          <p:nvPr/>
        </p:nvSpPr>
        <p:spPr>
          <a:xfrm>
            <a:off x="6711696" y="5559552"/>
            <a:ext cx="4681728" cy="395021"/>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path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'path'</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path.join(</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__dirname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'data'</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p:txBody>
      </p:sp>
      <p:sp>
        <p:nvSpPr>
          <p:cNvPr id="35" name="Text 32"/>
          <p:cNvSpPr txBox="1"/>
          <p:nvPr/>
        </p:nvSpPr>
        <p:spPr>
          <a:xfrm>
            <a:off x="640080" y="5120640"/>
            <a:ext cx="5577840" cy="457200"/>
          </a:xfrm>
          <a:prstGeom prst="rect">
            <a:avLst/>
          </a:prstGeom>
          <a:noFill/>
          <a:ln/>
        </p:spPr>
        <p:txBody>
          <a:bodyPr wrap="square" lIns="0" tIns="0" rIns="0" bIns="0" rtlCol="0" anchor="ctr"/>
          <a:lstStyle/>
          <a:p>
            <a:pPr indent="0" marL="0">
              <a:lnSpc>
                <a:spcPct val="110000"/>
              </a:lnSpc>
              <a:buNone/>
            </a:pPr>
            <a:r>
              <a:rPr lang="en-US" sz="1080" dirty="0">
                <a:solidFill>
                  <a:srgbClr val="5F6F62"/>
                </a:solidFill>
                <a:latin typeface="Calibri" pitchFamily="34" charset="0"/>
                <a:ea typeface="Calibri" pitchFamily="34" charset="-122"/>
                <a:cs typeface="Calibri" pitchFamily="34" charset="-120"/>
              </a:rPr>
              <a:t>Gunakan modul path untuk menyusun jalur berkas agar kode tetap berjalan di Windows maupun Linux.</a:t>
            </a:r>
            <a:endParaRPr lang="en-US" sz="1080" dirty="0"/>
          </a:p>
        </p:txBody>
      </p:sp>
      <p:sp>
        <p:nvSpPr>
          <p:cNvPr id="36"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Server HTTP Bawaan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Membangun server tanpa framework untuk memahami dasarnya</a:t>
            </a:r>
            <a:endParaRPr lang="en-US" sz="1300" dirty="0"/>
          </a:p>
        </p:txBody>
      </p:sp>
      <p:sp>
        <p:nvSpPr>
          <p:cNvPr id="6" name="Shape 3"/>
          <p:cNvSpPr/>
          <p:nvPr/>
        </p:nvSpPr>
        <p:spPr>
          <a:xfrm>
            <a:off x="640080" y="1627632"/>
            <a:ext cx="6035040" cy="4383487"/>
          </a:xfrm>
          <a:prstGeom prst="roundRect">
            <a:avLst>
              <a:gd name="adj" fmla="val 1460"/>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SERVER DENGAN ROUTING SEDERHANA</a:t>
            </a:r>
            <a:endParaRPr lang="en-US" sz="950" dirty="0"/>
          </a:p>
        </p:txBody>
      </p:sp>
      <p:sp>
        <p:nvSpPr>
          <p:cNvPr id="8" name="Text 5"/>
          <p:cNvSpPr txBox="1"/>
          <p:nvPr/>
        </p:nvSpPr>
        <p:spPr>
          <a:xfrm>
            <a:off x="859536" y="2029968"/>
            <a:ext cx="5596128" cy="387142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http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'http'</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server = http.createServer((req,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url, method } = req;</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(url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&amp;&amp; method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'GET'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'text/html'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'&lt;h1&gt;Beranda&lt;/h1&gt;'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(url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&amp;&amp; method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'GET'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'application/json'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JSON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.stringify({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API'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'Halaman tidak ditemukan'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server.listen(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37360"/>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42516"/>
            <a:ext cx="210312" cy="210312"/>
          </a:xfrm>
          <a:prstGeom prst="rect">
            <a:avLst/>
          </a:prstGeom>
        </p:spPr>
      </p:pic>
      <p:sp>
        <p:nvSpPr>
          <p:cNvPr id="11" name="Text 7"/>
          <p:cNvSpPr txBox="1"/>
          <p:nvPr/>
        </p:nvSpPr>
        <p:spPr>
          <a:xfrm>
            <a:off x="7516368" y="17190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Objek req</a:t>
            </a:r>
            <a:endParaRPr lang="en-US" sz="1200" dirty="0"/>
          </a:p>
        </p:txBody>
      </p:sp>
      <p:sp>
        <p:nvSpPr>
          <p:cNvPr id="12" name="Text 8"/>
          <p:cNvSpPr txBox="1"/>
          <p:nvPr/>
        </p:nvSpPr>
        <p:spPr>
          <a:xfrm>
            <a:off x="7516368" y="1975104"/>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Informasi permintaan: url, method, headers, dan badan permintaan.</a:t>
            </a:r>
            <a:endParaRPr lang="en-US" sz="980" dirty="0"/>
          </a:p>
        </p:txBody>
      </p:sp>
      <p:sp>
        <p:nvSpPr>
          <p:cNvPr id="13" name="Shape 9"/>
          <p:cNvSpPr/>
          <p:nvPr/>
        </p:nvSpPr>
        <p:spPr>
          <a:xfrm>
            <a:off x="6949440" y="2578608"/>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683764"/>
            <a:ext cx="210312" cy="210312"/>
          </a:xfrm>
          <a:prstGeom prst="rect">
            <a:avLst/>
          </a:prstGeom>
        </p:spPr>
      </p:pic>
      <p:sp>
        <p:nvSpPr>
          <p:cNvPr id="15" name="Text 10"/>
          <p:cNvSpPr txBox="1"/>
          <p:nvPr/>
        </p:nvSpPr>
        <p:spPr>
          <a:xfrm>
            <a:off x="7516368" y="256032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Objek res</a:t>
            </a:r>
            <a:endParaRPr lang="en-US" sz="1200" dirty="0"/>
          </a:p>
        </p:txBody>
      </p:sp>
      <p:sp>
        <p:nvSpPr>
          <p:cNvPr id="16" name="Text 11"/>
          <p:cNvSpPr txBox="1"/>
          <p:nvPr/>
        </p:nvSpPr>
        <p:spPr>
          <a:xfrm>
            <a:off x="7516368" y="2816352"/>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Mengirim balasan: writeHead untuk status, end untuk isi respons.</a:t>
            </a:r>
            <a:endParaRPr lang="en-US" sz="980" dirty="0"/>
          </a:p>
        </p:txBody>
      </p:sp>
      <p:sp>
        <p:nvSpPr>
          <p:cNvPr id="17" name="Shape 12"/>
          <p:cNvSpPr/>
          <p:nvPr/>
        </p:nvSpPr>
        <p:spPr>
          <a:xfrm>
            <a:off x="6949440" y="3419856"/>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525012"/>
            <a:ext cx="210312" cy="210312"/>
          </a:xfrm>
          <a:prstGeom prst="rect">
            <a:avLst/>
          </a:prstGeom>
        </p:spPr>
      </p:pic>
      <p:sp>
        <p:nvSpPr>
          <p:cNvPr id="19" name="Text 13"/>
          <p:cNvSpPr txBox="1"/>
          <p:nvPr/>
        </p:nvSpPr>
        <p:spPr>
          <a:xfrm>
            <a:off x="7516368" y="34015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Routing Manual</a:t>
            </a:r>
            <a:endParaRPr lang="en-US" sz="1200" dirty="0"/>
          </a:p>
        </p:txBody>
      </p:sp>
      <p:sp>
        <p:nvSpPr>
          <p:cNvPr id="20" name="Text 14"/>
          <p:cNvSpPr txBox="1"/>
          <p:nvPr/>
        </p:nvSpPr>
        <p:spPr>
          <a:xfrm>
            <a:off x="7516368" y="3657600"/>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Percabangan url dan method harus ditulis sendiri satu per satu.</a:t>
            </a:r>
            <a:endParaRPr lang="en-US" sz="980" dirty="0"/>
          </a:p>
        </p:txBody>
      </p:sp>
      <p:sp>
        <p:nvSpPr>
          <p:cNvPr id="21" name="Shape 15"/>
          <p:cNvSpPr/>
          <p:nvPr/>
        </p:nvSpPr>
        <p:spPr>
          <a:xfrm>
            <a:off x="6949440" y="4261104"/>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4366260"/>
            <a:ext cx="210312" cy="210312"/>
          </a:xfrm>
          <a:prstGeom prst="rect">
            <a:avLst/>
          </a:prstGeom>
        </p:spPr>
      </p:pic>
      <p:sp>
        <p:nvSpPr>
          <p:cNvPr id="23" name="Text 16"/>
          <p:cNvSpPr txBox="1"/>
          <p:nvPr/>
        </p:nvSpPr>
        <p:spPr>
          <a:xfrm>
            <a:off x="7516368" y="42428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Keterbatasan</a:t>
            </a:r>
            <a:endParaRPr lang="en-US" sz="1200" dirty="0"/>
          </a:p>
        </p:txBody>
      </p:sp>
      <p:sp>
        <p:nvSpPr>
          <p:cNvPr id="24" name="Text 17"/>
          <p:cNvSpPr txBox="1"/>
          <p:nvPr/>
        </p:nvSpPr>
        <p:spPr>
          <a:xfrm>
            <a:off x="7516368" y="4498848"/>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Parsing body, kueri, unggahan, dan cookie harus dibuat manual.</a:t>
            </a:r>
            <a:endParaRPr lang="en-US" sz="980" dirty="0"/>
          </a:p>
        </p:txBody>
      </p:sp>
      <p:sp>
        <p:nvSpPr>
          <p:cNvPr id="25" name="Shape 18"/>
          <p:cNvSpPr/>
          <p:nvPr/>
        </p:nvSpPr>
        <p:spPr>
          <a:xfrm>
            <a:off x="6949440" y="5102352"/>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5207508"/>
            <a:ext cx="210312" cy="210312"/>
          </a:xfrm>
          <a:prstGeom prst="rect">
            <a:avLst/>
          </a:prstGeom>
        </p:spPr>
      </p:pic>
      <p:sp>
        <p:nvSpPr>
          <p:cNvPr id="27" name="Text 19"/>
          <p:cNvSpPr txBox="1"/>
          <p:nvPr/>
        </p:nvSpPr>
        <p:spPr>
          <a:xfrm>
            <a:off x="7516368" y="508406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Karena Itulah Express</a:t>
            </a:r>
            <a:endParaRPr lang="en-US" sz="1200" dirty="0"/>
          </a:p>
        </p:txBody>
      </p:sp>
      <p:sp>
        <p:nvSpPr>
          <p:cNvPr id="28" name="Text 20"/>
          <p:cNvSpPr txBox="1"/>
          <p:nvPr/>
        </p:nvSpPr>
        <p:spPr>
          <a:xfrm>
            <a:off x="7516368" y="5340096"/>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Express menyediakan semua kebutuhan itu dalam bentuk siap pakai.</a:t>
            </a:r>
            <a:endParaRPr lang="en-US" sz="980" dirty="0"/>
          </a:p>
        </p:txBody>
      </p:sp>
      <p:sp>
        <p:nvSpPr>
          <p:cNvPr id="29"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1A1A1A"/>
          </a:solidFill>
          <a:ln w="12700">
            <a:solidFill>
              <a:srgbClr val="1A1A1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Express.js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Framework web minimalis yang paling banyak dipakai di ekosistem Node.js</a:t>
            </a:r>
            <a:endParaRPr lang="en-US" sz="1300" dirty="0"/>
          </a:p>
        </p:txBody>
      </p:sp>
      <p:sp>
        <p:nvSpPr>
          <p:cNvPr id="6" name="Shape 3"/>
          <p:cNvSpPr/>
          <p:nvPr/>
        </p:nvSpPr>
        <p:spPr>
          <a:xfrm>
            <a:off x="640080" y="1609344"/>
            <a:ext cx="5577840" cy="1225296"/>
          </a:xfrm>
          <a:prstGeom prst="roundRect">
            <a:avLst>
              <a:gd name="adj" fmla="val 671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4622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Apa Itu Express?</a:t>
            </a:r>
            <a:endParaRPr lang="en-US" sz="1300" dirty="0"/>
          </a:p>
        </p:txBody>
      </p:sp>
      <p:sp>
        <p:nvSpPr>
          <p:cNvPr id="10" name="Text 6"/>
          <p:cNvSpPr txBox="1"/>
          <p:nvPr/>
        </p:nvSpPr>
        <p:spPr>
          <a:xfrm>
            <a:off x="896112" y="2395728"/>
            <a:ext cx="5065776" cy="274320"/>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Framework tipis di atas modul http yang menyediakan routing, middleware, penyajian berkas statis, dan integrasi mesin templat.</a:t>
            </a:r>
            <a:endParaRPr lang="en-US" sz="1080" dirty="0"/>
          </a:p>
        </p:txBody>
      </p:sp>
      <p:sp>
        <p:nvSpPr>
          <p:cNvPr id="11" name="Shape 7"/>
          <p:cNvSpPr/>
          <p:nvPr/>
        </p:nvSpPr>
        <p:spPr>
          <a:xfrm>
            <a:off x="640080" y="2907792"/>
            <a:ext cx="5577840" cy="3516087"/>
          </a:xfrm>
          <a:prstGeom prst="roundRect">
            <a:avLst>
              <a:gd name="adj" fmla="val 1820"/>
            </a:avLst>
          </a:prstGeom>
          <a:solidFill>
            <a:srgbClr val="0E2417"/>
          </a:solidFill>
          <a:ln w="12700">
            <a:solidFill>
              <a:srgbClr val="234A31"/>
            </a:solidFill>
            <a:prstDash val="solid"/>
          </a:ln>
        </p:spPr>
      </p:sp>
      <p:sp>
        <p:nvSpPr>
          <p:cNvPr id="12" name="Text 8"/>
          <p:cNvSpPr txBox="1"/>
          <p:nvPr/>
        </p:nvSpPr>
        <p:spPr>
          <a:xfrm>
            <a:off x="859536" y="29992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APLIKASI EXPRESS PERTAMA</a:t>
            </a:r>
            <a:endParaRPr lang="en-US" sz="950" dirty="0"/>
          </a:p>
        </p:txBody>
      </p:sp>
      <p:sp>
        <p:nvSpPr>
          <p:cNvPr id="13" name="Text 9"/>
          <p:cNvSpPr txBox="1"/>
          <p:nvPr/>
        </p:nvSpPr>
        <p:spPr>
          <a:xfrm>
            <a:off x="859536" y="331012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express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 = express();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bawaan untuk membaca 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app.use(express.json());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app.use(express.static(</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'public'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dari 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'/api/users/:id'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 id: req.params.id,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app.listen(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 siap di port 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4" name="Shape 10"/>
          <p:cNvSpPr/>
          <p:nvPr/>
        </p:nvSpPr>
        <p:spPr>
          <a:xfrm>
            <a:off x="6492240" y="1737360"/>
            <a:ext cx="420624" cy="420624"/>
          </a:xfrm>
          <a:prstGeom prst="roundRect">
            <a:avLst>
              <a:gd name="adj" fmla="val 26087"/>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6597396" y="1842516"/>
            <a:ext cx="210312" cy="210312"/>
          </a:xfrm>
          <a:prstGeom prst="rect">
            <a:avLst/>
          </a:prstGeom>
        </p:spPr>
      </p:pic>
      <p:sp>
        <p:nvSpPr>
          <p:cNvPr id="16" name="Text 11"/>
          <p:cNvSpPr txBox="1"/>
          <p:nvPr/>
        </p:nvSpPr>
        <p:spPr>
          <a:xfrm>
            <a:off x="7059168" y="17190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Routing Ringkas</a:t>
            </a:r>
            <a:endParaRPr lang="en-US" sz="1200" dirty="0"/>
          </a:p>
        </p:txBody>
      </p:sp>
      <p:sp>
        <p:nvSpPr>
          <p:cNvPr id="17" name="Text 12"/>
          <p:cNvSpPr txBox="1"/>
          <p:nvPr/>
        </p:nvSpPr>
        <p:spPr>
          <a:xfrm>
            <a:off x="7059168" y="1975104"/>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app.get, app.post, app.put, dan app.delete memetakan alamat ke fungsi.</a:t>
            </a:r>
            <a:endParaRPr lang="en-US" sz="980" dirty="0"/>
          </a:p>
        </p:txBody>
      </p:sp>
      <p:sp>
        <p:nvSpPr>
          <p:cNvPr id="18" name="Shape 13"/>
          <p:cNvSpPr/>
          <p:nvPr/>
        </p:nvSpPr>
        <p:spPr>
          <a:xfrm>
            <a:off x="6492240" y="2578608"/>
            <a:ext cx="420624" cy="420624"/>
          </a:xfrm>
          <a:prstGeom prst="roundRect">
            <a:avLst>
              <a:gd name="adj" fmla="val 26087"/>
            </a:avLst>
          </a:prstGeom>
          <a:solidFill>
            <a:srgbClr val="E8F2E2"/>
          </a:solidFill>
          <a:ln w="12700">
            <a:solidFill>
              <a:srgbClr val="E8F2E2"/>
            </a:solidFill>
            <a:prstDash val="solid"/>
          </a:ln>
        </p:spPr>
      </p:sp>
      <p:pic>
        <p:nvPicPr>
          <p:cNvPr id="19" name="Image 3" descr="preencoded.png">    </p:cNvPr>
          <p:cNvPicPr>
            <a:picLocks noChangeAspect="1"/>
          </p:cNvPicPr>
          <p:nvPr/>
        </p:nvPicPr>
        <p:blipFill>
          <a:blip r:embed="rId4"/>
          <a:stretch>
            <a:fillRect/>
          </a:stretch>
        </p:blipFill>
        <p:spPr>
          <a:xfrm>
            <a:off x="6597396" y="2683764"/>
            <a:ext cx="210312" cy="210312"/>
          </a:xfrm>
          <a:prstGeom prst="rect">
            <a:avLst/>
          </a:prstGeom>
        </p:spPr>
      </p:pic>
      <p:sp>
        <p:nvSpPr>
          <p:cNvPr id="20" name="Text 14"/>
          <p:cNvSpPr txBox="1"/>
          <p:nvPr/>
        </p:nvSpPr>
        <p:spPr>
          <a:xfrm>
            <a:off x="7059168" y="25603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Middleware</a:t>
            </a:r>
            <a:endParaRPr lang="en-US" sz="1200" dirty="0"/>
          </a:p>
        </p:txBody>
      </p:sp>
      <p:sp>
        <p:nvSpPr>
          <p:cNvPr id="21" name="Text 15"/>
          <p:cNvSpPr txBox="1"/>
          <p:nvPr/>
        </p:nvSpPr>
        <p:spPr>
          <a:xfrm>
            <a:off x="7059168" y="2816352"/>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Fungsi berlapis yang memproses permintaan sebelum penangan akhir.</a:t>
            </a:r>
            <a:endParaRPr lang="en-US" sz="980" dirty="0"/>
          </a:p>
        </p:txBody>
      </p:sp>
      <p:sp>
        <p:nvSpPr>
          <p:cNvPr id="22" name="Shape 16"/>
          <p:cNvSpPr/>
          <p:nvPr/>
        </p:nvSpPr>
        <p:spPr>
          <a:xfrm>
            <a:off x="6492240" y="3419856"/>
            <a:ext cx="420624" cy="420624"/>
          </a:xfrm>
          <a:prstGeom prst="roundRect">
            <a:avLst>
              <a:gd name="adj" fmla="val 26087"/>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6597396" y="3525012"/>
            <a:ext cx="210312" cy="210312"/>
          </a:xfrm>
          <a:prstGeom prst="rect">
            <a:avLst/>
          </a:prstGeom>
        </p:spPr>
      </p:pic>
      <p:sp>
        <p:nvSpPr>
          <p:cNvPr id="24" name="Text 17"/>
          <p:cNvSpPr txBox="1"/>
          <p:nvPr/>
        </p:nvSpPr>
        <p:spPr>
          <a:xfrm>
            <a:off x="7059168" y="340156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Ekosistem Luas</a:t>
            </a:r>
            <a:endParaRPr lang="en-US" sz="1200" dirty="0"/>
          </a:p>
        </p:txBody>
      </p:sp>
      <p:sp>
        <p:nvSpPr>
          <p:cNvPr id="25" name="Text 18"/>
          <p:cNvSpPr txBox="1"/>
          <p:nvPr/>
        </p:nvSpPr>
        <p:spPr>
          <a:xfrm>
            <a:off x="7059168" y="3657600"/>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Ribuan middleware siap pakai: cors, helmet, morgan, dan multer.</a:t>
            </a:r>
            <a:endParaRPr lang="en-US" sz="980" dirty="0"/>
          </a:p>
        </p:txBody>
      </p:sp>
      <p:sp>
        <p:nvSpPr>
          <p:cNvPr id="26" name="Shape 19"/>
          <p:cNvSpPr/>
          <p:nvPr/>
        </p:nvSpPr>
        <p:spPr>
          <a:xfrm>
            <a:off x="6492240" y="4261104"/>
            <a:ext cx="420624" cy="420624"/>
          </a:xfrm>
          <a:prstGeom prst="roundRect">
            <a:avLst>
              <a:gd name="adj" fmla="val 26087"/>
            </a:avLst>
          </a:prstGeom>
          <a:solidFill>
            <a:srgbClr val="E8F2E2"/>
          </a:solidFill>
          <a:ln w="12700">
            <a:solidFill>
              <a:srgbClr val="E8F2E2"/>
            </a:solidFill>
            <a:prstDash val="solid"/>
          </a:ln>
        </p:spPr>
      </p:sp>
      <p:pic>
        <p:nvPicPr>
          <p:cNvPr id="27" name="Image 5" descr="preencoded.png">    </p:cNvPr>
          <p:cNvPicPr>
            <a:picLocks noChangeAspect="1"/>
          </p:cNvPicPr>
          <p:nvPr/>
        </p:nvPicPr>
        <p:blipFill>
          <a:blip r:embed="rId6"/>
          <a:stretch>
            <a:fillRect/>
          </a:stretch>
        </p:blipFill>
        <p:spPr>
          <a:xfrm>
            <a:off x="6597396" y="4366260"/>
            <a:ext cx="210312" cy="210312"/>
          </a:xfrm>
          <a:prstGeom prst="rect">
            <a:avLst/>
          </a:prstGeom>
        </p:spPr>
      </p:pic>
      <p:sp>
        <p:nvSpPr>
          <p:cNvPr id="28" name="Text 20"/>
          <p:cNvSpPr txBox="1"/>
          <p:nvPr/>
        </p:nvSpPr>
        <p:spPr>
          <a:xfrm>
            <a:off x="7059168" y="424281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Mesin Templat</a:t>
            </a:r>
            <a:endParaRPr lang="en-US" sz="1200" dirty="0"/>
          </a:p>
        </p:txBody>
      </p:sp>
      <p:sp>
        <p:nvSpPr>
          <p:cNvPr id="29" name="Text 21"/>
          <p:cNvSpPr txBox="1"/>
          <p:nvPr/>
        </p:nvSpPr>
        <p:spPr>
          <a:xfrm>
            <a:off x="7059168" y="4498848"/>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Mendukung EJS, Pug, dan Handlebars untuk merender halaman.</a:t>
            </a:r>
            <a:endParaRPr lang="en-US" sz="980" dirty="0"/>
          </a:p>
        </p:txBody>
      </p:sp>
      <p:sp>
        <p:nvSpPr>
          <p:cNvPr id="30" name="Shape 22"/>
          <p:cNvSpPr/>
          <p:nvPr/>
        </p:nvSpPr>
        <p:spPr>
          <a:xfrm>
            <a:off x="6492240" y="5102352"/>
            <a:ext cx="420624" cy="420624"/>
          </a:xfrm>
          <a:prstGeom prst="roundRect">
            <a:avLst>
              <a:gd name="adj" fmla="val 26087"/>
            </a:avLst>
          </a:prstGeom>
          <a:solidFill>
            <a:srgbClr val="E8F2E2"/>
          </a:solidFill>
          <a:ln w="12700">
            <a:solidFill>
              <a:srgbClr val="E8F2E2"/>
            </a:solidFill>
            <a:prstDash val="solid"/>
          </a:ln>
        </p:spPr>
      </p:sp>
      <p:pic>
        <p:nvPicPr>
          <p:cNvPr id="31" name="Image 6" descr="preencoded.png">    </p:cNvPr>
          <p:cNvPicPr>
            <a:picLocks noChangeAspect="1"/>
          </p:cNvPicPr>
          <p:nvPr/>
        </p:nvPicPr>
        <p:blipFill>
          <a:blip r:embed="rId7"/>
          <a:stretch>
            <a:fillRect/>
          </a:stretch>
        </p:blipFill>
        <p:spPr>
          <a:xfrm>
            <a:off x="6597396" y="5207508"/>
            <a:ext cx="210312" cy="210312"/>
          </a:xfrm>
          <a:prstGeom prst="rect">
            <a:avLst/>
          </a:prstGeom>
        </p:spPr>
      </p:pic>
      <p:sp>
        <p:nvSpPr>
          <p:cNvPr id="32" name="Text 23"/>
          <p:cNvSpPr txBox="1"/>
          <p:nvPr/>
        </p:nvSpPr>
        <p:spPr>
          <a:xfrm>
            <a:off x="7059168" y="50840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Ringan</a:t>
            </a:r>
            <a:endParaRPr lang="en-US" sz="1200" dirty="0"/>
          </a:p>
        </p:txBody>
      </p:sp>
      <p:sp>
        <p:nvSpPr>
          <p:cNvPr id="33" name="Text 24"/>
          <p:cNvSpPr txBox="1"/>
          <p:nvPr/>
        </p:nvSpPr>
        <p:spPr>
          <a:xfrm>
            <a:off x="7059168" y="5340096"/>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Tidak memaksakan struktur folder sehingga fleksibel di segala skala.</a:t>
            </a:r>
            <a:endParaRPr lang="en-US" sz="980" dirty="0"/>
          </a:p>
        </p:txBody>
      </p:sp>
      <p:sp>
        <p:nvSpPr>
          <p:cNvPr id="34"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Routing dan Middleware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Cara permintaan mengalir melewati lapisan-lapisan fungsi</a:t>
            </a:r>
            <a:endParaRPr lang="en-US" sz="1300" dirty="0"/>
          </a:p>
        </p:txBody>
      </p:sp>
      <p:sp>
        <p:nvSpPr>
          <p:cNvPr id="6" name="Shape 3"/>
          <p:cNvSpPr/>
          <p:nvPr/>
        </p:nvSpPr>
        <p:spPr>
          <a:xfrm>
            <a:off x="640080" y="1627632"/>
            <a:ext cx="1673352" cy="640080"/>
          </a:xfrm>
          <a:prstGeom prst="roundRect">
            <a:avLst>
              <a:gd name="adj" fmla="val 12857"/>
            </a:avLst>
          </a:prstGeom>
          <a:solidFill>
            <a:srgbClr val="0B2015"/>
          </a:solidFill>
          <a:ln w="12700">
            <a:solidFill>
              <a:srgbClr val="0B2015"/>
            </a:solidFill>
            <a:prstDash val="solid"/>
          </a:ln>
        </p:spPr>
      </p:sp>
      <p:sp>
        <p:nvSpPr>
          <p:cNvPr id="7" name="Text 4"/>
          <p:cNvSpPr txBox="1"/>
          <p:nvPr/>
        </p:nvSpPr>
        <p:spPr>
          <a:xfrm>
            <a:off x="640080"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Permintaan</a:t>
            </a:r>
            <a:endParaRPr lang="en-US" sz="1150" dirty="0"/>
          </a:p>
        </p:txBody>
      </p:sp>
      <p:pic>
        <p:nvPicPr>
          <p:cNvPr id="8" name="Image 1" descr="preencoded.png">    </p:cNvPr>
          <p:cNvPicPr>
            <a:picLocks noChangeAspect="1"/>
          </p:cNvPicPr>
          <p:nvPr/>
        </p:nvPicPr>
        <p:blipFill>
          <a:blip r:embed="rId2"/>
          <a:stretch>
            <a:fillRect/>
          </a:stretch>
        </p:blipFill>
        <p:spPr>
          <a:xfrm>
            <a:off x="2318004" y="1865376"/>
            <a:ext cx="164592" cy="164592"/>
          </a:xfrm>
          <a:prstGeom prst="rect">
            <a:avLst/>
          </a:prstGeom>
        </p:spPr>
      </p:pic>
      <p:sp>
        <p:nvSpPr>
          <p:cNvPr id="9" name="Shape 5"/>
          <p:cNvSpPr/>
          <p:nvPr/>
        </p:nvSpPr>
        <p:spPr>
          <a:xfrm>
            <a:off x="2487168" y="1627632"/>
            <a:ext cx="1673352" cy="640080"/>
          </a:xfrm>
          <a:prstGeom prst="roundRect">
            <a:avLst>
              <a:gd name="adj" fmla="val 12857"/>
            </a:avLst>
          </a:prstGeom>
          <a:solidFill>
            <a:srgbClr val="3C873A"/>
          </a:solidFill>
          <a:ln w="12700">
            <a:solidFill>
              <a:srgbClr val="3C873A"/>
            </a:solidFill>
            <a:prstDash val="solid"/>
          </a:ln>
        </p:spPr>
      </p:sp>
      <p:sp>
        <p:nvSpPr>
          <p:cNvPr id="10" name="Text 6"/>
          <p:cNvSpPr txBox="1"/>
          <p:nvPr/>
        </p:nvSpPr>
        <p:spPr>
          <a:xfrm>
            <a:off x="2487168"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Logger</a:t>
            </a:r>
            <a:endParaRPr lang="en-US" sz="1150" dirty="0"/>
          </a:p>
        </p:txBody>
      </p:sp>
      <p:pic>
        <p:nvPicPr>
          <p:cNvPr id="11" name="Image 2" descr="preencoded.png">    </p:cNvPr>
          <p:cNvPicPr>
            <a:picLocks noChangeAspect="1"/>
          </p:cNvPicPr>
          <p:nvPr/>
        </p:nvPicPr>
        <p:blipFill>
          <a:blip r:embed="rId3"/>
          <a:stretch>
            <a:fillRect/>
          </a:stretch>
        </p:blipFill>
        <p:spPr>
          <a:xfrm>
            <a:off x="4165092" y="1865376"/>
            <a:ext cx="164592" cy="164592"/>
          </a:xfrm>
          <a:prstGeom prst="rect">
            <a:avLst/>
          </a:prstGeom>
        </p:spPr>
      </p:pic>
      <p:sp>
        <p:nvSpPr>
          <p:cNvPr id="12" name="Shape 7"/>
          <p:cNvSpPr/>
          <p:nvPr/>
        </p:nvSpPr>
        <p:spPr>
          <a:xfrm>
            <a:off x="4334256" y="1627632"/>
            <a:ext cx="1673352" cy="640080"/>
          </a:xfrm>
          <a:prstGeom prst="roundRect">
            <a:avLst>
              <a:gd name="adj" fmla="val 12857"/>
            </a:avLst>
          </a:prstGeom>
          <a:solidFill>
            <a:srgbClr val="3C873A"/>
          </a:solidFill>
          <a:ln w="12700">
            <a:solidFill>
              <a:srgbClr val="3C873A"/>
            </a:solidFill>
            <a:prstDash val="solid"/>
          </a:ln>
        </p:spPr>
      </p:sp>
      <p:sp>
        <p:nvSpPr>
          <p:cNvPr id="13" name="Text 8"/>
          <p:cNvSpPr txBox="1"/>
          <p:nvPr/>
        </p:nvSpPr>
        <p:spPr>
          <a:xfrm>
            <a:off x="4334256"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Autentikasi</a:t>
            </a:r>
            <a:endParaRPr lang="en-US" sz="1150" dirty="0"/>
          </a:p>
        </p:txBody>
      </p:sp>
      <p:pic>
        <p:nvPicPr>
          <p:cNvPr id="14" name="Image 3" descr="preencoded.png">    </p:cNvPr>
          <p:cNvPicPr>
            <a:picLocks noChangeAspect="1"/>
          </p:cNvPicPr>
          <p:nvPr/>
        </p:nvPicPr>
        <p:blipFill>
          <a:blip r:embed="rId4"/>
          <a:stretch>
            <a:fillRect/>
          </a:stretch>
        </p:blipFill>
        <p:spPr>
          <a:xfrm>
            <a:off x="6012180" y="1865376"/>
            <a:ext cx="164592" cy="164592"/>
          </a:xfrm>
          <a:prstGeom prst="rect">
            <a:avLst/>
          </a:prstGeom>
        </p:spPr>
      </p:pic>
      <p:sp>
        <p:nvSpPr>
          <p:cNvPr id="15" name="Shape 9"/>
          <p:cNvSpPr/>
          <p:nvPr/>
        </p:nvSpPr>
        <p:spPr>
          <a:xfrm>
            <a:off x="6181344" y="1627632"/>
            <a:ext cx="1673352" cy="640080"/>
          </a:xfrm>
          <a:prstGeom prst="roundRect">
            <a:avLst>
              <a:gd name="adj" fmla="val 12857"/>
            </a:avLst>
          </a:prstGeom>
          <a:solidFill>
            <a:srgbClr val="3C873A"/>
          </a:solidFill>
          <a:ln w="12700">
            <a:solidFill>
              <a:srgbClr val="3C873A"/>
            </a:solidFill>
            <a:prstDash val="solid"/>
          </a:ln>
        </p:spPr>
      </p:sp>
      <p:sp>
        <p:nvSpPr>
          <p:cNvPr id="16" name="Text 10"/>
          <p:cNvSpPr txBox="1"/>
          <p:nvPr/>
        </p:nvSpPr>
        <p:spPr>
          <a:xfrm>
            <a:off x="6181344"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Validasi</a:t>
            </a:r>
            <a:endParaRPr lang="en-US" sz="1150" dirty="0"/>
          </a:p>
        </p:txBody>
      </p:sp>
      <p:pic>
        <p:nvPicPr>
          <p:cNvPr id="17" name="Image 4" descr="preencoded.png">    </p:cNvPr>
          <p:cNvPicPr>
            <a:picLocks noChangeAspect="1"/>
          </p:cNvPicPr>
          <p:nvPr/>
        </p:nvPicPr>
        <p:blipFill>
          <a:blip r:embed="rId5"/>
          <a:stretch>
            <a:fillRect/>
          </a:stretch>
        </p:blipFill>
        <p:spPr>
          <a:xfrm>
            <a:off x="7859268" y="1865376"/>
            <a:ext cx="164592" cy="164592"/>
          </a:xfrm>
          <a:prstGeom prst="rect">
            <a:avLst/>
          </a:prstGeom>
        </p:spPr>
      </p:pic>
      <p:sp>
        <p:nvSpPr>
          <p:cNvPr id="18" name="Shape 11"/>
          <p:cNvSpPr/>
          <p:nvPr/>
        </p:nvSpPr>
        <p:spPr>
          <a:xfrm>
            <a:off x="8028432" y="1627632"/>
            <a:ext cx="1673352" cy="640080"/>
          </a:xfrm>
          <a:prstGeom prst="roundRect">
            <a:avLst>
              <a:gd name="adj" fmla="val 12857"/>
            </a:avLst>
          </a:prstGeom>
          <a:solidFill>
            <a:srgbClr val="3C873A"/>
          </a:solidFill>
          <a:ln w="12700">
            <a:solidFill>
              <a:srgbClr val="3C873A"/>
            </a:solidFill>
            <a:prstDash val="solid"/>
          </a:ln>
        </p:spPr>
      </p:sp>
      <p:sp>
        <p:nvSpPr>
          <p:cNvPr id="19" name="Text 12"/>
          <p:cNvSpPr txBox="1"/>
          <p:nvPr/>
        </p:nvSpPr>
        <p:spPr>
          <a:xfrm>
            <a:off x="8028432"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Controller</a:t>
            </a:r>
            <a:endParaRPr lang="en-US" sz="1150" dirty="0"/>
          </a:p>
        </p:txBody>
      </p:sp>
      <p:pic>
        <p:nvPicPr>
          <p:cNvPr id="20" name="Image 5" descr="preencoded.png">    </p:cNvPr>
          <p:cNvPicPr>
            <a:picLocks noChangeAspect="1"/>
          </p:cNvPicPr>
          <p:nvPr/>
        </p:nvPicPr>
        <p:blipFill>
          <a:blip r:embed="rId6"/>
          <a:stretch>
            <a:fillRect/>
          </a:stretch>
        </p:blipFill>
        <p:spPr>
          <a:xfrm>
            <a:off x="9706356" y="1865376"/>
            <a:ext cx="164592" cy="164592"/>
          </a:xfrm>
          <a:prstGeom prst="rect">
            <a:avLst/>
          </a:prstGeom>
        </p:spPr>
      </p:pic>
      <p:sp>
        <p:nvSpPr>
          <p:cNvPr id="21" name="Shape 13"/>
          <p:cNvSpPr/>
          <p:nvPr/>
        </p:nvSpPr>
        <p:spPr>
          <a:xfrm>
            <a:off x="9875520" y="1627632"/>
            <a:ext cx="1673352" cy="640080"/>
          </a:xfrm>
          <a:prstGeom prst="roundRect">
            <a:avLst>
              <a:gd name="adj" fmla="val 12857"/>
            </a:avLst>
          </a:prstGeom>
          <a:solidFill>
            <a:srgbClr val="0B2015"/>
          </a:solidFill>
          <a:ln w="12700">
            <a:solidFill>
              <a:srgbClr val="0B2015"/>
            </a:solidFill>
            <a:prstDash val="solid"/>
          </a:ln>
        </p:spPr>
      </p:sp>
      <p:sp>
        <p:nvSpPr>
          <p:cNvPr id="22" name="Text 14"/>
          <p:cNvSpPr txBox="1"/>
          <p:nvPr/>
        </p:nvSpPr>
        <p:spPr>
          <a:xfrm>
            <a:off x="9875520"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Respons</a:t>
            </a:r>
            <a:endParaRPr lang="en-US" sz="1150" dirty="0"/>
          </a:p>
        </p:txBody>
      </p:sp>
      <p:sp>
        <p:nvSpPr>
          <p:cNvPr id="23" name="Shape 15"/>
          <p:cNvSpPr/>
          <p:nvPr/>
        </p:nvSpPr>
        <p:spPr>
          <a:xfrm>
            <a:off x="640080" y="2450592"/>
            <a:ext cx="5577840" cy="3516087"/>
          </a:xfrm>
          <a:prstGeom prst="roundRect">
            <a:avLst>
              <a:gd name="adj" fmla="val 1820"/>
            </a:avLst>
          </a:prstGeom>
          <a:solidFill>
            <a:srgbClr val="0E2417"/>
          </a:solidFill>
          <a:ln w="12700">
            <a:solidFill>
              <a:srgbClr val="234A31"/>
            </a:solidFill>
            <a:prstDash val="solid"/>
          </a:ln>
        </p:spPr>
      </p:sp>
      <p:sp>
        <p:nvSpPr>
          <p:cNvPr id="24" name="Text 16"/>
          <p:cNvSpPr txBox="1"/>
          <p:nvPr/>
        </p:nvSpPr>
        <p:spPr>
          <a:xfrm>
            <a:off x="859536" y="25420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MIDDLEWARE</a:t>
            </a:r>
            <a:endParaRPr lang="en-US" sz="950" dirty="0"/>
          </a:p>
        </p:txBody>
      </p:sp>
      <p:sp>
        <p:nvSpPr>
          <p:cNvPr id="25" name="Text 17"/>
          <p:cNvSpPr txBox="1"/>
          <p:nvPr/>
        </p:nvSpPr>
        <p:spPr>
          <a:xfrm>
            <a:off x="859536" y="285292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global untuk semua permintaan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`${req.method} ${req.url}`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wajib, agar lanjut ke lapisan berikut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khusus satu rute</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cekToken(req, res, next)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(!req.headers.authorization)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'Ditolak'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'/profil'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cekToken,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6" name="Shape 18"/>
          <p:cNvSpPr/>
          <p:nvPr/>
        </p:nvSpPr>
        <p:spPr>
          <a:xfrm>
            <a:off x="6492240" y="2450592"/>
            <a:ext cx="5120640" cy="2301728"/>
          </a:xfrm>
          <a:prstGeom prst="roundRect">
            <a:avLst>
              <a:gd name="adj" fmla="val 2781"/>
            </a:avLst>
          </a:prstGeom>
          <a:solidFill>
            <a:srgbClr val="0E2417"/>
          </a:solidFill>
          <a:ln w="12700">
            <a:solidFill>
              <a:srgbClr val="234A31"/>
            </a:solidFill>
            <a:prstDash val="solid"/>
          </a:ln>
        </p:spPr>
      </p:sp>
      <p:sp>
        <p:nvSpPr>
          <p:cNvPr id="27" name="Text 19"/>
          <p:cNvSpPr txBox="1"/>
          <p:nvPr/>
        </p:nvSpPr>
        <p:spPr>
          <a:xfrm>
            <a:off x="6711696" y="254203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ROUTER TERPISAH</a:t>
            </a:r>
            <a:endParaRPr lang="en-US" sz="950" dirty="0"/>
          </a:p>
        </p:txBody>
      </p:sp>
      <p:sp>
        <p:nvSpPr>
          <p:cNvPr id="28" name="Text 20"/>
          <p:cNvSpPr txBox="1"/>
          <p:nvPr/>
        </p:nvSpPr>
        <p:spPr>
          <a:xfrm>
            <a:off x="6711696" y="2852928"/>
            <a:ext cx="4681728" cy="178966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routes/users.js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router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getSemua);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router.post(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buatBaru);</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getSatu);</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router;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server.js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'./routes/users'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'/api/users'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users);</a:t>
            </a:r>
            <a:endParaRPr lang="en-US" sz="1020" dirty="0"/>
          </a:p>
        </p:txBody>
      </p:sp>
      <p:sp>
        <p:nvSpPr>
          <p:cNvPr id="29" name="Shape 21"/>
          <p:cNvSpPr/>
          <p:nvPr/>
        </p:nvSpPr>
        <p:spPr>
          <a:xfrm>
            <a:off x="6492240" y="4736592"/>
            <a:ext cx="420624" cy="420624"/>
          </a:xfrm>
          <a:prstGeom prst="roundRect">
            <a:avLst>
              <a:gd name="adj" fmla="val 26087"/>
            </a:avLst>
          </a:prstGeom>
          <a:solidFill>
            <a:srgbClr val="E8F2E2"/>
          </a:solidFill>
          <a:ln w="12700">
            <a:solidFill>
              <a:srgbClr val="E8F2E2"/>
            </a:solidFill>
            <a:prstDash val="solid"/>
          </a:ln>
        </p:spPr>
      </p:sp>
      <p:pic>
        <p:nvPicPr>
          <p:cNvPr id="30" name="Image 6" descr="preencoded.png">    </p:cNvPr>
          <p:cNvPicPr>
            <a:picLocks noChangeAspect="1"/>
          </p:cNvPicPr>
          <p:nvPr/>
        </p:nvPicPr>
        <p:blipFill>
          <a:blip r:embed="rId7"/>
          <a:stretch>
            <a:fillRect/>
          </a:stretch>
        </p:blipFill>
        <p:spPr>
          <a:xfrm>
            <a:off x="6597396" y="4841748"/>
            <a:ext cx="210312" cy="210312"/>
          </a:xfrm>
          <a:prstGeom prst="rect">
            <a:avLst/>
          </a:prstGeom>
        </p:spPr>
      </p:pic>
      <p:sp>
        <p:nvSpPr>
          <p:cNvPr id="31" name="Text 22"/>
          <p:cNvSpPr txBox="1"/>
          <p:nvPr/>
        </p:nvSpPr>
        <p:spPr>
          <a:xfrm>
            <a:off x="7059168" y="4718304"/>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Aplikasi</a:t>
            </a:r>
            <a:endParaRPr lang="en-US" sz="1250" dirty="0"/>
          </a:p>
        </p:txBody>
      </p:sp>
      <p:sp>
        <p:nvSpPr>
          <p:cNvPr id="32" name="Text 23"/>
          <p:cNvSpPr txBox="1"/>
          <p:nvPr/>
        </p:nvSpPr>
        <p:spPr>
          <a:xfrm>
            <a:off x="7059168" y="4974336"/>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Dipasang dengan app.use, berlaku untuk semua permintaan.</a:t>
            </a:r>
            <a:endParaRPr lang="en-US" sz="1030" dirty="0"/>
          </a:p>
        </p:txBody>
      </p:sp>
      <p:sp>
        <p:nvSpPr>
          <p:cNvPr id="33" name="Shape 24"/>
          <p:cNvSpPr/>
          <p:nvPr/>
        </p:nvSpPr>
        <p:spPr>
          <a:xfrm>
            <a:off x="6492240" y="5212080"/>
            <a:ext cx="420624" cy="420624"/>
          </a:xfrm>
          <a:prstGeom prst="roundRect">
            <a:avLst>
              <a:gd name="adj" fmla="val 26087"/>
            </a:avLst>
          </a:prstGeom>
          <a:solidFill>
            <a:srgbClr val="E8F2E2"/>
          </a:solidFill>
          <a:ln w="12700">
            <a:solidFill>
              <a:srgbClr val="E8F2E2"/>
            </a:solidFill>
            <a:prstDash val="solid"/>
          </a:ln>
        </p:spPr>
      </p:sp>
      <p:pic>
        <p:nvPicPr>
          <p:cNvPr id="34" name="Image 7" descr="preencoded.png">    </p:cNvPr>
          <p:cNvPicPr>
            <a:picLocks noChangeAspect="1"/>
          </p:cNvPicPr>
          <p:nvPr/>
        </p:nvPicPr>
        <p:blipFill>
          <a:blip r:embed="rId8"/>
          <a:stretch>
            <a:fillRect/>
          </a:stretch>
        </p:blipFill>
        <p:spPr>
          <a:xfrm>
            <a:off x="6597396" y="5317236"/>
            <a:ext cx="210312" cy="210312"/>
          </a:xfrm>
          <a:prstGeom prst="rect">
            <a:avLst/>
          </a:prstGeom>
        </p:spPr>
      </p:pic>
      <p:sp>
        <p:nvSpPr>
          <p:cNvPr id="35" name="Text 25"/>
          <p:cNvSpPr txBox="1"/>
          <p:nvPr/>
        </p:nvSpPr>
        <p:spPr>
          <a:xfrm>
            <a:off x="7059168" y="5193792"/>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Router</a:t>
            </a:r>
            <a:endParaRPr lang="en-US" sz="1250" dirty="0"/>
          </a:p>
        </p:txBody>
      </p:sp>
      <p:sp>
        <p:nvSpPr>
          <p:cNvPr id="36" name="Text 26"/>
          <p:cNvSpPr txBox="1"/>
          <p:nvPr/>
        </p:nvSpPr>
        <p:spPr>
          <a:xfrm>
            <a:off x="7059168" y="5449824"/>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Berlaku hanya pada sekelompok rute pada sebuah router.</a:t>
            </a:r>
            <a:endParaRPr lang="en-US" sz="1030" dirty="0"/>
          </a:p>
        </p:txBody>
      </p:sp>
      <p:sp>
        <p:nvSpPr>
          <p:cNvPr id="37" name="Shape 27"/>
          <p:cNvSpPr/>
          <p:nvPr/>
        </p:nvSpPr>
        <p:spPr>
          <a:xfrm>
            <a:off x="6492240" y="5687568"/>
            <a:ext cx="420624" cy="420624"/>
          </a:xfrm>
          <a:prstGeom prst="roundRect">
            <a:avLst>
              <a:gd name="adj" fmla="val 26087"/>
            </a:avLst>
          </a:prstGeom>
          <a:solidFill>
            <a:srgbClr val="E8F2E2"/>
          </a:solidFill>
          <a:ln w="12700">
            <a:solidFill>
              <a:srgbClr val="E8F2E2"/>
            </a:solidFill>
            <a:prstDash val="solid"/>
          </a:ln>
        </p:spPr>
      </p:sp>
      <p:pic>
        <p:nvPicPr>
          <p:cNvPr id="38" name="Image 8" descr="preencoded.png">    </p:cNvPr>
          <p:cNvPicPr>
            <a:picLocks noChangeAspect="1"/>
          </p:cNvPicPr>
          <p:nvPr/>
        </p:nvPicPr>
        <p:blipFill>
          <a:blip r:embed="rId9"/>
          <a:stretch>
            <a:fillRect/>
          </a:stretch>
        </p:blipFill>
        <p:spPr>
          <a:xfrm>
            <a:off x="6597396" y="5792724"/>
            <a:ext cx="210312" cy="210312"/>
          </a:xfrm>
          <a:prstGeom prst="rect">
            <a:avLst/>
          </a:prstGeom>
        </p:spPr>
      </p:pic>
      <p:sp>
        <p:nvSpPr>
          <p:cNvPr id="39" name="Text 28"/>
          <p:cNvSpPr txBox="1"/>
          <p:nvPr/>
        </p:nvSpPr>
        <p:spPr>
          <a:xfrm>
            <a:off x="7059168" y="5669280"/>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Error</a:t>
            </a:r>
            <a:endParaRPr lang="en-US" sz="1250" dirty="0"/>
          </a:p>
        </p:txBody>
      </p:sp>
      <p:sp>
        <p:nvSpPr>
          <p:cNvPr id="40" name="Text 29"/>
          <p:cNvSpPr txBox="1"/>
          <p:nvPr/>
        </p:nvSpPr>
        <p:spPr>
          <a:xfrm>
            <a:off x="7059168" y="5925312"/>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Punya empat parameter dan didaftarkan paling akhir.</a:t>
            </a:r>
            <a:endParaRPr lang="en-US" sz="1030" dirty="0"/>
          </a:p>
        </p:txBody>
      </p:sp>
      <p:sp>
        <p:nvSpPr>
          <p:cNvPr id="41" name="Text 3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Membangun REST API (CRUD)</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Empat operasi dasar yang dipetakan ke metode HTTP</a:t>
            </a:r>
            <a:endParaRPr lang="en-US" sz="1300" dirty="0"/>
          </a:p>
        </p:txBody>
      </p:sp>
      <p:sp>
        <p:nvSpPr>
          <p:cNvPr id="6" name="Shape 3"/>
          <p:cNvSpPr/>
          <p:nvPr/>
        </p:nvSpPr>
        <p:spPr>
          <a:xfrm>
            <a:off x="640080" y="1627632"/>
            <a:ext cx="6035040" cy="420624"/>
          </a:xfrm>
          <a:prstGeom prst="roundRect">
            <a:avLst>
              <a:gd name="adj" fmla="val 10870"/>
            </a:avLst>
          </a:prstGeom>
          <a:solidFill>
            <a:srgbClr val="0B2015"/>
          </a:solidFill>
          <a:ln w="12700">
            <a:solidFill>
              <a:srgbClr val="0B2015"/>
            </a:solidFill>
            <a:prstDash val="solid"/>
          </a:ln>
        </p:spPr>
      </p:sp>
      <p:sp>
        <p:nvSpPr>
          <p:cNvPr id="7" name="Text 4"/>
          <p:cNvSpPr txBox="1"/>
          <p:nvPr/>
        </p:nvSpPr>
        <p:spPr>
          <a:xfrm>
            <a:off x="822960" y="1627632"/>
            <a:ext cx="100584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Metode</a:t>
            </a:r>
            <a:endParaRPr lang="en-US" sz="1020" dirty="0"/>
          </a:p>
        </p:txBody>
      </p:sp>
      <p:sp>
        <p:nvSpPr>
          <p:cNvPr id="8" name="Text 5"/>
          <p:cNvSpPr txBox="1"/>
          <p:nvPr/>
        </p:nvSpPr>
        <p:spPr>
          <a:xfrm>
            <a:off x="1874520" y="1627632"/>
            <a:ext cx="196596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Endpoint</a:t>
            </a:r>
            <a:endParaRPr lang="en-US" sz="1020" dirty="0"/>
          </a:p>
        </p:txBody>
      </p:sp>
      <p:sp>
        <p:nvSpPr>
          <p:cNvPr id="9" name="Text 6"/>
          <p:cNvSpPr txBox="1"/>
          <p:nvPr/>
        </p:nvSpPr>
        <p:spPr>
          <a:xfrm>
            <a:off x="3886200" y="1627632"/>
            <a:ext cx="114300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Aksi</a:t>
            </a:r>
            <a:endParaRPr lang="en-US" sz="1020" dirty="0"/>
          </a:p>
        </p:txBody>
      </p:sp>
      <p:sp>
        <p:nvSpPr>
          <p:cNvPr id="10" name="Text 7"/>
          <p:cNvSpPr txBox="1"/>
          <p:nvPr/>
        </p:nvSpPr>
        <p:spPr>
          <a:xfrm>
            <a:off x="5074920" y="1627632"/>
            <a:ext cx="146304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Status Sukses</a:t>
            </a:r>
            <a:endParaRPr lang="en-US" sz="1020" dirty="0"/>
          </a:p>
        </p:txBody>
      </p:sp>
      <p:sp>
        <p:nvSpPr>
          <p:cNvPr id="11" name="Shape 8"/>
          <p:cNvSpPr/>
          <p:nvPr/>
        </p:nvSpPr>
        <p:spPr>
          <a:xfrm>
            <a:off x="640080" y="2093976"/>
            <a:ext cx="6035040" cy="420624"/>
          </a:xfrm>
          <a:prstGeom prst="roundRect">
            <a:avLst>
              <a:gd name="adj" fmla="val 10870"/>
            </a:avLst>
          </a:prstGeom>
          <a:solidFill>
            <a:srgbClr val="FFFFFF"/>
          </a:solidFill>
          <a:ln w="12700">
            <a:solidFill>
              <a:srgbClr val="E3EBDF"/>
            </a:solidFill>
            <a:prstDash val="solid"/>
          </a:ln>
        </p:spPr>
      </p:sp>
      <p:sp>
        <p:nvSpPr>
          <p:cNvPr id="12" name="Text 9"/>
          <p:cNvSpPr txBox="1"/>
          <p:nvPr/>
        </p:nvSpPr>
        <p:spPr>
          <a:xfrm>
            <a:off x="822960" y="2093976"/>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GET</a:t>
            </a:r>
            <a:endParaRPr lang="en-US" sz="1020" dirty="0"/>
          </a:p>
        </p:txBody>
      </p:sp>
      <p:sp>
        <p:nvSpPr>
          <p:cNvPr id="13" name="Text 10"/>
          <p:cNvSpPr txBox="1"/>
          <p:nvPr/>
        </p:nvSpPr>
        <p:spPr>
          <a:xfrm>
            <a:off x="1874520" y="2093976"/>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a:t>
            </a:r>
            <a:endParaRPr lang="en-US" sz="1020" dirty="0"/>
          </a:p>
        </p:txBody>
      </p:sp>
      <p:sp>
        <p:nvSpPr>
          <p:cNvPr id="14" name="Text 11"/>
          <p:cNvSpPr txBox="1"/>
          <p:nvPr/>
        </p:nvSpPr>
        <p:spPr>
          <a:xfrm>
            <a:off x="3886200" y="2093976"/>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Baca semua</a:t>
            </a:r>
            <a:endParaRPr lang="en-US" sz="1020" dirty="0"/>
          </a:p>
        </p:txBody>
      </p:sp>
      <p:sp>
        <p:nvSpPr>
          <p:cNvPr id="15" name="Text 12"/>
          <p:cNvSpPr txBox="1"/>
          <p:nvPr/>
        </p:nvSpPr>
        <p:spPr>
          <a:xfrm>
            <a:off x="5074920" y="2093976"/>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16" name="Shape 13"/>
          <p:cNvSpPr/>
          <p:nvPr/>
        </p:nvSpPr>
        <p:spPr>
          <a:xfrm>
            <a:off x="640080" y="2560320"/>
            <a:ext cx="6035040" cy="420624"/>
          </a:xfrm>
          <a:prstGeom prst="roundRect">
            <a:avLst>
              <a:gd name="adj" fmla="val 10870"/>
            </a:avLst>
          </a:prstGeom>
          <a:solidFill>
            <a:srgbClr val="EDF3E9"/>
          </a:solidFill>
          <a:ln w="12700">
            <a:solidFill>
              <a:srgbClr val="E3EBDF"/>
            </a:solidFill>
            <a:prstDash val="solid"/>
          </a:ln>
        </p:spPr>
      </p:sp>
      <p:sp>
        <p:nvSpPr>
          <p:cNvPr id="17" name="Text 14"/>
          <p:cNvSpPr txBox="1"/>
          <p:nvPr/>
        </p:nvSpPr>
        <p:spPr>
          <a:xfrm>
            <a:off x="822960" y="2560320"/>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GET</a:t>
            </a:r>
            <a:endParaRPr lang="en-US" sz="1020" dirty="0"/>
          </a:p>
        </p:txBody>
      </p:sp>
      <p:sp>
        <p:nvSpPr>
          <p:cNvPr id="18" name="Text 15"/>
          <p:cNvSpPr txBox="1"/>
          <p:nvPr/>
        </p:nvSpPr>
        <p:spPr>
          <a:xfrm>
            <a:off x="1874520" y="2560320"/>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19" name="Text 16"/>
          <p:cNvSpPr txBox="1"/>
          <p:nvPr/>
        </p:nvSpPr>
        <p:spPr>
          <a:xfrm>
            <a:off x="3886200" y="2560320"/>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Baca satu</a:t>
            </a:r>
            <a:endParaRPr lang="en-US" sz="1020" dirty="0"/>
          </a:p>
        </p:txBody>
      </p:sp>
      <p:sp>
        <p:nvSpPr>
          <p:cNvPr id="20" name="Text 17"/>
          <p:cNvSpPr txBox="1"/>
          <p:nvPr/>
        </p:nvSpPr>
        <p:spPr>
          <a:xfrm>
            <a:off x="5074920" y="2560320"/>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21" name="Shape 18"/>
          <p:cNvSpPr/>
          <p:nvPr/>
        </p:nvSpPr>
        <p:spPr>
          <a:xfrm>
            <a:off x="640080" y="3026664"/>
            <a:ext cx="6035040" cy="420624"/>
          </a:xfrm>
          <a:prstGeom prst="roundRect">
            <a:avLst>
              <a:gd name="adj" fmla="val 10870"/>
            </a:avLst>
          </a:prstGeom>
          <a:solidFill>
            <a:srgbClr val="FFFFFF"/>
          </a:solidFill>
          <a:ln w="12700">
            <a:solidFill>
              <a:srgbClr val="E3EBDF"/>
            </a:solidFill>
            <a:prstDash val="solid"/>
          </a:ln>
        </p:spPr>
      </p:sp>
      <p:sp>
        <p:nvSpPr>
          <p:cNvPr id="22" name="Text 19"/>
          <p:cNvSpPr txBox="1"/>
          <p:nvPr/>
        </p:nvSpPr>
        <p:spPr>
          <a:xfrm>
            <a:off x="822960" y="3026664"/>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POST</a:t>
            </a:r>
            <a:endParaRPr lang="en-US" sz="1020" dirty="0"/>
          </a:p>
        </p:txBody>
      </p:sp>
      <p:sp>
        <p:nvSpPr>
          <p:cNvPr id="23" name="Text 20"/>
          <p:cNvSpPr txBox="1"/>
          <p:nvPr/>
        </p:nvSpPr>
        <p:spPr>
          <a:xfrm>
            <a:off x="1874520" y="3026664"/>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a:t>
            </a:r>
            <a:endParaRPr lang="en-US" sz="1020" dirty="0"/>
          </a:p>
        </p:txBody>
      </p:sp>
      <p:sp>
        <p:nvSpPr>
          <p:cNvPr id="24" name="Text 21"/>
          <p:cNvSpPr txBox="1"/>
          <p:nvPr/>
        </p:nvSpPr>
        <p:spPr>
          <a:xfrm>
            <a:off x="3886200" y="3026664"/>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Buat baru</a:t>
            </a:r>
            <a:endParaRPr lang="en-US" sz="1020" dirty="0"/>
          </a:p>
        </p:txBody>
      </p:sp>
      <p:sp>
        <p:nvSpPr>
          <p:cNvPr id="25" name="Text 22"/>
          <p:cNvSpPr txBox="1"/>
          <p:nvPr/>
        </p:nvSpPr>
        <p:spPr>
          <a:xfrm>
            <a:off x="5074920" y="3026664"/>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201 Created</a:t>
            </a:r>
            <a:endParaRPr lang="en-US" sz="1020" dirty="0"/>
          </a:p>
        </p:txBody>
      </p:sp>
      <p:sp>
        <p:nvSpPr>
          <p:cNvPr id="26" name="Shape 23"/>
          <p:cNvSpPr/>
          <p:nvPr/>
        </p:nvSpPr>
        <p:spPr>
          <a:xfrm>
            <a:off x="640080" y="3493008"/>
            <a:ext cx="6035040" cy="420624"/>
          </a:xfrm>
          <a:prstGeom prst="roundRect">
            <a:avLst>
              <a:gd name="adj" fmla="val 10870"/>
            </a:avLst>
          </a:prstGeom>
          <a:solidFill>
            <a:srgbClr val="EDF3E9"/>
          </a:solidFill>
          <a:ln w="12700">
            <a:solidFill>
              <a:srgbClr val="E3EBDF"/>
            </a:solidFill>
            <a:prstDash val="solid"/>
          </a:ln>
        </p:spPr>
      </p:sp>
      <p:sp>
        <p:nvSpPr>
          <p:cNvPr id="27" name="Text 24"/>
          <p:cNvSpPr txBox="1"/>
          <p:nvPr/>
        </p:nvSpPr>
        <p:spPr>
          <a:xfrm>
            <a:off x="822960" y="3493008"/>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PUT</a:t>
            </a:r>
            <a:endParaRPr lang="en-US" sz="1020" dirty="0"/>
          </a:p>
        </p:txBody>
      </p:sp>
      <p:sp>
        <p:nvSpPr>
          <p:cNvPr id="28" name="Text 25"/>
          <p:cNvSpPr txBox="1"/>
          <p:nvPr/>
        </p:nvSpPr>
        <p:spPr>
          <a:xfrm>
            <a:off x="1874520" y="3493008"/>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29" name="Text 26"/>
          <p:cNvSpPr txBox="1"/>
          <p:nvPr/>
        </p:nvSpPr>
        <p:spPr>
          <a:xfrm>
            <a:off x="3886200" y="3493008"/>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Ubah penuh</a:t>
            </a:r>
            <a:endParaRPr lang="en-US" sz="1020" dirty="0"/>
          </a:p>
        </p:txBody>
      </p:sp>
      <p:sp>
        <p:nvSpPr>
          <p:cNvPr id="30" name="Text 27"/>
          <p:cNvSpPr txBox="1"/>
          <p:nvPr/>
        </p:nvSpPr>
        <p:spPr>
          <a:xfrm>
            <a:off x="5074920" y="3493008"/>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31" name="Shape 28"/>
          <p:cNvSpPr/>
          <p:nvPr/>
        </p:nvSpPr>
        <p:spPr>
          <a:xfrm>
            <a:off x="640080" y="3959352"/>
            <a:ext cx="6035040" cy="420624"/>
          </a:xfrm>
          <a:prstGeom prst="roundRect">
            <a:avLst>
              <a:gd name="adj" fmla="val 10870"/>
            </a:avLst>
          </a:prstGeom>
          <a:solidFill>
            <a:srgbClr val="FFFFFF"/>
          </a:solidFill>
          <a:ln w="12700">
            <a:solidFill>
              <a:srgbClr val="E3EBDF"/>
            </a:solidFill>
            <a:prstDash val="solid"/>
          </a:ln>
        </p:spPr>
      </p:sp>
      <p:sp>
        <p:nvSpPr>
          <p:cNvPr id="32" name="Text 29"/>
          <p:cNvSpPr txBox="1"/>
          <p:nvPr/>
        </p:nvSpPr>
        <p:spPr>
          <a:xfrm>
            <a:off x="822960" y="3959352"/>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PATCH</a:t>
            </a:r>
            <a:endParaRPr lang="en-US" sz="1020" dirty="0"/>
          </a:p>
        </p:txBody>
      </p:sp>
      <p:sp>
        <p:nvSpPr>
          <p:cNvPr id="33" name="Text 30"/>
          <p:cNvSpPr txBox="1"/>
          <p:nvPr/>
        </p:nvSpPr>
        <p:spPr>
          <a:xfrm>
            <a:off x="1874520" y="3959352"/>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34" name="Text 31"/>
          <p:cNvSpPr txBox="1"/>
          <p:nvPr/>
        </p:nvSpPr>
        <p:spPr>
          <a:xfrm>
            <a:off x="3886200" y="3959352"/>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Ubah sebagian</a:t>
            </a:r>
            <a:endParaRPr lang="en-US" sz="1020" dirty="0"/>
          </a:p>
        </p:txBody>
      </p:sp>
      <p:sp>
        <p:nvSpPr>
          <p:cNvPr id="35" name="Text 32"/>
          <p:cNvSpPr txBox="1"/>
          <p:nvPr/>
        </p:nvSpPr>
        <p:spPr>
          <a:xfrm>
            <a:off x="5074920" y="3959352"/>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36" name="Shape 33"/>
          <p:cNvSpPr/>
          <p:nvPr/>
        </p:nvSpPr>
        <p:spPr>
          <a:xfrm>
            <a:off x="640080" y="4425696"/>
            <a:ext cx="6035040" cy="420624"/>
          </a:xfrm>
          <a:prstGeom prst="roundRect">
            <a:avLst>
              <a:gd name="adj" fmla="val 10870"/>
            </a:avLst>
          </a:prstGeom>
          <a:solidFill>
            <a:srgbClr val="EDF3E9"/>
          </a:solidFill>
          <a:ln w="12700">
            <a:solidFill>
              <a:srgbClr val="E3EBDF"/>
            </a:solidFill>
            <a:prstDash val="solid"/>
          </a:ln>
        </p:spPr>
      </p:sp>
      <p:sp>
        <p:nvSpPr>
          <p:cNvPr id="37" name="Text 34"/>
          <p:cNvSpPr txBox="1"/>
          <p:nvPr/>
        </p:nvSpPr>
        <p:spPr>
          <a:xfrm>
            <a:off x="822960" y="4425696"/>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DELETE</a:t>
            </a:r>
            <a:endParaRPr lang="en-US" sz="1020" dirty="0"/>
          </a:p>
        </p:txBody>
      </p:sp>
      <p:sp>
        <p:nvSpPr>
          <p:cNvPr id="38" name="Text 35"/>
          <p:cNvSpPr txBox="1"/>
          <p:nvPr/>
        </p:nvSpPr>
        <p:spPr>
          <a:xfrm>
            <a:off x="1874520" y="4425696"/>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39" name="Text 36"/>
          <p:cNvSpPr txBox="1"/>
          <p:nvPr/>
        </p:nvSpPr>
        <p:spPr>
          <a:xfrm>
            <a:off x="3886200" y="4425696"/>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Hapus</a:t>
            </a:r>
            <a:endParaRPr lang="en-US" sz="1020" dirty="0"/>
          </a:p>
        </p:txBody>
      </p:sp>
      <p:sp>
        <p:nvSpPr>
          <p:cNvPr id="40" name="Text 37"/>
          <p:cNvSpPr txBox="1"/>
          <p:nvPr/>
        </p:nvSpPr>
        <p:spPr>
          <a:xfrm>
            <a:off x="5074920" y="4425696"/>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204 No Content</a:t>
            </a:r>
            <a:endParaRPr lang="en-US" sz="1020" dirty="0"/>
          </a:p>
        </p:txBody>
      </p:sp>
      <p:sp>
        <p:nvSpPr>
          <p:cNvPr id="41" name="Shape 38"/>
          <p:cNvSpPr/>
          <p:nvPr/>
        </p:nvSpPr>
        <p:spPr>
          <a:xfrm>
            <a:off x="640080" y="4791456"/>
            <a:ext cx="6035040" cy="1046074"/>
          </a:xfrm>
          <a:prstGeom prst="roundRect">
            <a:avLst>
              <a:gd name="adj" fmla="val 6119"/>
            </a:avLst>
          </a:prstGeom>
          <a:solidFill>
            <a:srgbClr val="0E2417"/>
          </a:solidFill>
          <a:ln w="12700">
            <a:solidFill>
              <a:srgbClr val="234A31"/>
            </a:solidFill>
            <a:prstDash val="solid"/>
          </a:ln>
        </p:spPr>
      </p:sp>
      <p:sp>
        <p:nvSpPr>
          <p:cNvPr id="42" name="Text 39"/>
          <p:cNvSpPr txBox="1"/>
          <p:nvPr/>
        </p:nvSpPr>
        <p:spPr>
          <a:xfrm>
            <a:off x="859536" y="4992624"/>
            <a:ext cx="5596128" cy="735178"/>
          </a:xfrm>
          <a:prstGeom prst="rect">
            <a:avLst/>
          </a:prstGeom>
          <a:noFill/>
          <a:ln/>
        </p:spPr>
        <p:txBody>
          <a:bodyPr wrap="square" lIns="0" tIns="0" rIns="0" bIns="0" rtlCol="0" anchor="t"/>
          <a:lstStyle/>
          <a:p>
            <a:pPr indent="0" marL="0">
              <a:lnSpc>
                <a:spcPct val="106000"/>
              </a:lnSpc>
              <a:buNone/>
            </a:pPr>
            <a:r>
              <a:rPr lang="en-US" sz="1000" dirty="0">
                <a:solidFill>
                  <a:srgbClr val="6E8A76"/>
                </a:solidFill>
                <a:latin typeface="Courier New" pitchFamily="34" charset="0"/>
                <a:ea typeface="Courier New" pitchFamily="34" charset="-122"/>
                <a:cs typeface="Courier New" pitchFamily="34" charset="-120"/>
              </a:rPr>
              <a:t>// Kode status yang sering dipakai</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OK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Bad Request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Not Found</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Created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Unauthorized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409</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Conflict</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204</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No Content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403</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Forbidden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500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Server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Error</a:t>
            </a:r>
            <a:endParaRPr lang="en-US" sz="1000" dirty="0"/>
          </a:p>
        </p:txBody>
      </p:sp>
      <p:sp>
        <p:nvSpPr>
          <p:cNvPr id="43" name="Shape 40"/>
          <p:cNvSpPr/>
          <p:nvPr/>
        </p:nvSpPr>
        <p:spPr>
          <a:xfrm>
            <a:off x="6949440" y="1627632"/>
            <a:ext cx="4663440" cy="4158984"/>
          </a:xfrm>
          <a:prstGeom prst="roundRect">
            <a:avLst>
              <a:gd name="adj" fmla="val 1539"/>
            </a:avLst>
          </a:prstGeom>
          <a:solidFill>
            <a:srgbClr val="0E2417"/>
          </a:solidFill>
          <a:ln w="12700">
            <a:solidFill>
              <a:srgbClr val="234A31"/>
            </a:solidFill>
            <a:prstDash val="solid"/>
          </a:ln>
        </p:spPr>
      </p:sp>
      <p:sp>
        <p:nvSpPr>
          <p:cNvPr id="44" name="Text 41"/>
          <p:cNvSpPr txBox="1"/>
          <p:nvPr/>
        </p:nvSpPr>
        <p:spPr>
          <a:xfrm>
            <a:off x="7168896" y="1719072"/>
            <a:ext cx="42245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CONTROLLER CRUD</a:t>
            </a:r>
            <a:endParaRPr lang="en-US" sz="950" dirty="0"/>
          </a:p>
        </p:txBody>
      </p:sp>
      <p:sp>
        <p:nvSpPr>
          <p:cNvPr id="45" name="Text 42"/>
          <p:cNvSpPr txBox="1"/>
          <p:nvPr/>
        </p:nvSpPr>
        <p:spPr>
          <a:xfrm>
            <a:off x="7168896" y="2029968"/>
            <a:ext cx="4224528" cy="3646920"/>
          </a:xfrm>
          <a:prstGeom prst="rect">
            <a:avLst/>
          </a:prstGeom>
          <a:noFill/>
          <a:ln/>
        </p:spPr>
        <p:txBody>
          <a:bodyPr wrap="square" lIns="0" tIns="0" rIns="0" bIns="0" rtlCol="0" anchor="t"/>
          <a:lstStyle/>
          <a:p>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 =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READ semua</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res.json(produk);</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CREATE</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app.post(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baru = { id: Date.now(), ...req.body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produk.push(baru);</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201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).json(baru);</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UPDATE</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app.put(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'/api/produk/:id'</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i = produk.findIndex(</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 =&gt; p.id == req.params.id);</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(i === -</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).json({});</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produk[i] = { ...produk[i], ...req.body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res.json(produk[i]);</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p:txBody>
      </p:sp>
      <p:sp>
        <p:nvSpPr>
          <p:cNvPr id="46" name="Text 4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7" name="Text 4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Menghubungkan Node.js ke Basis Data</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Pilihan basis data dan pustaka penghubung yang populer</a:t>
            </a:r>
            <a:endParaRPr lang="en-US" sz="1300" dirty="0"/>
          </a:p>
        </p:txBody>
      </p:sp>
      <p:sp>
        <p:nvSpPr>
          <p:cNvPr id="6" name="Shape 3"/>
          <p:cNvSpPr/>
          <p:nvPr/>
        </p:nvSpPr>
        <p:spPr>
          <a:xfrm>
            <a:off x="640080"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77824" y="1810512"/>
            <a:ext cx="420624" cy="420624"/>
          </a:xfrm>
          <a:prstGeom prst="rect">
            <a:avLst/>
          </a:prstGeom>
        </p:spPr>
      </p:pic>
      <p:sp>
        <p:nvSpPr>
          <p:cNvPr id="8" name="Text 4"/>
          <p:cNvSpPr txBox="1"/>
          <p:nvPr/>
        </p:nvSpPr>
        <p:spPr>
          <a:xfrm>
            <a:off x="1426464"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MongoDB</a:t>
            </a:r>
            <a:endParaRPr lang="en-US" sz="1400" dirty="0"/>
          </a:p>
        </p:txBody>
      </p:sp>
      <p:sp>
        <p:nvSpPr>
          <p:cNvPr id="9" name="Text 5"/>
          <p:cNvSpPr txBox="1"/>
          <p:nvPr/>
        </p:nvSpPr>
        <p:spPr>
          <a:xfrm>
            <a:off x="877824"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dokumen berbasis JSON. Paling populer di ekosistem Node.js.</a:t>
            </a:r>
            <a:endParaRPr lang="en-US" sz="1030" dirty="0"/>
          </a:p>
        </p:txBody>
      </p:sp>
      <p:sp>
        <p:nvSpPr>
          <p:cNvPr id="10" name="Shape 6"/>
          <p:cNvSpPr/>
          <p:nvPr/>
        </p:nvSpPr>
        <p:spPr>
          <a:xfrm>
            <a:off x="877824" y="3054096"/>
            <a:ext cx="2066544" cy="329184"/>
          </a:xfrm>
          <a:prstGeom prst="roundRect">
            <a:avLst>
              <a:gd name="adj" fmla="val 16667"/>
            </a:avLst>
          </a:prstGeom>
          <a:solidFill>
            <a:srgbClr val="0E2417"/>
          </a:solidFill>
          <a:ln w="12700">
            <a:solidFill>
              <a:srgbClr val="0E2417"/>
            </a:solidFill>
            <a:prstDash val="solid"/>
          </a:ln>
        </p:spPr>
      </p:sp>
      <p:sp>
        <p:nvSpPr>
          <p:cNvPr id="11" name="Text 7"/>
          <p:cNvSpPr txBox="1"/>
          <p:nvPr/>
        </p:nvSpPr>
        <p:spPr>
          <a:xfrm>
            <a:off x="877824"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mongoose</a:t>
            </a:r>
            <a:endParaRPr lang="en-US" sz="980" dirty="0"/>
          </a:p>
        </p:txBody>
      </p:sp>
      <p:sp>
        <p:nvSpPr>
          <p:cNvPr id="12" name="Shape 8"/>
          <p:cNvSpPr/>
          <p:nvPr/>
        </p:nvSpPr>
        <p:spPr>
          <a:xfrm>
            <a:off x="3447288"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3" name="Image 2" descr="preencoded.png">    </p:cNvPr>
          <p:cNvPicPr>
            <a:picLocks noChangeAspect="1"/>
          </p:cNvPicPr>
          <p:nvPr/>
        </p:nvPicPr>
        <p:blipFill>
          <a:blip r:embed="rId3"/>
          <a:stretch>
            <a:fillRect/>
          </a:stretch>
        </p:blipFill>
        <p:spPr>
          <a:xfrm>
            <a:off x="3685032" y="1810512"/>
            <a:ext cx="420624" cy="420624"/>
          </a:xfrm>
          <a:prstGeom prst="rect">
            <a:avLst/>
          </a:prstGeom>
        </p:spPr>
      </p:pic>
      <p:sp>
        <p:nvSpPr>
          <p:cNvPr id="14" name="Text 9"/>
          <p:cNvSpPr txBox="1"/>
          <p:nvPr/>
        </p:nvSpPr>
        <p:spPr>
          <a:xfrm>
            <a:off x="4233672"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PostgreSQL</a:t>
            </a:r>
            <a:endParaRPr lang="en-US" sz="1400" dirty="0"/>
          </a:p>
        </p:txBody>
      </p:sp>
      <p:sp>
        <p:nvSpPr>
          <p:cNvPr id="15" name="Text 10"/>
          <p:cNvSpPr txBox="1"/>
          <p:nvPr/>
        </p:nvSpPr>
        <p:spPr>
          <a:xfrm>
            <a:off x="3685032"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relasional bersumber terbuka dengan fitur sangat lengkap.</a:t>
            </a:r>
            <a:endParaRPr lang="en-US" sz="1030" dirty="0"/>
          </a:p>
        </p:txBody>
      </p:sp>
      <p:sp>
        <p:nvSpPr>
          <p:cNvPr id="16" name="Shape 11"/>
          <p:cNvSpPr/>
          <p:nvPr/>
        </p:nvSpPr>
        <p:spPr>
          <a:xfrm>
            <a:off x="3685032" y="3054096"/>
            <a:ext cx="2066544" cy="329184"/>
          </a:xfrm>
          <a:prstGeom prst="roundRect">
            <a:avLst>
              <a:gd name="adj" fmla="val 16667"/>
            </a:avLst>
          </a:prstGeom>
          <a:solidFill>
            <a:srgbClr val="0E2417"/>
          </a:solidFill>
          <a:ln w="12700">
            <a:solidFill>
              <a:srgbClr val="0E2417"/>
            </a:solidFill>
            <a:prstDash val="solid"/>
          </a:ln>
        </p:spPr>
      </p:sp>
      <p:sp>
        <p:nvSpPr>
          <p:cNvPr id="17" name="Text 12"/>
          <p:cNvSpPr txBox="1"/>
          <p:nvPr/>
        </p:nvSpPr>
        <p:spPr>
          <a:xfrm>
            <a:off x="3685032"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pg / prisma</a:t>
            </a:r>
            <a:endParaRPr lang="en-US" sz="980" dirty="0"/>
          </a:p>
        </p:txBody>
      </p:sp>
      <p:sp>
        <p:nvSpPr>
          <p:cNvPr id="18" name="Shape 13"/>
          <p:cNvSpPr/>
          <p:nvPr/>
        </p:nvSpPr>
        <p:spPr>
          <a:xfrm>
            <a:off x="6254496"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3" descr="preencoded.png">    </p:cNvPr>
          <p:cNvPicPr>
            <a:picLocks noChangeAspect="1"/>
          </p:cNvPicPr>
          <p:nvPr/>
        </p:nvPicPr>
        <p:blipFill>
          <a:blip r:embed="rId4"/>
          <a:stretch>
            <a:fillRect/>
          </a:stretch>
        </p:blipFill>
        <p:spPr>
          <a:xfrm>
            <a:off x="6492240" y="1810512"/>
            <a:ext cx="420624" cy="420624"/>
          </a:xfrm>
          <a:prstGeom prst="rect">
            <a:avLst/>
          </a:prstGeom>
        </p:spPr>
      </p:pic>
      <p:sp>
        <p:nvSpPr>
          <p:cNvPr id="20" name="Text 14"/>
          <p:cNvSpPr txBox="1"/>
          <p:nvPr/>
        </p:nvSpPr>
        <p:spPr>
          <a:xfrm>
            <a:off x="7040880"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MySQL</a:t>
            </a:r>
            <a:endParaRPr lang="en-US" sz="1400" dirty="0"/>
          </a:p>
        </p:txBody>
      </p:sp>
      <p:sp>
        <p:nvSpPr>
          <p:cNvPr id="21" name="Text 15"/>
          <p:cNvSpPr txBox="1"/>
          <p:nvPr/>
        </p:nvSpPr>
        <p:spPr>
          <a:xfrm>
            <a:off x="6492240"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relasional yang paling luas dipakai di layanan hosting.</a:t>
            </a:r>
            <a:endParaRPr lang="en-US" sz="1030" dirty="0"/>
          </a:p>
        </p:txBody>
      </p:sp>
      <p:sp>
        <p:nvSpPr>
          <p:cNvPr id="22" name="Shape 16"/>
          <p:cNvSpPr/>
          <p:nvPr/>
        </p:nvSpPr>
        <p:spPr>
          <a:xfrm>
            <a:off x="6492240" y="3054096"/>
            <a:ext cx="2066544" cy="329184"/>
          </a:xfrm>
          <a:prstGeom prst="roundRect">
            <a:avLst>
              <a:gd name="adj" fmla="val 16667"/>
            </a:avLst>
          </a:prstGeom>
          <a:solidFill>
            <a:srgbClr val="0E2417"/>
          </a:solidFill>
          <a:ln w="12700">
            <a:solidFill>
              <a:srgbClr val="0E2417"/>
            </a:solidFill>
            <a:prstDash val="solid"/>
          </a:ln>
        </p:spPr>
      </p:sp>
      <p:sp>
        <p:nvSpPr>
          <p:cNvPr id="23" name="Text 17"/>
          <p:cNvSpPr txBox="1"/>
          <p:nvPr/>
        </p:nvSpPr>
        <p:spPr>
          <a:xfrm>
            <a:off x="6492240"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mysql2 / sequelize</a:t>
            </a:r>
            <a:endParaRPr lang="en-US" sz="980" dirty="0"/>
          </a:p>
        </p:txBody>
      </p:sp>
      <p:sp>
        <p:nvSpPr>
          <p:cNvPr id="24" name="Shape 18"/>
          <p:cNvSpPr/>
          <p:nvPr/>
        </p:nvSpPr>
        <p:spPr>
          <a:xfrm>
            <a:off x="9061704"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5" name="Image 4" descr="preencoded.png">    </p:cNvPr>
          <p:cNvPicPr>
            <a:picLocks noChangeAspect="1"/>
          </p:cNvPicPr>
          <p:nvPr/>
        </p:nvPicPr>
        <p:blipFill>
          <a:blip r:embed="rId5"/>
          <a:stretch>
            <a:fillRect/>
          </a:stretch>
        </p:blipFill>
        <p:spPr>
          <a:xfrm>
            <a:off x="9299448" y="1810512"/>
            <a:ext cx="420624" cy="420624"/>
          </a:xfrm>
          <a:prstGeom prst="rect">
            <a:avLst/>
          </a:prstGeom>
        </p:spPr>
      </p:pic>
      <p:sp>
        <p:nvSpPr>
          <p:cNvPr id="26" name="Text 19"/>
          <p:cNvSpPr txBox="1"/>
          <p:nvPr/>
        </p:nvSpPr>
        <p:spPr>
          <a:xfrm>
            <a:off x="9848088"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Redis</a:t>
            </a:r>
            <a:endParaRPr lang="en-US" sz="1400" dirty="0"/>
          </a:p>
        </p:txBody>
      </p:sp>
      <p:sp>
        <p:nvSpPr>
          <p:cNvPr id="27" name="Text 20"/>
          <p:cNvSpPr txBox="1"/>
          <p:nvPr/>
        </p:nvSpPr>
        <p:spPr>
          <a:xfrm>
            <a:off x="9299448"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Penyimpanan dalam memori untuk cache, sesi, dan antrean pekerjaan.</a:t>
            </a:r>
            <a:endParaRPr lang="en-US" sz="1030" dirty="0"/>
          </a:p>
        </p:txBody>
      </p:sp>
      <p:sp>
        <p:nvSpPr>
          <p:cNvPr id="28" name="Shape 21"/>
          <p:cNvSpPr/>
          <p:nvPr/>
        </p:nvSpPr>
        <p:spPr>
          <a:xfrm>
            <a:off x="9299448" y="3054096"/>
            <a:ext cx="2066544" cy="329184"/>
          </a:xfrm>
          <a:prstGeom prst="roundRect">
            <a:avLst>
              <a:gd name="adj" fmla="val 16667"/>
            </a:avLst>
          </a:prstGeom>
          <a:solidFill>
            <a:srgbClr val="0E2417"/>
          </a:solidFill>
          <a:ln w="12700">
            <a:solidFill>
              <a:srgbClr val="0E2417"/>
            </a:solidFill>
            <a:prstDash val="solid"/>
          </a:ln>
        </p:spPr>
      </p:sp>
      <p:sp>
        <p:nvSpPr>
          <p:cNvPr id="29" name="Text 22"/>
          <p:cNvSpPr txBox="1"/>
          <p:nvPr/>
        </p:nvSpPr>
        <p:spPr>
          <a:xfrm>
            <a:off x="9299448"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ioredis</a:t>
            </a:r>
            <a:endParaRPr lang="en-US" sz="980" dirty="0"/>
          </a:p>
        </p:txBody>
      </p:sp>
      <p:sp>
        <p:nvSpPr>
          <p:cNvPr id="30" name="Shape 23"/>
          <p:cNvSpPr/>
          <p:nvPr/>
        </p:nvSpPr>
        <p:spPr>
          <a:xfrm>
            <a:off x="640080" y="3712464"/>
            <a:ext cx="5577840" cy="2267712"/>
          </a:xfrm>
          <a:prstGeom prst="roundRect">
            <a:avLst>
              <a:gd name="adj" fmla="val 2823"/>
            </a:avLst>
          </a:prstGeom>
          <a:solidFill>
            <a:srgbClr val="0E2417"/>
          </a:solidFill>
          <a:ln w="12700">
            <a:solidFill>
              <a:srgbClr val="234A31"/>
            </a:solidFill>
            <a:prstDash val="solid"/>
          </a:ln>
        </p:spPr>
      </p:sp>
      <p:sp>
        <p:nvSpPr>
          <p:cNvPr id="31" name="Text 24"/>
          <p:cNvSpPr txBox="1"/>
          <p:nvPr/>
        </p:nvSpPr>
        <p:spPr>
          <a:xfrm>
            <a:off x="859536" y="3803904"/>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MONGODB DENGAN MONGOOSE</a:t>
            </a:r>
            <a:endParaRPr lang="en-US" sz="950" dirty="0"/>
          </a:p>
        </p:txBody>
      </p:sp>
      <p:sp>
        <p:nvSpPr>
          <p:cNvPr id="32" name="Text 25"/>
          <p:cNvSpPr txBox="1"/>
          <p:nvPr/>
        </p:nvSpPr>
        <p:spPr>
          <a:xfrm>
            <a:off x="859536" y="4114800"/>
            <a:ext cx="5138928" cy="1755648"/>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mongoose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'mongoose'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mongoose.connect(</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.env.MONGO_URI);</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 = mongoose.model(</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'Produk'</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nama: String, harga: Number</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baru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Produk.create({</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nama: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'Kopi'</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harga: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25000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semua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Produk.find();</a:t>
            </a:r>
            <a:endParaRPr lang="en-US" sz="1000" dirty="0"/>
          </a:p>
        </p:txBody>
      </p:sp>
      <p:sp>
        <p:nvSpPr>
          <p:cNvPr id="33" name="Shape 26"/>
          <p:cNvSpPr/>
          <p:nvPr/>
        </p:nvSpPr>
        <p:spPr>
          <a:xfrm>
            <a:off x="6492240" y="3712464"/>
            <a:ext cx="5120640" cy="2267712"/>
          </a:xfrm>
          <a:prstGeom prst="roundRect">
            <a:avLst>
              <a:gd name="adj" fmla="val 2823"/>
            </a:avLst>
          </a:prstGeom>
          <a:solidFill>
            <a:srgbClr val="0E2417"/>
          </a:solidFill>
          <a:ln w="12700">
            <a:solidFill>
              <a:srgbClr val="234A31"/>
            </a:solidFill>
            <a:prstDash val="solid"/>
          </a:ln>
        </p:spPr>
      </p:sp>
      <p:sp>
        <p:nvSpPr>
          <p:cNvPr id="34" name="Text 27"/>
          <p:cNvSpPr txBox="1"/>
          <p:nvPr/>
        </p:nvSpPr>
        <p:spPr>
          <a:xfrm>
            <a:off x="6711696" y="3803904"/>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POSTGRESQL DENGAN PG</a:t>
            </a:r>
            <a:endParaRPr lang="en-US" sz="950" dirty="0"/>
          </a:p>
        </p:txBody>
      </p:sp>
      <p:sp>
        <p:nvSpPr>
          <p:cNvPr id="35" name="Text 28"/>
          <p:cNvSpPr txBox="1"/>
          <p:nvPr/>
        </p:nvSpPr>
        <p:spPr>
          <a:xfrm>
            <a:off x="6711696" y="4114800"/>
            <a:ext cx="4681728" cy="1755648"/>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 Pool }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'pg'</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connectionString: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.env.DATABASE_URL</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hasil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pool.query(</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'SELECT * FROM produk WHERE harga &gt; $1'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20000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.log(hasil.rows);</a:t>
            </a:r>
            <a:endParaRPr lang="en-US" sz="1000" dirty="0"/>
          </a:p>
        </p:txBody>
      </p:sp>
      <p:sp>
        <p:nvSpPr>
          <p:cNvPr id="36"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ECD53F"/>
          </a:solidFill>
          <a:ln w="12700">
            <a:solidFill>
              <a:srgbClr val="ECD53F"/>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Variabel Lingkungan dan Konfigurasi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Memisahkan konfigurasi dari kode agar aman dan mudah dipindahkan</a:t>
            </a:r>
            <a:endParaRPr lang="en-US" sz="1300" dirty="0"/>
          </a:p>
        </p:txBody>
      </p:sp>
      <p:sp>
        <p:nvSpPr>
          <p:cNvPr id="6" name="Shape 3"/>
          <p:cNvSpPr/>
          <p:nvPr/>
        </p:nvSpPr>
        <p:spPr>
          <a:xfrm>
            <a:off x="640080" y="1627632"/>
            <a:ext cx="5577840" cy="1459840"/>
          </a:xfrm>
          <a:prstGeom prst="roundRect">
            <a:avLst>
              <a:gd name="adj" fmla="val 4385"/>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BERKAS .ENV</a:t>
            </a:r>
            <a:endParaRPr lang="en-US" sz="950" dirty="0"/>
          </a:p>
        </p:txBody>
      </p:sp>
      <p:sp>
        <p:nvSpPr>
          <p:cNvPr id="8" name="Text 5"/>
          <p:cNvSpPr txBox="1"/>
          <p:nvPr/>
        </p:nvSpPr>
        <p:spPr>
          <a:xfrm>
            <a:off x="859536" y="2029968"/>
            <a:ext cx="5138928" cy="947776"/>
          </a:xfrm>
          <a:prstGeom prst="rect">
            <a:avLst/>
          </a:prstGeom>
          <a:noFill/>
          <a:ln/>
        </p:spPr>
        <p:txBody>
          <a:bodyPr wrap="square" lIns="0" tIns="0" rIns="0" bIns="0" rtlCol="0" anchor="t"/>
          <a:lstStyle/>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PORT=</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3000</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NODE_ENV=development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DATABASE_URL=postgres:</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//user:sandi@localhost/db</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JWT_SECRET=kunci-rahasia-yang-panjang</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API_KEY=abcdef123456</a:t>
            </a:r>
            <a:endParaRPr lang="en-US" sz="1050" dirty="0"/>
          </a:p>
        </p:txBody>
      </p:sp>
      <p:sp>
        <p:nvSpPr>
          <p:cNvPr id="9" name="Shape 6"/>
          <p:cNvSpPr/>
          <p:nvPr/>
        </p:nvSpPr>
        <p:spPr>
          <a:xfrm>
            <a:off x="640080" y="3127248"/>
            <a:ext cx="5577840" cy="2995648"/>
          </a:xfrm>
          <a:prstGeom prst="roundRect">
            <a:avLst>
              <a:gd name="adj" fmla="val 2137"/>
            </a:avLst>
          </a:prstGeom>
          <a:solidFill>
            <a:srgbClr val="0E2417"/>
          </a:solidFill>
          <a:ln w="12700">
            <a:solidFill>
              <a:srgbClr val="234A31"/>
            </a:solidFill>
            <a:prstDash val="solid"/>
          </a:ln>
        </p:spPr>
      </p:sp>
      <p:sp>
        <p:nvSpPr>
          <p:cNvPr id="10" name="Text 7"/>
          <p:cNvSpPr txBox="1"/>
          <p:nvPr/>
        </p:nvSpPr>
        <p:spPr>
          <a:xfrm>
            <a:off x="859536" y="3218688"/>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MEMAKAINYA DI DALAM KODE</a:t>
            </a:r>
            <a:endParaRPr lang="en-US" sz="950" dirty="0"/>
          </a:p>
        </p:txBody>
      </p:sp>
      <p:sp>
        <p:nvSpPr>
          <p:cNvPr id="11" name="Text 8"/>
          <p:cNvSpPr txBox="1"/>
          <p:nvPr/>
        </p:nvSpPr>
        <p:spPr>
          <a:xfrm>
            <a:off x="859536" y="3529584"/>
            <a:ext cx="5138928" cy="248358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Sejak Node.js 20 tersedia tanpa paket tambahan:</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node --env-file=.env server.js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Cara klasik dengan paket dotenv</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'dotenv'</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).config();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PORT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.env.PORT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secret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.env.JWT_SECRET;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(!secret)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'JWT_SECRET belum diatur'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app.listen(PORT);</a:t>
            </a:r>
            <a:endParaRPr lang="en-US" sz="1020" dirty="0"/>
          </a:p>
        </p:txBody>
      </p:sp>
      <p:sp>
        <p:nvSpPr>
          <p:cNvPr id="12" name="Shape 9"/>
          <p:cNvSpPr/>
          <p:nvPr/>
        </p:nvSpPr>
        <p:spPr>
          <a:xfrm>
            <a:off x="6492240" y="1737360"/>
            <a:ext cx="420624" cy="420624"/>
          </a:xfrm>
          <a:prstGeom prst="roundRect">
            <a:avLst>
              <a:gd name="adj" fmla="val 26087"/>
            </a:avLst>
          </a:prstGeom>
          <a:solidFill>
            <a:srgbClr val="FBE9E7"/>
          </a:solidFill>
          <a:ln w="12700">
            <a:solidFill>
              <a:srgbClr val="FBE9E7"/>
            </a:solidFill>
            <a:prstDash val="solid"/>
          </a:ln>
        </p:spPr>
      </p:sp>
      <p:pic>
        <p:nvPicPr>
          <p:cNvPr id="13" name="Image 1" descr="preencoded.png">    </p:cNvPr>
          <p:cNvPicPr>
            <a:picLocks noChangeAspect="1"/>
          </p:cNvPicPr>
          <p:nvPr/>
        </p:nvPicPr>
        <p:blipFill>
          <a:blip r:embed="rId2"/>
          <a:stretch>
            <a:fillRect/>
          </a:stretch>
        </p:blipFill>
        <p:spPr>
          <a:xfrm>
            <a:off x="6597396" y="1842516"/>
            <a:ext cx="210312" cy="210312"/>
          </a:xfrm>
          <a:prstGeom prst="rect">
            <a:avLst/>
          </a:prstGeom>
        </p:spPr>
      </p:pic>
      <p:sp>
        <p:nvSpPr>
          <p:cNvPr id="14" name="Text 10"/>
          <p:cNvSpPr txBox="1"/>
          <p:nvPr/>
        </p:nvSpPr>
        <p:spPr>
          <a:xfrm>
            <a:off x="7059168" y="17190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Pernah Dikirim ke Git</a:t>
            </a:r>
            <a:endParaRPr lang="en-US" sz="1200" dirty="0"/>
          </a:p>
        </p:txBody>
      </p:sp>
      <p:sp>
        <p:nvSpPr>
          <p:cNvPr id="15" name="Text 11"/>
          <p:cNvSpPr txBox="1"/>
          <p:nvPr/>
        </p:nvSpPr>
        <p:spPr>
          <a:xfrm>
            <a:off x="7059168" y="1975104"/>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Masukkan .env ke .gitignore. Kebocoran kredensial insiden paling umum.</a:t>
            </a:r>
            <a:endParaRPr lang="en-US" sz="980" dirty="0"/>
          </a:p>
        </p:txBody>
      </p:sp>
      <p:sp>
        <p:nvSpPr>
          <p:cNvPr id="16" name="Shape 12"/>
          <p:cNvSpPr/>
          <p:nvPr/>
        </p:nvSpPr>
        <p:spPr>
          <a:xfrm>
            <a:off x="6492240" y="2578608"/>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6597396" y="2683764"/>
            <a:ext cx="210312" cy="210312"/>
          </a:xfrm>
          <a:prstGeom prst="rect">
            <a:avLst/>
          </a:prstGeom>
        </p:spPr>
      </p:pic>
      <p:sp>
        <p:nvSpPr>
          <p:cNvPr id="18" name="Text 13"/>
          <p:cNvSpPr txBox="1"/>
          <p:nvPr/>
        </p:nvSpPr>
        <p:spPr>
          <a:xfrm>
            <a:off x="7059168" y="25603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Sediakan .env.example</a:t>
            </a:r>
            <a:endParaRPr lang="en-US" sz="1200" dirty="0"/>
          </a:p>
        </p:txBody>
      </p:sp>
      <p:sp>
        <p:nvSpPr>
          <p:cNvPr id="19" name="Text 14"/>
          <p:cNvSpPr txBox="1"/>
          <p:nvPr/>
        </p:nvSpPr>
        <p:spPr>
          <a:xfrm>
            <a:off x="7059168" y="2816352"/>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Berkas contoh berisi nama variabel tanpa nilai rahasia untuk tim baru.</a:t>
            </a:r>
            <a:endParaRPr lang="en-US" sz="980" dirty="0"/>
          </a:p>
        </p:txBody>
      </p:sp>
      <p:sp>
        <p:nvSpPr>
          <p:cNvPr id="20" name="Shape 15"/>
          <p:cNvSpPr/>
          <p:nvPr/>
        </p:nvSpPr>
        <p:spPr>
          <a:xfrm>
            <a:off x="6492240" y="3419856"/>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597396" y="3525012"/>
            <a:ext cx="210312" cy="210312"/>
          </a:xfrm>
          <a:prstGeom prst="rect">
            <a:avLst/>
          </a:prstGeom>
        </p:spPr>
      </p:pic>
      <p:sp>
        <p:nvSpPr>
          <p:cNvPr id="22" name="Text 16"/>
          <p:cNvSpPr txBox="1"/>
          <p:nvPr/>
        </p:nvSpPr>
        <p:spPr>
          <a:xfrm>
            <a:off x="7059168" y="340156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Validasi Saat Startup</a:t>
            </a:r>
            <a:endParaRPr lang="en-US" sz="1200" dirty="0"/>
          </a:p>
        </p:txBody>
      </p:sp>
      <p:sp>
        <p:nvSpPr>
          <p:cNvPr id="23" name="Text 17"/>
          <p:cNvSpPr txBox="1"/>
          <p:nvPr/>
        </p:nvSpPr>
        <p:spPr>
          <a:xfrm>
            <a:off x="7059168" y="3657600"/>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Periksa variabel wajib saat aplikasi mulai agar galat ketahuan awal.</a:t>
            </a:r>
            <a:endParaRPr lang="en-US" sz="980" dirty="0"/>
          </a:p>
        </p:txBody>
      </p:sp>
      <p:sp>
        <p:nvSpPr>
          <p:cNvPr id="24" name="Shape 18"/>
          <p:cNvSpPr/>
          <p:nvPr/>
        </p:nvSpPr>
        <p:spPr>
          <a:xfrm>
            <a:off x="6492240" y="4261104"/>
            <a:ext cx="420624" cy="420624"/>
          </a:xfrm>
          <a:prstGeom prst="roundRect">
            <a:avLst>
              <a:gd name="adj" fmla="val 26087"/>
            </a:avLst>
          </a:prstGeom>
          <a:solidFill>
            <a:srgbClr val="E5EEFB"/>
          </a:solidFill>
          <a:ln w="12700">
            <a:solidFill>
              <a:srgbClr val="E5EEFB"/>
            </a:solidFill>
            <a:prstDash val="solid"/>
          </a:ln>
        </p:spPr>
      </p:sp>
      <p:pic>
        <p:nvPicPr>
          <p:cNvPr id="25" name="Image 4" descr="preencoded.png">    </p:cNvPr>
          <p:cNvPicPr>
            <a:picLocks noChangeAspect="1"/>
          </p:cNvPicPr>
          <p:nvPr/>
        </p:nvPicPr>
        <p:blipFill>
          <a:blip r:embed="rId5"/>
          <a:stretch>
            <a:fillRect/>
          </a:stretch>
        </p:blipFill>
        <p:spPr>
          <a:xfrm>
            <a:off x="6597396" y="4366260"/>
            <a:ext cx="210312" cy="210312"/>
          </a:xfrm>
          <a:prstGeom prst="rect">
            <a:avLst/>
          </a:prstGeom>
        </p:spPr>
      </p:pic>
      <p:sp>
        <p:nvSpPr>
          <p:cNvPr id="26" name="Text 19"/>
          <p:cNvSpPr txBox="1"/>
          <p:nvPr/>
        </p:nvSpPr>
        <p:spPr>
          <a:xfrm>
            <a:off x="7059168" y="424281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Pisahkan per Lingkungan</a:t>
            </a:r>
            <a:endParaRPr lang="en-US" sz="1200" dirty="0"/>
          </a:p>
        </p:txBody>
      </p:sp>
      <p:sp>
        <p:nvSpPr>
          <p:cNvPr id="27" name="Text 20"/>
          <p:cNvSpPr txBox="1"/>
          <p:nvPr/>
        </p:nvSpPr>
        <p:spPr>
          <a:xfrm>
            <a:off x="7059168" y="4498848"/>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Konfigurasi berbeda untuk development, staging, dan production.</a:t>
            </a:r>
            <a:endParaRPr lang="en-US" sz="980" dirty="0"/>
          </a:p>
        </p:txBody>
      </p:sp>
      <p:sp>
        <p:nvSpPr>
          <p:cNvPr id="28" name="Shape 21"/>
          <p:cNvSpPr/>
          <p:nvPr/>
        </p:nvSpPr>
        <p:spPr>
          <a:xfrm>
            <a:off x="6492240" y="5102352"/>
            <a:ext cx="420624" cy="420624"/>
          </a:xfrm>
          <a:prstGeom prst="roundRect">
            <a:avLst>
              <a:gd name="adj" fmla="val 26087"/>
            </a:avLst>
          </a:prstGeom>
          <a:solidFill>
            <a:srgbClr val="E5EEFB"/>
          </a:solidFill>
          <a:ln w="12700">
            <a:solidFill>
              <a:srgbClr val="E5EEFB"/>
            </a:solidFill>
            <a:prstDash val="solid"/>
          </a:ln>
        </p:spPr>
      </p:sp>
      <p:pic>
        <p:nvPicPr>
          <p:cNvPr id="29" name="Image 5" descr="preencoded.png">    </p:cNvPr>
          <p:cNvPicPr>
            <a:picLocks noChangeAspect="1"/>
          </p:cNvPicPr>
          <p:nvPr/>
        </p:nvPicPr>
        <p:blipFill>
          <a:blip r:embed="rId6"/>
          <a:stretch>
            <a:fillRect/>
          </a:stretch>
        </p:blipFill>
        <p:spPr>
          <a:xfrm>
            <a:off x="6597396" y="5207508"/>
            <a:ext cx="210312" cy="210312"/>
          </a:xfrm>
          <a:prstGeom prst="rect">
            <a:avLst/>
          </a:prstGeom>
        </p:spPr>
      </p:pic>
      <p:sp>
        <p:nvSpPr>
          <p:cNvPr id="30" name="Text 22"/>
          <p:cNvSpPr txBox="1"/>
          <p:nvPr/>
        </p:nvSpPr>
        <p:spPr>
          <a:xfrm>
            <a:off x="7059168" y="50840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Secret Manager</a:t>
            </a:r>
            <a:endParaRPr lang="en-US" sz="1200" dirty="0"/>
          </a:p>
        </p:txBody>
      </p:sp>
      <p:sp>
        <p:nvSpPr>
          <p:cNvPr id="31" name="Text 23"/>
          <p:cNvSpPr txBox="1"/>
          <p:nvPr/>
        </p:nvSpPr>
        <p:spPr>
          <a:xfrm>
            <a:off x="7059168" y="5340096"/>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Di produksi, simpan rahasia pada layanan khusus seperti Vault.</a:t>
            </a:r>
            <a:endParaRPr lang="en-US" sz="980" dirty="0"/>
          </a:p>
        </p:txBody>
      </p:sp>
      <p:sp>
        <p:nvSpPr>
          <p:cNvPr id="32" name="Text 2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3" name="Text 2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Penanganan Galat (Error Handling)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Menjaga aplikasi tetap hidup dan memberi pesan yang jelas</a:t>
            </a:r>
            <a:endParaRPr lang="en-US" sz="1300" dirty="0"/>
          </a:p>
        </p:txBody>
      </p:sp>
      <p:sp>
        <p:nvSpPr>
          <p:cNvPr id="6" name="Shape 3"/>
          <p:cNvSpPr/>
          <p:nvPr/>
        </p:nvSpPr>
        <p:spPr>
          <a:xfrm>
            <a:off x="640080" y="1627632"/>
            <a:ext cx="6035040" cy="4556967"/>
          </a:xfrm>
          <a:prstGeom prst="roundRect">
            <a:avLst>
              <a:gd name="adj" fmla="val 1405"/>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MIDDLEWARE GALAT TERPUSAT DI EXPRESS</a:t>
            </a:r>
            <a:endParaRPr lang="en-US" sz="950" dirty="0"/>
          </a:p>
        </p:txBody>
      </p:sp>
      <p:sp>
        <p:nvSpPr>
          <p:cNvPr id="8" name="Text 5"/>
          <p:cNvSpPr txBox="1"/>
          <p:nvPr/>
        </p:nvSpPr>
        <p:spPr>
          <a:xfrm>
            <a:off x="859536" y="2029968"/>
            <a:ext cx="5596128" cy="404490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Kelas galat khusus aplikasi</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class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AppError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extends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constructor(pesan, status)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super(pesan);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this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.status = status;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cari(req.params.id);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AppError(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'Tidak ditemukan'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next(err);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diteruskan ke middleware galat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galat: empat parameter, ditaruh terakhir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app.use((err, 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status = err.status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500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res.status(status).json({ pesan: err.message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37360"/>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42516"/>
            <a:ext cx="210312" cy="210312"/>
          </a:xfrm>
          <a:prstGeom prst="rect">
            <a:avLst/>
          </a:prstGeom>
        </p:spPr>
      </p:pic>
      <p:sp>
        <p:nvSpPr>
          <p:cNvPr id="11" name="Text 7"/>
          <p:cNvSpPr txBox="1"/>
          <p:nvPr/>
        </p:nvSpPr>
        <p:spPr>
          <a:xfrm>
            <a:off x="7516368" y="17190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Galat Operasional</a:t>
            </a:r>
            <a:endParaRPr lang="en-US" sz="1200" dirty="0"/>
          </a:p>
        </p:txBody>
      </p:sp>
      <p:sp>
        <p:nvSpPr>
          <p:cNvPr id="12" name="Text 8"/>
          <p:cNvSpPr txBox="1"/>
          <p:nvPr/>
        </p:nvSpPr>
        <p:spPr>
          <a:xfrm>
            <a:off x="7516368" y="1975104"/>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Wajar terjadi: masukan tidak valid atau data tidak ditemukan.</a:t>
            </a:r>
            <a:endParaRPr lang="en-US" sz="960" dirty="0"/>
          </a:p>
        </p:txBody>
      </p:sp>
      <p:sp>
        <p:nvSpPr>
          <p:cNvPr id="13" name="Shape 9"/>
          <p:cNvSpPr/>
          <p:nvPr/>
        </p:nvSpPr>
        <p:spPr>
          <a:xfrm>
            <a:off x="6949440" y="2578608"/>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683764"/>
            <a:ext cx="210312" cy="210312"/>
          </a:xfrm>
          <a:prstGeom prst="rect">
            <a:avLst/>
          </a:prstGeom>
        </p:spPr>
      </p:pic>
      <p:sp>
        <p:nvSpPr>
          <p:cNvPr id="15" name="Text 10"/>
          <p:cNvSpPr txBox="1"/>
          <p:nvPr/>
        </p:nvSpPr>
        <p:spPr>
          <a:xfrm>
            <a:off x="7516368" y="256032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Galat Pemrograman</a:t>
            </a:r>
            <a:endParaRPr lang="en-US" sz="1200" dirty="0"/>
          </a:p>
        </p:txBody>
      </p:sp>
      <p:sp>
        <p:nvSpPr>
          <p:cNvPr id="16" name="Text 11"/>
          <p:cNvSpPr txBox="1"/>
          <p:nvPr/>
        </p:nvSpPr>
        <p:spPr>
          <a:xfrm>
            <a:off x="7516368" y="2816352"/>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Bug pada kode. Perbaiki penyebabnya, jangan sekadar ditutupi.</a:t>
            </a:r>
            <a:endParaRPr lang="en-US" sz="960" dirty="0"/>
          </a:p>
        </p:txBody>
      </p:sp>
      <p:sp>
        <p:nvSpPr>
          <p:cNvPr id="17" name="Shape 12"/>
          <p:cNvSpPr/>
          <p:nvPr/>
        </p:nvSpPr>
        <p:spPr>
          <a:xfrm>
            <a:off x="6949440" y="3419856"/>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525012"/>
            <a:ext cx="210312" cy="210312"/>
          </a:xfrm>
          <a:prstGeom prst="rect">
            <a:avLst/>
          </a:prstGeom>
        </p:spPr>
      </p:pic>
      <p:sp>
        <p:nvSpPr>
          <p:cNvPr id="19" name="Text 13"/>
          <p:cNvSpPr txBox="1"/>
          <p:nvPr/>
        </p:nvSpPr>
        <p:spPr>
          <a:xfrm>
            <a:off x="7516368" y="34015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Jaring Pengaman Global</a:t>
            </a:r>
            <a:endParaRPr lang="en-US" sz="1200" dirty="0"/>
          </a:p>
        </p:txBody>
      </p:sp>
      <p:sp>
        <p:nvSpPr>
          <p:cNvPr id="20" name="Text 14"/>
          <p:cNvSpPr txBox="1"/>
          <p:nvPr/>
        </p:nvSpPr>
        <p:spPr>
          <a:xfrm>
            <a:off x="7516368" y="3657600"/>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Tangkap uncaughtException, catat log, lalu hentikan proses rapi.</a:t>
            </a:r>
            <a:endParaRPr lang="en-US" sz="960" dirty="0"/>
          </a:p>
        </p:txBody>
      </p:sp>
      <p:sp>
        <p:nvSpPr>
          <p:cNvPr id="21" name="Shape 15"/>
          <p:cNvSpPr/>
          <p:nvPr/>
        </p:nvSpPr>
        <p:spPr>
          <a:xfrm>
            <a:off x="6949440" y="4261104"/>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4366260"/>
            <a:ext cx="210312" cy="210312"/>
          </a:xfrm>
          <a:prstGeom prst="rect">
            <a:avLst/>
          </a:prstGeom>
        </p:spPr>
      </p:pic>
      <p:sp>
        <p:nvSpPr>
          <p:cNvPr id="23" name="Text 16"/>
          <p:cNvSpPr txBox="1"/>
          <p:nvPr/>
        </p:nvSpPr>
        <p:spPr>
          <a:xfrm>
            <a:off x="7516368" y="42428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Bocorkan Detail</a:t>
            </a:r>
            <a:endParaRPr lang="en-US" sz="1200" dirty="0"/>
          </a:p>
        </p:txBody>
      </p:sp>
      <p:sp>
        <p:nvSpPr>
          <p:cNvPr id="24" name="Text 17"/>
          <p:cNvSpPr txBox="1"/>
          <p:nvPr/>
        </p:nvSpPr>
        <p:spPr>
          <a:xfrm>
            <a:off x="7516368" y="4498848"/>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Jangan kirim stack trace ke klien pada lingkungan produksi.</a:t>
            </a:r>
            <a:endParaRPr lang="en-US" sz="960" dirty="0"/>
          </a:p>
        </p:txBody>
      </p:sp>
      <p:sp>
        <p:nvSpPr>
          <p:cNvPr id="25" name="Shape 18"/>
          <p:cNvSpPr/>
          <p:nvPr/>
        </p:nvSpPr>
        <p:spPr>
          <a:xfrm>
            <a:off x="6949440" y="5102352"/>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5207508"/>
            <a:ext cx="210312" cy="210312"/>
          </a:xfrm>
          <a:prstGeom prst="rect">
            <a:avLst/>
          </a:prstGeom>
        </p:spPr>
      </p:pic>
      <p:sp>
        <p:nvSpPr>
          <p:cNvPr id="27" name="Text 19"/>
          <p:cNvSpPr txBox="1"/>
          <p:nvPr/>
        </p:nvSpPr>
        <p:spPr>
          <a:xfrm>
            <a:off x="7516368" y="508406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Catat dan Pantau</a:t>
            </a:r>
            <a:endParaRPr lang="en-US" sz="1200" dirty="0"/>
          </a:p>
        </p:txBody>
      </p:sp>
      <p:sp>
        <p:nvSpPr>
          <p:cNvPr id="28" name="Text 20"/>
          <p:cNvSpPr txBox="1"/>
          <p:nvPr/>
        </p:nvSpPr>
        <p:spPr>
          <a:xfrm>
            <a:off x="7516368" y="5340096"/>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Pakai Winston atau Pino, serta pemantauan galat seperti Sentry.</a:t>
            </a:r>
            <a:endParaRPr lang="en-US" sz="960" dirty="0"/>
          </a:p>
        </p:txBody>
      </p:sp>
      <p:sp>
        <p:nvSpPr>
          <p:cNvPr id="29"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07</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Kualitas &amp; Produksi</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Memastikan aplikasi teruji, aman, cepat, dan siap dijalankan pada lingkungan produksi yang sesungguhnya.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Pengujian, tooling, dan proses debugging</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Keamanan dan optimasi performa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Deployment, ekosistem framework, dan roadmap belajar</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Pengujian Aplikasi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Memastikan kode tetap benar setiap kali diubah</a:t>
            </a:r>
            <a:endParaRPr lang="en-US" sz="1300" dirty="0"/>
          </a:p>
        </p:txBody>
      </p:sp>
      <p:sp>
        <p:nvSpPr>
          <p:cNvPr id="6" name="Shape 3"/>
          <p:cNvSpPr/>
          <p:nvPr/>
        </p:nvSpPr>
        <p:spPr>
          <a:xfrm>
            <a:off x="640080"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Jest</a:t>
            </a:r>
            <a:endParaRPr lang="en-US" sz="1300" dirty="0"/>
          </a:p>
        </p:txBody>
      </p:sp>
      <p:sp>
        <p:nvSpPr>
          <p:cNvPr id="10" name="Text 6"/>
          <p:cNvSpPr txBox="1"/>
          <p:nvPr/>
        </p:nvSpPr>
        <p:spPr>
          <a:xfrm>
            <a:off x="896112"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Kerangka uji lengkap dengan assertion, mocking, dan laporan cakupan bawaan.</a:t>
            </a:r>
            <a:endParaRPr lang="en-US" sz="1030" dirty="0"/>
          </a:p>
        </p:txBody>
      </p:sp>
      <p:sp>
        <p:nvSpPr>
          <p:cNvPr id="11" name="Shape 7"/>
          <p:cNvSpPr/>
          <p:nvPr/>
        </p:nvSpPr>
        <p:spPr>
          <a:xfrm>
            <a:off x="3447288"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Mocha + Chai</a:t>
            </a:r>
            <a:endParaRPr lang="en-US" sz="1300" dirty="0"/>
          </a:p>
        </p:txBody>
      </p:sp>
      <p:sp>
        <p:nvSpPr>
          <p:cNvPr id="15" name="Text 10"/>
          <p:cNvSpPr txBox="1"/>
          <p:nvPr/>
        </p:nvSpPr>
        <p:spPr>
          <a:xfrm>
            <a:off x="3703320"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Kombinasi klasik yang fleksibel dan banyak dipakai pada proyek lama.</a:t>
            </a:r>
            <a:endParaRPr lang="en-US" sz="1030" dirty="0"/>
          </a:p>
        </p:txBody>
      </p:sp>
      <p:sp>
        <p:nvSpPr>
          <p:cNvPr id="16" name="Shape 11"/>
          <p:cNvSpPr/>
          <p:nvPr/>
        </p:nvSpPr>
        <p:spPr>
          <a:xfrm>
            <a:off x="6254496"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node:test</a:t>
            </a:r>
            <a:endParaRPr lang="en-US" sz="1300" dirty="0"/>
          </a:p>
        </p:txBody>
      </p:sp>
      <p:sp>
        <p:nvSpPr>
          <p:cNvPr id="20" name="Text 14"/>
          <p:cNvSpPr txBox="1"/>
          <p:nvPr/>
        </p:nvSpPr>
        <p:spPr>
          <a:xfrm>
            <a:off x="6510528"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Test runner bawaan Node.js sejak versi 18, tanpa perlu memasang paket apa pun.</a:t>
            </a:r>
            <a:endParaRPr lang="en-US" sz="1030" dirty="0"/>
          </a:p>
        </p:txBody>
      </p:sp>
      <p:sp>
        <p:nvSpPr>
          <p:cNvPr id="21" name="Shape 15"/>
          <p:cNvSpPr/>
          <p:nvPr/>
        </p:nvSpPr>
        <p:spPr>
          <a:xfrm>
            <a:off x="9061704"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Supertest</a:t>
            </a:r>
            <a:endParaRPr lang="en-US" sz="1300" dirty="0"/>
          </a:p>
        </p:txBody>
      </p:sp>
      <p:sp>
        <p:nvSpPr>
          <p:cNvPr id="25" name="Text 18"/>
          <p:cNvSpPr txBox="1"/>
          <p:nvPr/>
        </p:nvSpPr>
        <p:spPr>
          <a:xfrm>
            <a:off x="9317736"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Menguji endpoint HTTP Express secara langsung tanpa menjalankan server sungguhan.</a:t>
            </a:r>
            <a:endParaRPr lang="en-US" sz="1030" dirty="0"/>
          </a:p>
        </p:txBody>
      </p:sp>
      <p:sp>
        <p:nvSpPr>
          <p:cNvPr id="26" name="Shape 19"/>
          <p:cNvSpPr/>
          <p:nvPr/>
        </p:nvSpPr>
        <p:spPr>
          <a:xfrm>
            <a:off x="640080" y="3182112"/>
            <a:ext cx="5577840" cy="2995648"/>
          </a:xfrm>
          <a:prstGeom prst="roundRect">
            <a:avLst>
              <a:gd name="adj" fmla="val 2137"/>
            </a:avLst>
          </a:prstGeom>
          <a:solidFill>
            <a:srgbClr val="0E2417"/>
          </a:solidFill>
          <a:ln w="12700">
            <a:solidFill>
              <a:srgbClr val="234A31"/>
            </a:solidFill>
            <a:prstDash val="solid"/>
          </a:ln>
        </p:spPr>
      </p:sp>
      <p:sp>
        <p:nvSpPr>
          <p:cNvPr id="27" name="Text 20"/>
          <p:cNvSpPr txBox="1"/>
          <p:nvPr/>
        </p:nvSpPr>
        <p:spPr>
          <a:xfrm>
            <a:off x="859536" y="327355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CONTOH PENGUJIAN DENGAN JEST</a:t>
            </a:r>
            <a:endParaRPr lang="en-US" sz="950" dirty="0"/>
          </a:p>
        </p:txBody>
      </p:sp>
      <p:sp>
        <p:nvSpPr>
          <p:cNvPr id="28" name="Text 21"/>
          <p:cNvSpPr txBox="1"/>
          <p:nvPr/>
        </p:nvSpPr>
        <p:spPr>
          <a:xfrm>
            <a:off x="859536" y="3584448"/>
            <a:ext cx="5138928" cy="248358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mtk.test.js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tambah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'./mtk'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describe(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'fungsi tambah'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test(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'menjumlahkan dua bilangan positif'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expect(tambah(</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)).toBe(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5</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test(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'menangani bilangan negatif'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expect(tambah(-</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)).toBe(-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Jalankan dengan: npx jest</a:t>
            </a:r>
            <a:endParaRPr lang="en-US" sz="1020" dirty="0"/>
          </a:p>
        </p:txBody>
      </p:sp>
      <p:sp>
        <p:nvSpPr>
          <p:cNvPr id="29" name="Shape 22"/>
          <p:cNvSpPr/>
          <p:nvPr/>
        </p:nvSpPr>
        <p:spPr>
          <a:xfrm>
            <a:off x="6492240" y="3291840"/>
            <a:ext cx="420624" cy="420624"/>
          </a:xfrm>
          <a:prstGeom prst="roundRect">
            <a:avLst>
              <a:gd name="adj" fmla="val 26087"/>
            </a:avLst>
          </a:prstGeom>
          <a:solidFill>
            <a:srgbClr val="E8F2E2"/>
          </a:solidFill>
          <a:ln w="12700">
            <a:solidFill>
              <a:srgbClr val="E8F2E2"/>
            </a:solidFill>
            <a:prstDash val="solid"/>
          </a:ln>
        </p:spPr>
      </p:sp>
      <p:pic>
        <p:nvPicPr>
          <p:cNvPr id="30" name="Image 5" descr="preencoded.png">    </p:cNvPr>
          <p:cNvPicPr>
            <a:picLocks noChangeAspect="1"/>
          </p:cNvPicPr>
          <p:nvPr/>
        </p:nvPicPr>
        <p:blipFill>
          <a:blip r:embed="rId6"/>
          <a:stretch>
            <a:fillRect/>
          </a:stretch>
        </p:blipFill>
        <p:spPr>
          <a:xfrm>
            <a:off x="6597396" y="3396996"/>
            <a:ext cx="210312" cy="210312"/>
          </a:xfrm>
          <a:prstGeom prst="rect">
            <a:avLst/>
          </a:prstGeom>
        </p:spPr>
      </p:pic>
      <p:sp>
        <p:nvSpPr>
          <p:cNvPr id="31" name="Text 23"/>
          <p:cNvSpPr txBox="1"/>
          <p:nvPr/>
        </p:nvSpPr>
        <p:spPr>
          <a:xfrm>
            <a:off x="7059168" y="327355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Unit Test</a:t>
            </a:r>
            <a:endParaRPr lang="en-US" sz="1200" dirty="0"/>
          </a:p>
        </p:txBody>
      </p:sp>
      <p:sp>
        <p:nvSpPr>
          <p:cNvPr id="32" name="Text 24"/>
          <p:cNvSpPr txBox="1"/>
          <p:nvPr/>
        </p:nvSpPr>
        <p:spPr>
          <a:xfrm>
            <a:off x="7059168" y="3529584"/>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satu fungsi atau modul secara terpisah. Paling cepat.</a:t>
            </a:r>
            <a:endParaRPr lang="en-US" sz="980" dirty="0"/>
          </a:p>
        </p:txBody>
      </p:sp>
      <p:sp>
        <p:nvSpPr>
          <p:cNvPr id="33" name="Shape 25"/>
          <p:cNvSpPr/>
          <p:nvPr/>
        </p:nvSpPr>
        <p:spPr>
          <a:xfrm>
            <a:off x="6492240" y="3968496"/>
            <a:ext cx="420624" cy="420624"/>
          </a:xfrm>
          <a:prstGeom prst="roundRect">
            <a:avLst>
              <a:gd name="adj" fmla="val 26087"/>
            </a:avLst>
          </a:prstGeom>
          <a:solidFill>
            <a:srgbClr val="E8F2E2"/>
          </a:solidFill>
          <a:ln w="12700">
            <a:solidFill>
              <a:srgbClr val="E8F2E2"/>
            </a:solidFill>
            <a:prstDash val="solid"/>
          </a:ln>
        </p:spPr>
      </p:sp>
      <p:pic>
        <p:nvPicPr>
          <p:cNvPr id="34" name="Image 6" descr="preencoded.png">    </p:cNvPr>
          <p:cNvPicPr>
            <a:picLocks noChangeAspect="1"/>
          </p:cNvPicPr>
          <p:nvPr/>
        </p:nvPicPr>
        <p:blipFill>
          <a:blip r:embed="rId7"/>
          <a:stretch>
            <a:fillRect/>
          </a:stretch>
        </p:blipFill>
        <p:spPr>
          <a:xfrm>
            <a:off x="6597396" y="4073652"/>
            <a:ext cx="210312" cy="210312"/>
          </a:xfrm>
          <a:prstGeom prst="rect">
            <a:avLst/>
          </a:prstGeom>
        </p:spPr>
      </p:pic>
      <p:sp>
        <p:nvSpPr>
          <p:cNvPr id="35" name="Text 26"/>
          <p:cNvSpPr txBox="1"/>
          <p:nvPr/>
        </p:nvSpPr>
        <p:spPr>
          <a:xfrm>
            <a:off x="7059168" y="395020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Integration Test</a:t>
            </a:r>
            <a:endParaRPr lang="en-US" sz="1200" dirty="0"/>
          </a:p>
        </p:txBody>
      </p:sp>
      <p:sp>
        <p:nvSpPr>
          <p:cNvPr id="36" name="Text 27"/>
          <p:cNvSpPr txBox="1"/>
          <p:nvPr/>
        </p:nvSpPr>
        <p:spPr>
          <a:xfrm>
            <a:off x="7059168" y="4206240"/>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beberapa bagian bersama, misalnya controller dan basis data.</a:t>
            </a:r>
            <a:endParaRPr lang="en-US" sz="980" dirty="0"/>
          </a:p>
        </p:txBody>
      </p:sp>
      <p:sp>
        <p:nvSpPr>
          <p:cNvPr id="37" name="Shape 28"/>
          <p:cNvSpPr/>
          <p:nvPr/>
        </p:nvSpPr>
        <p:spPr>
          <a:xfrm>
            <a:off x="6492240" y="4645152"/>
            <a:ext cx="420624" cy="420624"/>
          </a:xfrm>
          <a:prstGeom prst="roundRect">
            <a:avLst>
              <a:gd name="adj" fmla="val 26087"/>
            </a:avLst>
          </a:prstGeom>
          <a:solidFill>
            <a:srgbClr val="E8F2E2"/>
          </a:solidFill>
          <a:ln w="12700">
            <a:solidFill>
              <a:srgbClr val="E8F2E2"/>
            </a:solidFill>
            <a:prstDash val="solid"/>
          </a:ln>
        </p:spPr>
      </p:sp>
      <p:pic>
        <p:nvPicPr>
          <p:cNvPr id="38" name="Image 7" descr="preencoded.png">    </p:cNvPr>
          <p:cNvPicPr>
            <a:picLocks noChangeAspect="1"/>
          </p:cNvPicPr>
          <p:nvPr/>
        </p:nvPicPr>
        <p:blipFill>
          <a:blip r:embed="rId8"/>
          <a:stretch>
            <a:fillRect/>
          </a:stretch>
        </p:blipFill>
        <p:spPr>
          <a:xfrm>
            <a:off x="6597396" y="4750308"/>
            <a:ext cx="210312" cy="210312"/>
          </a:xfrm>
          <a:prstGeom prst="rect">
            <a:avLst/>
          </a:prstGeom>
        </p:spPr>
      </p:pic>
      <p:sp>
        <p:nvSpPr>
          <p:cNvPr id="39" name="Text 29"/>
          <p:cNvSpPr txBox="1"/>
          <p:nvPr/>
        </p:nvSpPr>
        <p:spPr>
          <a:xfrm>
            <a:off x="7059168" y="46268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End-to-End Test</a:t>
            </a:r>
            <a:endParaRPr lang="en-US" sz="1200" dirty="0"/>
          </a:p>
        </p:txBody>
      </p:sp>
      <p:sp>
        <p:nvSpPr>
          <p:cNvPr id="40" name="Text 30"/>
          <p:cNvSpPr txBox="1"/>
          <p:nvPr/>
        </p:nvSpPr>
        <p:spPr>
          <a:xfrm>
            <a:off x="7059168" y="4882896"/>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alur pengguna dari awal hingga akhir. Paling meyakinkan.</a:t>
            </a:r>
            <a:endParaRPr lang="en-US" sz="980" dirty="0"/>
          </a:p>
        </p:txBody>
      </p:sp>
      <p:sp>
        <p:nvSpPr>
          <p:cNvPr id="41" name="Shape 31"/>
          <p:cNvSpPr/>
          <p:nvPr/>
        </p:nvSpPr>
        <p:spPr>
          <a:xfrm>
            <a:off x="6492240" y="5321808"/>
            <a:ext cx="420624" cy="420624"/>
          </a:xfrm>
          <a:prstGeom prst="roundRect">
            <a:avLst>
              <a:gd name="adj" fmla="val 26087"/>
            </a:avLst>
          </a:prstGeom>
          <a:solidFill>
            <a:srgbClr val="E8F2E2"/>
          </a:solidFill>
          <a:ln w="12700">
            <a:solidFill>
              <a:srgbClr val="E8F2E2"/>
            </a:solidFill>
            <a:prstDash val="solid"/>
          </a:ln>
        </p:spPr>
      </p:sp>
      <p:pic>
        <p:nvPicPr>
          <p:cNvPr id="42" name="Image 8" descr="preencoded.png">    </p:cNvPr>
          <p:cNvPicPr>
            <a:picLocks noChangeAspect="1"/>
          </p:cNvPicPr>
          <p:nvPr/>
        </p:nvPicPr>
        <p:blipFill>
          <a:blip r:embed="rId9"/>
          <a:stretch>
            <a:fillRect/>
          </a:stretch>
        </p:blipFill>
        <p:spPr>
          <a:xfrm>
            <a:off x="6597396" y="5426964"/>
            <a:ext cx="210312" cy="210312"/>
          </a:xfrm>
          <a:prstGeom prst="rect">
            <a:avLst/>
          </a:prstGeom>
        </p:spPr>
      </p:pic>
      <p:sp>
        <p:nvSpPr>
          <p:cNvPr id="43" name="Text 32"/>
          <p:cNvSpPr txBox="1"/>
          <p:nvPr/>
        </p:nvSpPr>
        <p:spPr>
          <a:xfrm>
            <a:off x="7059168" y="53035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Cakupan Kode</a:t>
            </a:r>
            <a:endParaRPr lang="en-US" sz="1200" dirty="0"/>
          </a:p>
        </p:txBody>
      </p:sp>
      <p:sp>
        <p:nvSpPr>
          <p:cNvPr id="44" name="Text 33"/>
          <p:cNvSpPr txBox="1"/>
          <p:nvPr/>
        </p:nvSpPr>
        <p:spPr>
          <a:xfrm>
            <a:off x="7059168" y="5559552"/>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Mengukur persentase kode yang tersentuh pengujian.</a:t>
            </a:r>
            <a:endParaRPr lang="en-US" sz="980" dirty="0"/>
          </a:p>
        </p:txBody>
      </p:sp>
      <p:sp>
        <p:nvSpPr>
          <p:cNvPr id="45" name="Text 3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6" name="Text 3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Perkakas dan Proses Debugging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Alat pendukung yang membuat pengembangan lebih nyaman</a:t>
            </a:r>
            <a:endParaRPr lang="en-US" sz="1300" dirty="0"/>
          </a:p>
        </p:txBody>
      </p:sp>
      <p:sp>
        <p:nvSpPr>
          <p:cNvPr id="6" name="Shape 3"/>
          <p:cNvSpPr/>
          <p:nvPr/>
        </p:nvSpPr>
        <p:spPr>
          <a:xfrm>
            <a:off x="640080"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Nodemon</a:t>
            </a:r>
            <a:endParaRPr lang="en-US" sz="1250" dirty="0"/>
          </a:p>
        </p:txBody>
      </p:sp>
      <p:sp>
        <p:nvSpPr>
          <p:cNvPr id="10" name="Text 6"/>
          <p:cNvSpPr txBox="1"/>
          <p:nvPr/>
        </p:nvSpPr>
        <p:spPr>
          <a:xfrm>
            <a:off x="896112"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Memuat ulang server otomatis setiap berkas berubah. Alternatif bawaan: node --watch.</a:t>
            </a:r>
            <a:endParaRPr lang="en-US" sz="1020" dirty="0"/>
          </a:p>
        </p:txBody>
      </p:sp>
      <p:sp>
        <p:nvSpPr>
          <p:cNvPr id="11" name="Shape 7"/>
          <p:cNvSpPr/>
          <p:nvPr/>
        </p:nvSpPr>
        <p:spPr>
          <a:xfrm>
            <a:off x="4443984"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4" name="Text 9"/>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ESLint</a:t>
            </a:r>
            <a:endParaRPr lang="en-US" sz="1250" dirty="0"/>
          </a:p>
        </p:txBody>
      </p:sp>
      <p:sp>
        <p:nvSpPr>
          <p:cNvPr id="15" name="Text 10"/>
          <p:cNvSpPr txBox="1"/>
          <p:nvPr/>
        </p:nvSpPr>
        <p:spPr>
          <a:xfrm>
            <a:off x="4700016"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Menemukan kesalahan penulisan dan menegakkan gaya kode yang seragam dalam tim.</a:t>
            </a:r>
            <a:endParaRPr lang="en-US" sz="1020" dirty="0"/>
          </a:p>
        </p:txBody>
      </p:sp>
      <p:sp>
        <p:nvSpPr>
          <p:cNvPr id="16" name="Shape 11"/>
          <p:cNvSpPr/>
          <p:nvPr/>
        </p:nvSpPr>
        <p:spPr>
          <a:xfrm>
            <a:off x="8247888"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19" name="Text 13"/>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Prettier</a:t>
            </a:r>
            <a:endParaRPr lang="en-US" sz="1250" dirty="0"/>
          </a:p>
        </p:txBody>
      </p:sp>
      <p:sp>
        <p:nvSpPr>
          <p:cNvPr id="20" name="Text 14"/>
          <p:cNvSpPr txBox="1"/>
          <p:nvPr/>
        </p:nvSpPr>
        <p:spPr>
          <a:xfrm>
            <a:off x="8503920"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Merapikan format kode secara otomatis sehingga tidak ada lagi debat soal spasi.</a:t>
            </a:r>
            <a:endParaRPr lang="en-US" sz="1020" dirty="0"/>
          </a:p>
        </p:txBody>
      </p:sp>
      <p:sp>
        <p:nvSpPr>
          <p:cNvPr id="21" name="Shape 15"/>
          <p:cNvSpPr/>
          <p:nvPr/>
        </p:nvSpPr>
        <p:spPr>
          <a:xfrm>
            <a:off x="640080"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896112" y="3346704"/>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1010412" y="3461004"/>
            <a:ext cx="228600" cy="228600"/>
          </a:xfrm>
          <a:prstGeom prst="rect">
            <a:avLst/>
          </a:prstGeom>
        </p:spPr>
      </p:pic>
      <p:sp>
        <p:nvSpPr>
          <p:cNvPr id="24" name="Text 17"/>
          <p:cNvSpPr txBox="1"/>
          <p:nvPr/>
        </p:nvSpPr>
        <p:spPr>
          <a:xfrm>
            <a:off x="1499616"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TypeScript</a:t>
            </a:r>
            <a:endParaRPr lang="en-US" sz="1250" dirty="0"/>
          </a:p>
        </p:txBody>
      </p:sp>
      <p:sp>
        <p:nvSpPr>
          <p:cNvPr id="25" name="Text 18"/>
          <p:cNvSpPr txBox="1"/>
          <p:nvPr/>
        </p:nvSpPr>
        <p:spPr>
          <a:xfrm>
            <a:off x="896112"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Menambahkan sistem tipe pada JavaScript sehingga banyak bug tertangkap sebelum dijalankan.</a:t>
            </a:r>
            <a:endParaRPr lang="en-US" sz="1020" dirty="0"/>
          </a:p>
        </p:txBody>
      </p:sp>
      <p:sp>
        <p:nvSpPr>
          <p:cNvPr id="26" name="Shape 19"/>
          <p:cNvSpPr/>
          <p:nvPr/>
        </p:nvSpPr>
        <p:spPr>
          <a:xfrm>
            <a:off x="4443984"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4700016" y="3346704"/>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4814316" y="3461004"/>
            <a:ext cx="228600" cy="228600"/>
          </a:xfrm>
          <a:prstGeom prst="rect">
            <a:avLst/>
          </a:prstGeom>
        </p:spPr>
      </p:pic>
      <p:sp>
        <p:nvSpPr>
          <p:cNvPr id="29" name="Text 21"/>
          <p:cNvSpPr txBox="1"/>
          <p:nvPr/>
        </p:nvSpPr>
        <p:spPr>
          <a:xfrm>
            <a:off x="5303520"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Postman</a:t>
            </a:r>
            <a:endParaRPr lang="en-US" sz="1250" dirty="0"/>
          </a:p>
        </p:txBody>
      </p:sp>
      <p:sp>
        <p:nvSpPr>
          <p:cNvPr id="30" name="Text 22"/>
          <p:cNvSpPr txBox="1"/>
          <p:nvPr/>
        </p:nvSpPr>
        <p:spPr>
          <a:xfrm>
            <a:off x="4700016"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Menguji endpoint API secara manual lengkap dengan koleksi dan lingkungan pengujian.</a:t>
            </a:r>
            <a:endParaRPr lang="en-US" sz="1020" dirty="0"/>
          </a:p>
        </p:txBody>
      </p:sp>
      <p:sp>
        <p:nvSpPr>
          <p:cNvPr id="31" name="Shape 23"/>
          <p:cNvSpPr/>
          <p:nvPr/>
        </p:nvSpPr>
        <p:spPr>
          <a:xfrm>
            <a:off x="8247888"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8503920" y="3346704"/>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8618220" y="3461004"/>
            <a:ext cx="228600" cy="228600"/>
          </a:xfrm>
          <a:prstGeom prst="rect">
            <a:avLst/>
          </a:prstGeom>
        </p:spPr>
      </p:pic>
      <p:sp>
        <p:nvSpPr>
          <p:cNvPr id="34" name="Text 25"/>
          <p:cNvSpPr txBox="1"/>
          <p:nvPr/>
        </p:nvSpPr>
        <p:spPr>
          <a:xfrm>
            <a:off x="9107424"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Swagger / OpenAPI</a:t>
            </a:r>
            <a:endParaRPr lang="en-US" sz="1250" dirty="0"/>
          </a:p>
        </p:txBody>
      </p:sp>
      <p:sp>
        <p:nvSpPr>
          <p:cNvPr id="35" name="Text 26"/>
          <p:cNvSpPr txBox="1"/>
          <p:nvPr/>
        </p:nvSpPr>
        <p:spPr>
          <a:xfrm>
            <a:off x="8503920"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Menyusun dokumentasi API yang interaktif dan dapat langsung dicoba pengguna.</a:t>
            </a:r>
            <a:endParaRPr lang="en-US" sz="1020" dirty="0"/>
          </a:p>
        </p:txBody>
      </p:sp>
      <p:sp>
        <p:nvSpPr>
          <p:cNvPr id="36" name="Shape 27"/>
          <p:cNvSpPr/>
          <p:nvPr/>
        </p:nvSpPr>
        <p:spPr>
          <a:xfrm>
            <a:off x="640080" y="4553712"/>
            <a:ext cx="5577840" cy="1260848"/>
          </a:xfrm>
          <a:prstGeom prst="roundRect">
            <a:avLst>
              <a:gd name="adj" fmla="val 5077"/>
            </a:avLst>
          </a:prstGeom>
          <a:solidFill>
            <a:srgbClr val="0E2417"/>
          </a:solidFill>
          <a:ln w="12700">
            <a:solidFill>
              <a:srgbClr val="234A31"/>
            </a:solidFill>
            <a:prstDash val="solid"/>
          </a:ln>
        </p:spPr>
      </p:sp>
      <p:sp>
        <p:nvSpPr>
          <p:cNvPr id="37" name="Text 28"/>
          <p:cNvSpPr txBox="1"/>
          <p:nvPr/>
        </p:nvSpPr>
        <p:spPr>
          <a:xfrm>
            <a:off x="859536" y="464515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PERINTAH DEBUGGING</a:t>
            </a:r>
            <a:endParaRPr lang="en-US" sz="950" dirty="0"/>
          </a:p>
        </p:txBody>
      </p:sp>
      <p:sp>
        <p:nvSpPr>
          <p:cNvPr id="38" name="Text 29"/>
          <p:cNvSpPr txBox="1"/>
          <p:nvPr/>
        </p:nvSpPr>
        <p:spPr>
          <a:xfrm>
            <a:off x="859536" y="4956048"/>
            <a:ext cx="5138928" cy="74878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--inspect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buka DevTools Chrome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--inspect-brk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berhenti di baris awal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--watch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muat ulang otomatis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--prof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profil performa CPU</a:t>
            </a:r>
            <a:endParaRPr lang="en-US" sz="1020" dirty="0"/>
          </a:p>
        </p:txBody>
      </p:sp>
      <p:sp>
        <p:nvSpPr>
          <p:cNvPr id="39" name="Shape 30"/>
          <p:cNvSpPr/>
          <p:nvPr/>
        </p:nvSpPr>
        <p:spPr>
          <a:xfrm>
            <a:off x="6492240" y="4663440"/>
            <a:ext cx="420624" cy="420624"/>
          </a:xfrm>
          <a:prstGeom prst="roundRect">
            <a:avLst>
              <a:gd name="adj" fmla="val 26087"/>
            </a:avLst>
          </a:prstGeom>
          <a:solidFill>
            <a:srgbClr val="E8F2E2"/>
          </a:solidFill>
          <a:ln w="12700">
            <a:solidFill>
              <a:srgbClr val="E8F2E2"/>
            </a:solidFill>
            <a:prstDash val="solid"/>
          </a:ln>
        </p:spPr>
      </p:sp>
      <p:pic>
        <p:nvPicPr>
          <p:cNvPr id="40" name="Image 7" descr="preencoded.png">    </p:cNvPr>
          <p:cNvPicPr>
            <a:picLocks noChangeAspect="1"/>
          </p:cNvPicPr>
          <p:nvPr/>
        </p:nvPicPr>
        <p:blipFill>
          <a:blip r:embed="rId8"/>
          <a:stretch>
            <a:fillRect/>
          </a:stretch>
        </p:blipFill>
        <p:spPr>
          <a:xfrm>
            <a:off x="6597396" y="4768596"/>
            <a:ext cx="210312" cy="210312"/>
          </a:xfrm>
          <a:prstGeom prst="rect">
            <a:avLst/>
          </a:prstGeom>
        </p:spPr>
      </p:pic>
      <p:sp>
        <p:nvSpPr>
          <p:cNvPr id="41" name="Text 31"/>
          <p:cNvSpPr txBox="1"/>
          <p:nvPr/>
        </p:nvSpPr>
        <p:spPr>
          <a:xfrm>
            <a:off x="7059168" y="464515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Titik Henti (Breakpoint)</a:t>
            </a:r>
            <a:endParaRPr lang="en-US" sz="1200" dirty="0"/>
          </a:p>
        </p:txBody>
      </p:sp>
      <p:sp>
        <p:nvSpPr>
          <p:cNvPr id="42" name="Text 32"/>
          <p:cNvSpPr txBox="1"/>
          <p:nvPr/>
        </p:nvSpPr>
        <p:spPr>
          <a:xfrm>
            <a:off x="7059168" y="4901184"/>
            <a:ext cx="4553712" cy="36576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Debugger VS Code atau Chrome DevTools memeriksa nilai variabel saat program berjalan.</a:t>
            </a:r>
            <a:endParaRPr lang="en-US" sz="980" dirty="0"/>
          </a:p>
        </p:txBody>
      </p:sp>
      <p:sp>
        <p:nvSpPr>
          <p:cNvPr id="43" name="Shape 33"/>
          <p:cNvSpPr/>
          <p:nvPr/>
        </p:nvSpPr>
        <p:spPr>
          <a:xfrm>
            <a:off x="6492240" y="5394960"/>
            <a:ext cx="420624" cy="420624"/>
          </a:xfrm>
          <a:prstGeom prst="roundRect">
            <a:avLst>
              <a:gd name="adj" fmla="val 26087"/>
            </a:avLst>
          </a:prstGeom>
          <a:solidFill>
            <a:srgbClr val="E8F2E2"/>
          </a:solidFill>
          <a:ln w="12700">
            <a:solidFill>
              <a:srgbClr val="E8F2E2"/>
            </a:solidFill>
            <a:prstDash val="solid"/>
          </a:ln>
        </p:spPr>
      </p:sp>
      <p:pic>
        <p:nvPicPr>
          <p:cNvPr id="44" name="Image 8" descr="preencoded.png">    </p:cNvPr>
          <p:cNvPicPr>
            <a:picLocks noChangeAspect="1"/>
          </p:cNvPicPr>
          <p:nvPr/>
        </p:nvPicPr>
        <p:blipFill>
          <a:blip r:embed="rId9"/>
          <a:stretch>
            <a:fillRect/>
          </a:stretch>
        </p:blipFill>
        <p:spPr>
          <a:xfrm>
            <a:off x="6597396" y="5500116"/>
            <a:ext cx="210312" cy="210312"/>
          </a:xfrm>
          <a:prstGeom prst="rect">
            <a:avLst/>
          </a:prstGeom>
        </p:spPr>
      </p:pic>
      <p:sp>
        <p:nvSpPr>
          <p:cNvPr id="45" name="Text 34"/>
          <p:cNvSpPr txBox="1"/>
          <p:nvPr/>
        </p:nvSpPr>
        <p:spPr>
          <a:xfrm>
            <a:off x="7059168" y="53766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Logging Terstruktur</a:t>
            </a:r>
            <a:endParaRPr lang="en-US" sz="1200" dirty="0"/>
          </a:p>
        </p:txBody>
      </p:sp>
      <p:sp>
        <p:nvSpPr>
          <p:cNvPr id="46" name="Text 35"/>
          <p:cNvSpPr txBox="1"/>
          <p:nvPr/>
        </p:nvSpPr>
        <p:spPr>
          <a:xfrm>
            <a:off x="7059168" y="5632704"/>
            <a:ext cx="4553712" cy="36576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Pino dan Winston menghasilkan log JSON yang mudah dicari dan dianalisis.</a:t>
            </a:r>
            <a:endParaRPr lang="en-US" sz="980" dirty="0"/>
          </a:p>
        </p:txBody>
      </p:sp>
      <p:sp>
        <p:nvSpPr>
          <p:cNvPr id="47" name="Text 36"/>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8" name="Text 37"/>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Praktik Keamanan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Delapan langkah dasar melindungi aplikasi dari serangan umum</a:t>
            </a:r>
            <a:endParaRPr lang="en-US" sz="1300" dirty="0"/>
          </a:p>
        </p:txBody>
      </p:sp>
      <p:sp>
        <p:nvSpPr>
          <p:cNvPr id="6" name="Shape 3"/>
          <p:cNvSpPr/>
          <p:nvPr/>
        </p:nvSpPr>
        <p:spPr>
          <a:xfrm>
            <a:off x="640080"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Validasi Masukan</a:t>
            </a:r>
            <a:endParaRPr lang="en-US" sz="1200" dirty="0"/>
          </a:p>
        </p:txBody>
      </p:sp>
      <p:sp>
        <p:nvSpPr>
          <p:cNvPr id="10" name="Text 6"/>
          <p:cNvSpPr txBox="1"/>
          <p:nvPr/>
        </p:nvSpPr>
        <p:spPr>
          <a:xfrm>
            <a:off x="896112"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Periksa seluruh data dari pengguna dengan pustaka seperti Zod atau Joi sebelum diproses.</a:t>
            </a:r>
            <a:endParaRPr lang="en-US" sz="1000" dirty="0"/>
          </a:p>
        </p:txBody>
      </p:sp>
      <p:sp>
        <p:nvSpPr>
          <p:cNvPr id="11" name="Shape 7"/>
          <p:cNvSpPr/>
          <p:nvPr/>
        </p:nvSpPr>
        <p:spPr>
          <a:xfrm>
            <a:off x="3447288"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47088"/>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61388"/>
            <a:ext cx="228600" cy="228600"/>
          </a:xfrm>
          <a:prstGeom prst="rect">
            <a:avLst/>
          </a:prstGeom>
        </p:spPr>
      </p:pic>
      <p:sp>
        <p:nvSpPr>
          <p:cNvPr id="14" name="Text 9"/>
          <p:cNvSpPr txBox="1"/>
          <p:nvPr/>
        </p:nvSpPr>
        <p:spPr>
          <a:xfrm>
            <a:off x="4306824"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Cegah SQL Injection</a:t>
            </a:r>
            <a:endParaRPr lang="en-US" sz="1200" dirty="0"/>
          </a:p>
        </p:txBody>
      </p:sp>
      <p:sp>
        <p:nvSpPr>
          <p:cNvPr id="15" name="Text 10"/>
          <p:cNvSpPr txBox="1"/>
          <p:nvPr/>
        </p:nvSpPr>
        <p:spPr>
          <a:xfrm>
            <a:off x="3703320"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Gunakan prepared statement atau ORM, jangan menyambung kueri dengan string masukan.</a:t>
            </a:r>
            <a:endParaRPr lang="en-US" sz="1000" dirty="0"/>
          </a:p>
        </p:txBody>
      </p:sp>
      <p:sp>
        <p:nvSpPr>
          <p:cNvPr id="16" name="Shape 11"/>
          <p:cNvSpPr/>
          <p:nvPr/>
        </p:nvSpPr>
        <p:spPr>
          <a:xfrm>
            <a:off x="6254496"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47088"/>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61388"/>
            <a:ext cx="228600" cy="228600"/>
          </a:xfrm>
          <a:prstGeom prst="rect">
            <a:avLst/>
          </a:prstGeom>
        </p:spPr>
      </p:pic>
      <p:sp>
        <p:nvSpPr>
          <p:cNvPr id="19" name="Text 13"/>
          <p:cNvSpPr txBox="1"/>
          <p:nvPr/>
        </p:nvSpPr>
        <p:spPr>
          <a:xfrm>
            <a:off x="7114032"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Simpan Kata Sandi dengan Hash</a:t>
            </a:r>
            <a:endParaRPr lang="en-US" sz="1200" dirty="0"/>
          </a:p>
        </p:txBody>
      </p:sp>
      <p:sp>
        <p:nvSpPr>
          <p:cNvPr id="20" name="Text 14"/>
          <p:cNvSpPr txBox="1"/>
          <p:nvPr/>
        </p:nvSpPr>
        <p:spPr>
          <a:xfrm>
            <a:off x="6510528"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Gunakan bcrypt atau argon2. Kata sandi tidak boleh pernah disimpan dalam bentuk asli.</a:t>
            </a:r>
            <a:endParaRPr lang="en-US" sz="1000" dirty="0"/>
          </a:p>
        </p:txBody>
      </p:sp>
      <p:sp>
        <p:nvSpPr>
          <p:cNvPr id="21" name="Shape 15"/>
          <p:cNvSpPr/>
          <p:nvPr/>
        </p:nvSpPr>
        <p:spPr>
          <a:xfrm>
            <a:off x="9061704"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47088"/>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61388"/>
            <a:ext cx="228600" cy="228600"/>
          </a:xfrm>
          <a:prstGeom prst="rect">
            <a:avLst/>
          </a:prstGeom>
        </p:spPr>
      </p:pic>
      <p:sp>
        <p:nvSpPr>
          <p:cNvPr id="24" name="Text 17"/>
          <p:cNvSpPr txBox="1"/>
          <p:nvPr/>
        </p:nvSpPr>
        <p:spPr>
          <a:xfrm>
            <a:off x="9921240"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Pasang Helmet</a:t>
            </a:r>
            <a:endParaRPr lang="en-US" sz="1200" dirty="0"/>
          </a:p>
        </p:txBody>
      </p:sp>
      <p:sp>
        <p:nvSpPr>
          <p:cNvPr id="25" name="Text 18"/>
          <p:cNvSpPr txBox="1"/>
          <p:nvPr/>
        </p:nvSpPr>
        <p:spPr>
          <a:xfrm>
            <a:off x="9317736"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Middleware helmet menetapkan header HTTP keamanan secara otomatis pada setiap respons.</a:t>
            </a:r>
            <a:endParaRPr lang="en-US" sz="1000" dirty="0"/>
          </a:p>
        </p:txBody>
      </p:sp>
      <p:sp>
        <p:nvSpPr>
          <p:cNvPr id="26" name="Shape 19"/>
          <p:cNvSpPr/>
          <p:nvPr/>
        </p:nvSpPr>
        <p:spPr>
          <a:xfrm>
            <a:off x="640080"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896112" y="3456432"/>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1010412" y="3570732"/>
            <a:ext cx="228600" cy="228600"/>
          </a:xfrm>
          <a:prstGeom prst="rect">
            <a:avLst/>
          </a:prstGeom>
        </p:spPr>
      </p:pic>
      <p:sp>
        <p:nvSpPr>
          <p:cNvPr id="29" name="Text 21"/>
          <p:cNvSpPr txBox="1"/>
          <p:nvPr/>
        </p:nvSpPr>
        <p:spPr>
          <a:xfrm>
            <a:off x="1499616"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Batasi Laju Permintaan</a:t>
            </a:r>
            <a:endParaRPr lang="en-US" sz="1200" dirty="0"/>
          </a:p>
        </p:txBody>
      </p:sp>
      <p:sp>
        <p:nvSpPr>
          <p:cNvPr id="30" name="Text 22"/>
          <p:cNvSpPr txBox="1"/>
          <p:nvPr/>
        </p:nvSpPr>
        <p:spPr>
          <a:xfrm>
            <a:off x="896112"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express-rate-limit mencegah serangan brute force dan penyalahgunaan endpoint.</a:t>
            </a:r>
            <a:endParaRPr lang="en-US" sz="1000" dirty="0"/>
          </a:p>
        </p:txBody>
      </p:sp>
      <p:sp>
        <p:nvSpPr>
          <p:cNvPr id="31" name="Shape 23"/>
          <p:cNvSpPr/>
          <p:nvPr/>
        </p:nvSpPr>
        <p:spPr>
          <a:xfrm>
            <a:off x="3447288"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3703320" y="3456432"/>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3817620" y="3570732"/>
            <a:ext cx="228600" cy="228600"/>
          </a:xfrm>
          <a:prstGeom prst="rect">
            <a:avLst/>
          </a:prstGeom>
        </p:spPr>
      </p:pic>
      <p:sp>
        <p:nvSpPr>
          <p:cNvPr id="34" name="Text 25"/>
          <p:cNvSpPr txBox="1"/>
          <p:nvPr/>
        </p:nvSpPr>
        <p:spPr>
          <a:xfrm>
            <a:off x="4306824"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Atur CORS dengan Ketat</a:t>
            </a:r>
            <a:endParaRPr lang="en-US" sz="1200" dirty="0"/>
          </a:p>
        </p:txBody>
      </p:sp>
      <p:sp>
        <p:nvSpPr>
          <p:cNvPr id="35" name="Text 26"/>
          <p:cNvSpPr txBox="1"/>
          <p:nvPr/>
        </p:nvSpPr>
        <p:spPr>
          <a:xfrm>
            <a:off x="3703320"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Izinkan hanya domain yang benar-benar dipercaya, jangan biarkan terbuka untuk semua.</a:t>
            </a:r>
            <a:endParaRPr lang="en-US" sz="1000" dirty="0"/>
          </a:p>
        </p:txBody>
      </p:sp>
      <p:sp>
        <p:nvSpPr>
          <p:cNvPr id="36" name="Shape 27"/>
          <p:cNvSpPr/>
          <p:nvPr/>
        </p:nvSpPr>
        <p:spPr>
          <a:xfrm>
            <a:off x="6254496"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8"/>
          <p:cNvSpPr/>
          <p:nvPr/>
        </p:nvSpPr>
        <p:spPr>
          <a:xfrm>
            <a:off x="6510528" y="3456432"/>
            <a:ext cx="457200" cy="457200"/>
          </a:xfrm>
          <a:prstGeom prst="roundRect">
            <a:avLst>
              <a:gd name="adj" fmla="val 26000"/>
            </a:avLst>
          </a:prstGeom>
          <a:solidFill>
            <a:srgbClr val="E8F2E2"/>
          </a:solidFill>
          <a:ln w="12700">
            <a:solidFill>
              <a:srgbClr val="E8F2E2"/>
            </a:solidFill>
            <a:prstDash val="solid"/>
          </a:ln>
        </p:spPr>
      </p:sp>
      <p:pic>
        <p:nvPicPr>
          <p:cNvPr id="38" name="Image 7" descr="preencoded.png">    </p:cNvPr>
          <p:cNvPicPr>
            <a:picLocks noChangeAspect="1"/>
          </p:cNvPicPr>
          <p:nvPr/>
        </p:nvPicPr>
        <p:blipFill>
          <a:blip r:embed="rId8"/>
          <a:stretch>
            <a:fillRect/>
          </a:stretch>
        </p:blipFill>
        <p:spPr>
          <a:xfrm>
            <a:off x="6624828" y="3570732"/>
            <a:ext cx="228600" cy="228600"/>
          </a:xfrm>
          <a:prstGeom prst="rect">
            <a:avLst/>
          </a:prstGeom>
        </p:spPr>
      </p:pic>
      <p:sp>
        <p:nvSpPr>
          <p:cNvPr id="39" name="Text 29"/>
          <p:cNvSpPr txBox="1"/>
          <p:nvPr/>
        </p:nvSpPr>
        <p:spPr>
          <a:xfrm>
            <a:off x="7114032"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Audit Dependensi</a:t>
            </a:r>
            <a:endParaRPr lang="en-US" sz="1200" dirty="0"/>
          </a:p>
        </p:txBody>
      </p:sp>
      <p:sp>
        <p:nvSpPr>
          <p:cNvPr id="40" name="Text 30"/>
          <p:cNvSpPr txBox="1"/>
          <p:nvPr/>
        </p:nvSpPr>
        <p:spPr>
          <a:xfrm>
            <a:off x="6510528"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Jalankan npm audit dan perbarui paket yang memiliki kerentanan yang telah diketahui.</a:t>
            </a:r>
            <a:endParaRPr lang="en-US" sz="1000" dirty="0"/>
          </a:p>
        </p:txBody>
      </p:sp>
      <p:sp>
        <p:nvSpPr>
          <p:cNvPr id="41" name="Shape 31"/>
          <p:cNvSpPr/>
          <p:nvPr/>
        </p:nvSpPr>
        <p:spPr>
          <a:xfrm>
            <a:off x="9061704"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32"/>
          <p:cNvSpPr/>
          <p:nvPr/>
        </p:nvSpPr>
        <p:spPr>
          <a:xfrm>
            <a:off x="9317736" y="3456432"/>
            <a:ext cx="457200" cy="457200"/>
          </a:xfrm>
          <a:prstGeom prst="roundRect">
            <a:avLst>
              <a:gd name="adj" fmla="val 26000"/>
            </a:avLst>
          </a:prstGeom>
          <a:solidFill>
            <a:srgbClr val="E8F2E2"/>
          </a:solidFill>
          <a:ln w="12700">
            <a:solidFill>
              <a:srgbClr val="E8F2E2"/>
            </a:solidFill>
            <a:prstDash val="solid"/>
          </a:ln>
        </p:spPr>
      </p:sp>
      <p:pic>
        <p:nvPicPr>
          <p:cNvPr id="43" name="Image 8" descr="preencoded.png">    </p:cNvPr>
          <p:cNvPicPr>
            <a:picLocks noChangeAspect="1"/>
          </p:cNvPicPr>
          <p:nvPr/>
        </p:nvPicPr>
        <p:blipFill>
          <a:blip r:embed="rId9"/>
          <a:stretch>
            <a:fillRect/>
          </a:stretch>
        </p:blipFill>
        <p:spPr>
          <a:xfrm>
            <a:off x="9432036" y="3570732"/>
            <a:ext cx="228600" cy="228600"/>
          </a:xfrm>
          <a:prstGeom prst="rect">
            <a:avLst/>
          </a:prstGeom>
        </p:spPr>
      </p:pic>
      <p:sp>
        <p:nvSpPr>
          <p:cNvPr id="44" name="Text 33"/>
          <p:cNvSpPr txBox="1"/>
          <p:nvPr/>
        </p:nvSpPr>
        <p:spPr>
          <a:xfrm>
            <a:off x="9921240"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HTTPS &amp; JWT Aman</a:t>
            </a:r>
            <a:endParaRPr lang="en-US" sz="1200" dirty="0"/>
          </a:p>
        </p:txBody>
      </p:sp>
      <p:sp>
        <p:nvSpPr>
          <p:cNvPr id="45" name="Text 34"/>
          <p:cNvSpPr txBox="1"/>
          <p:nvPr/>
        </p:nvSpPr>
        <p:spPr>
          <a:xfrm>
            <a:off x="9317736"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Enkripsi lalu lintas data dan simpan token dengan masa berlaku yang wajar.</a:t>
            </a:r>
            <a:endParaRPr lang="en-US" sz="1000" dirty="0"/>
          </a:p>
        </p:txBody>
      </p:sp>
      <p:sp>
        <p:nvSpPr>
          <p:cNvPr id="46" name="Shape 35"/>
          <p:cNvSpPr/>
          <p:nvPr/>
        </p:nvSpPr>
        <p:spPr>
          <a:xfrm>
            <a:off x="640080" y="4626864"/>
            <a:ext cx="10972800" cy="1280160"/>
          </a:xfrm>
          <a:prstGeom prst="roundRect">
            <a:avLst>
              <a:gd name="adj" fmla="val 6429"/>
            </a:avLst>
          </a:prstGeom>
          <a:solidFill>
            <a:srgbClr val="0B2015"/>
          </a:solidFill>
          <a:ln w="12700">
            <a:solidFill>
              <a:srgbClr val="0B2015"/>
            </a:solidFill>
            <a:prstDash val="solid"/>
          </a:ln>
        </p:spPr>
      </p:sp>
      <p:pic>
        <p:nvPicPr>
          <p:cNvPr id="47" name="Image 9" descr="preencoded.png">    </p:cNvPr>
          <p:cNvPicPr>
            <a:picLocks noChangeAspect="1"/>
          </p:cNvPicPr>
          <p:nvPr/>
        </p:nvPicPr>
        <p:blipFill>
          <a:blip r:embed="rId10"/>
          <a:stretch>
            <a:fillRect/>
          </a:stretch>
        </p:blipFill>
        <p:spPr>
          <a:xfrm>
            <a:off x="914400" y="4992624"/>
            <a:ext cx="384048" cy="384048"/>
          </a:xfrm>
          <a:prstGeom prst="rect">
            <a:avLst/>
          </a:prstGeom>
        </p:spPr>
      </p:pic>
      <p:sp>
        <p:nvSpPr>
          <p:cNvPr id="48" name="Text 36"/>
          <p:cNvSpPr txBox="1"/>
          <p:nvPr/>
        </p:nvSpPr>
        <p:spPr>
          <a:xfrm>
            <a:off x="1481328" y="4754880"/>
            <a:ext cx="987552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Kesalahan keamanan yang paling sering terjadi</a:t>
            </a:r>
            <a:endParaRPr lang="en-US" sz="1300" dirty="0"/>
          </a:p>
        </p:txBody>
      </p:sp>
      <p:sp>
        <p:nvSpPr>
          <p:cNvPr id="49" name="Text 37"/>
          <p:cNvSpPr txBox="1"/>
          <p:nvPr/>
        </p:nvSpPr>
        <p:spPr>
          <a:xfrm>
            <a:off x="1481328" y="5084064"/>
            <a:ext cx="9875520" cy="713232"/>
          </a:xfrm>
          <a:prstGeom prst="rect">
            <a:avLst/>
          </a:prstGeom>
          <a:noFill/>
          <a:ln/>
        </p:spPr>
        <p:txBody>
          <a:bodyPr wrap="square" lIns="0" tIns="0" rIns="0" bIns="0" rtlCol="0" anchor="t"/>
          <a:lstStyle/>
          <a:p>
            <a:pPr indent="0" marL="0">
              <a:lnSpc>
                <a:spcPct val="114000"/>
              </a:lnSpc>
              <a:buNone/>
            </a:pPr>
            <a:r>
              <a:rPr lang="en-US" sz="1100" dirty="0">
                <a:solidFill>
                  <a:srgbClr val="C3DCC8"/>
                </a:solidFill>
                <a:latin typeface="Calibri" pitchFamily="34" charset="0"/>
                <a:ea typeface="Calibri" pitchFamily="34" charset="-122"/>
                <a:cs typeface="Calibri" pitchFamily="34" charset="-120"/>
              </a:rPr>
              <a:t>Menaruh kunci API langsung di dalam kode, mengirim berkas .env ke repositori publik, mempercayai data dari klien tanpa validasi, serta membiarkan pesan galat lengkap terkirim ke pengguna. Empat hal ini menyebabkan sebagian besar kebocoran pada aplikasi Node.js.</a:t>
            </a:r>
            <a:endParaRPr lang="en-US" sz="1100" dirty="0"/>
          </a:p>
        </p:txBody>
      </p:sp>
      <p:sp>
        <p:nvSpPr>
          <p:cNvPr id="50" name="Text 38"/>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1" name="Text 39"/>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Optimasi Performa dan Skalabilitas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Memanfaatkan seluruh inti prosesor dan menjaga event loop tetap lancar</a:t>
            </a:r>
            <a:endParaRPr lang="en-US" sz="1300" dirty="0"/>
          </a:p>
        </p:txBody>
      </p:sp>
      <p:sp>
        <p:nvSpPr>
          <p:cNvPr id="6" name="Shape 3"/>
          <p:cNvSpPr/>
          <p:nvPr/>
        </p:nvSpPr>
        <p:spPr>
          <a:xfrm>
            <a:off x="640080" y="1627632"/>
            <a:ext cx="5577840" cy="2475208"/>
          </a:xfrm>
          <a:prstGeom prst="roundRect">
            <a:avLst>
              <a:gd name="adj" fmla="val 2586"/>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CLUSTER — MEMAKAI SEMUA INTI CPU</a:t>
            </a:r>
            <a:endParaRPr lang="en-US" sz="950" dirty="0"/>
          </a:p>
        </p:txBody>
      </p:sp>
      <p:sp>
        <p:nvSpPr>
          <p:cNvPr id="8" name="Text 5"/>
          <p:cNvSpPr txBox="1"/>
          <p:nvPr/>
        </p:nvSpPr>
        <p:spPr>
          <a:xfrm>
            <a:off x="859536" y="2029968"/>
            <a:ext cx="5138928" cy="19631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'cluster'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os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'os'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(cluster.isPrimary)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jumlah = os.cpus().length;</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let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 &lt; jumlah; i++)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cluster.fork();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satu proses per inti CPU</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0080" y="4078224"/>
            <a:ext cx="5577840" cy="1607808"/>
          </a:xfrm>
          <a:prstGeom prst="roundRect">
            <a:avLst>
              <a:gd name="adj" fmla="val 3981"/>
            </a:avLst>
          </a:prstGeom>
          <a:solidFill>
            <a:srgbClr val="0E2417"/>
          </a:solidFill>
          <a:ln w="12700">
            <a:solidFill>
              <a:srgbClr val="234A31"/>
            </a:solidFill>
            <a:prstDash val="solid"/>
          </a:ln>
        </p:spPr>
      </p:sp>
      <p:sp>
        <p:nvSpPr>
          <p:cNvPr id="10" name="Text 7"/>
          <p:cNvSpPr txBox="1"/>
          <p:nvPr/>
        </p:nvSpPr>
        <p:spPr>
          <a:xfrm>
            <a:off x="859536" y="4169664"/>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WORKER THREADS — TUGAS BERAT CPU</a:t>
            </a:r>
            <a:endParaRPr lang="en-US" sz="950" dirty="0"/>
          </a:p>
        </p:txBody>
      </p:sp>
      <p:sp>
        <p:nvSpPr>
          <p:cNvPr id="11" name="Text 8"/>
          <p:cNvSpPr txBox="1"/>
          <p:nvPr/>
        </p:nvSpPr>
        <p:spPr>
          <a:xfrm>
            <a:off x="859536" y="4480560"/>
            <a:ext cx="5138928" cy="10957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Worker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'worker_threads'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w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Worker(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'./hitung-berat.js'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w.on(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'message'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hasil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.log(hasil));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Event loop utama tetap bebas melayani permintaan</a:t>
            </a:r>
            <a:endParaRPr lang="en-US" sz="1020" dirty="0"/>
          </a:p>
        </p:txBody>
      </p:sp>
      <p:sp>
        <p:nvSpPr>
          <p:cNvPr id="12" name="Shape 9"/>
          <p:cNvSpPr/>
          <p:nvPr/>
        </p:nvSpPr>
        <p:spPr>
          <a:xfrm>
            <a:off x="6492240" y="1700784"/>
            <a:ext cx="420624" cy="420624"/>
          </a:xfrm>
          <a:prstGeom prst="roundRect">
            <a:avLst>
              <a:gd name="adj" fmla="val 26087"/>
            </a:avLst>
          </a:prstGeom>
          <a:solidFill>
            <a:srgbClr val="E8F2E2"/>
          </a:solidFill>
          <a:ln w="12700">
            <a:solidFill>
              <a:srgbClr val="E8F2E2"/>
            </a:solidFill>
            <a:prstDash val="solid"/>
          </a:ln>
        </p:spPr>
      </p:sp>
      <p:pic>
        <p:nvPicPr>
          <p:cNvPr id="13" name="Image 1" descr="preencoded.png">    </p:cNvPr>
          <p:cNvPicPr>
            <a:picLocks noChangeAspect="1"/>
          </p:cNvPicPr>
          <p:nvPr/>
        </p:nvPicPr>
        <p:blipFill>
          <a:blip r:embed="rId2"/>
          <a:stretch>
            <a:fillRect/>
          </a:stretch>
        </p:blipFill>
        <p:spPr>
          <a:xfrm>
            <a:off x="6597396" y="1805940"/>
            <a:ext cx="210312" cy="210312"/>
          </a:xfrm>
          <a:prstGeom prst="rect">
            <a:avLst/>
          </a:prstGeom>
        </p:spPr>
      </p:pic>
      <p:sp>
        <p:nvSpPr>
          <p:cNvPr id="14" name="Text 10"/>
          <p:cNvSpPr txBox="1"/>
          <p:nvPr/>
        </p:nvSpPr>
        <p:spPr>
          <a:xfrm>
            <a:off x="7059168" y="1682496"/>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Jaga Event Loop Tetap Ringan</a:t>
            </a:r>
            <a:endParaRPr lang="en-US" sz="1150" dirty="0"/>
          </a:p>
        </p:txBody>
      </p:sp>
      <p:sp>
        <p:nvSpPr>
          <p:cNvPr id="15" name="Text 11"/>
          <p:cNvSpPr txBox="1"/>
          <p:nvPr/>
        </p:nvSpPr>
        <p:spPr>
          <a:xfrm>
            <a:off x="7059168" y="1938528"/>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Pindahkan komputasi berat ke worker threads atau layanan terpisah.</a:t>
            </a:r>
            <a:endParaRPr lang="en-US" sz="960" dirty="0"/>
          </a:p>
        </p:txBody>
      </p:sp>
      <p:sp>
        <p:nvSpPr>
          <p:cNvPr id="16" name="Shape 12"/>
          <p:cNvSpPr/>
          <p:nvPr/>
        </p:nvSpPr>
        <p:spPr>
          <a:xfrm>
            <a:off x="6492240" y="2414016"/>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6597396" y="2519172"/>
            <a:ext cx="210312" cy="210312"/>
          </a:xfrm>
          <a:prstGeom prst="rect">
            <a:avLst/>
          </a:prstGeom>
        </p:spPr>
      </p:pic>
      <p:sp>
        <p:nvSpPr>
          <p:cNvPr id="18" name="Text 13"/>
          <p:cNvSpPr txBox="1"/>
          <p:nvPr/>
        </p:nvSpPr>
        <p:spPr>
          <a:xfrm>
            <a:off x="7059168" y="2395728"/>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Gunakan Caching</a:t>
            </a:r>
            <a:endParaRPr lang="en-US" sz="1150" dirty="0"/>
          </a:p>
        </p:txBody>
      </p:sp>
      <p:sp>
        <p:nvSpPr>
          <p:cNvPr id="19" name="Text 14"/>
          <p:cNvSpPr txBox="1"/>
          <p:nvPr/>
        </p:nvSpPr>
        <p:spPr>
          <a:xfrm>
            <a:off x="7059168" y="2651760"/>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Simpan hasil kueri yang sering diminta di Redis atau di memori.</a:t>
            </a:r>
            <a:endParaRPr lang="en-US" sz="960" dirty="0"/>
          </a:p>
        </p:txBody>
      </p:sp>
      <p:sp>
        <p:nvSpPr>
          <p:cNvPr id="20" name="Shape 15"/>
          <p:cNvSpPr/>
          <p:nvPr/>
        </p:nvSpPr>
        <p:spPr>
          <a:xfrm>
            <a:off x="6492240" y="3127248"/>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597396" y="3232404"/>
            <a:ext cx="210312" cy="210312"/>
          </a:xfrm>
          <a:prstGeom prst="rect">
            <a:avLst/>
          </a:prstGeom>
        </p:spPr>
      </p:pic>
      <p:sp>
        <p:nvSpPr>
          <p:cNvPr id="22" name="Text 16"/>
          <p:cNvSpPr txBox="1"/>
          <p:nvPr/>
        </p:nvSpPr>
        <p:spPr>
          <a:xfrm>
            <a:off x="7059168" y="3108960"/>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Manfaatkan Stream</a:t>
            </a:r>
            <a:endParaRPr lang="en-US" sz="1150" dirty="0"/>
          </a:p>
        </p:txBody>
      </p:sp>
      <p:sp>
        <p:nvSpPr>
          <p:cNvPr id="23" name="Text 17"/>
          <p:cNvSpPr txBox="1"/>
          <p:nvPr/>
        </p:nvSpPr>
        <p:spPr>
          <a:xfrm>
            <a:off x="7059168" y="3364992"/>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Alirkan berkas besar bertahap agar penggunaan memori tetap rendah.</a:t>
            </a:r>
            <a:endParaRPr lang="en-US" sz="960" dirty="0"/>
          </a:p>
        </p:txBody>
      </p:sp>
      <p:sp>
        <p:nvSpPr>
          <p:cNvPr id="24" name="Shape 18"/>
          <p:cNvSpPr/>
          <p:nvPr/>
        </p:nvSpPr>
        <p:spPr>
          <a:xfrm>
            <a:off x="6492240" y="3840480"/>
            <a:ext cx="420624" cy="420624"/>
          </a:xfrm>
          <a:prstGeom prst="roundRect">
            <a:avLst>
              <a:gd name="adj" fmla="val 26087"/>
            </a:avLst>
          </a:prstGeom>
          <a:solidFill>
            <a:srgbClr val="E8F2E2"/>
          </a:solidFill>
          <a:ln w="12700">
            <a:solidFill>
              <a:srgbClr val="E8F2E2"/>
            </a:solidFill>
            <a:prstDash val="solid"/>
          </a:ln>
        </p:spPr>
      </p:sp>
      <p:pic>
        <p:nvPicPr>
          <p:cNvPr id="25" name="Image 4" descr="preencoded.png">    </p:cNvPr>
          <p:cNvPicPr>
            <a:picLocks noChangeAspect="1"/>
          </p:cNvPicPr>
          <p:nvPr/>
        </p:nvPicPr>
        <p:blipFill>
          <a:blip r:embed="rId5"/>
          <a:stretch>
            <a:fillRect/>
          </a:stretch>
        </p:blipFill>
        <p:spPr>
          <a:xfrm>
            <a:off x="6597396" y="3945636"/>
            <a:ext cx="210312" cy="210312"/>
          </a:xfrm>
          <a:prstGeom prst="rect">
            <a:avLst/>
          </a:prstGeom>
        </p:spPr>
      </p:pic>
      <p:sp>
        <p:nvSpPr>
          <p:cNvPr id="26" name="Text 19"/>
          <p:cNvSpPr txBox="1"/>
          <p:nvPr/>
        </p:nvSpPr>
        <p:spPr>
          <a:xfrm>
            <a:off x="7059168" y="3822192"/>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Optimalkan Kueri</a:t>
            </a:r>
            <a:endParaRPr lang="en-US" sz="1150" dirty="0"/>
          </a:p>
        </p:txBody>
      </p:sp>
      <p:sp>
        <p:nvSpPr>
          <p:cNvPr id="27" name="Text 20"/>
          <p:cNvSpPr txBox="1"/>
          <p:nvPr/>
        </p:nvSpPr>
        <p:spPr>
          <a:xfrm>
            <a:off x="7059168" y="4078224"/>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Tambahkan indeks yang tepat dan hindari kueri N tambah satu.</a:t>
            </a:r>
            <a:endParaRPr lang="en-US" sz="960" dirty="0"/>
          </a:p>
        </p:txBody>
      </p:sp>
      <p:sp>
        <p:nvSpPr>
          <p:cNvPr id="28" name="Shape 21"/>
          <p:cNvSpPr/>
          <p:nvPr/>
        </p:nvSpPr>
        <p:spPr>
          <a:xfrm>
            <a:off x="6492240" y="4553712"/>
            <a:ext cx="420624" cy="420624"/>
          </a:xfrm>
          <a:prstGeom prst="roundRect">
            <a:avLst>
              <a:gd name="adj" fmla="val 26087"/>
            </a:avLst>
          </a:prstGeom>
          <a:solidFill>
            <a:srgbClr val="E8F2E2"/>
          </a:solidFill>
          <a:ln w="12700">
            <a:solidFill>
              <a:srgbClr val="E8F2E2"/>
            </a:solidFill>
            <a:prstDash val="solid"/>
          </a:ln>
        </p:spPr>
      </p:sp>
      <p:pic>
        <p:nvPicPr>
          <p:cNvPr id="29" name="Image 5" descr="preencoded.png">    </p:cNvPr>
          <p:cNvPicPr>
            <a:picLocks noChangeAspect="1"/>
          </p:cNvPicPr>
          <p:nvPr/>
        </p:nvPicPr>
        <p:blipFill>
          <a:blip r:embed="rId6"/>
          <a:stretch>
            <a:fillRect/>
          </a:stretch>
        </p:blipFill>
        <p:spPr>
          <a:xfrm>
            <a:off x="6597396" y="4658868"/>
            <a:ext cx="210312" cy="210312"/>
          </a:xfrm>
          <a:prstGeom prst="rect">
            <a:avLst/>
          </a:prstGeom>
        </p:spPr>
      </p:pic>
      <p:sp>
        <p:nvSpPr>
          <p:cNvPr id="30" name="Text 22"/>
          <p:cNvSpPr txBox="1"/>
          <p:nvPr/>
        </p:nvSpPr>
        <p:spPr>
          <a:xfrm>
            <a:off x="7059168" y="4535424"/>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Kompresi Respons</a:t>
            </a:r>
            <a:endParaRPr lang="en-US" sz="1150" dirty="0"/>
          </a:p>
        </p:txBody>
      </p:sp>
      <p:sp>
        <p:nvSpPr>
          <p:cNvPr id="31" name="Text 23"/>
          <p:cNvSpPr txBox="1"/>
          <p:nvPr/>
        </p:nvSpPr>
        <p:spPr>
          <a:xfrm>
            <a:off x="7059168" y="4791456"/>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Middleware compression memperkecil ukuran respons ke klien.</a:t>
            </a:r>
            <a:endParaRPr lang="en-US" sz="960" dirty="0"/>
          </a:p>
        </p:txBody>
      </p:sp>
      <p:sp>
        <p:nvSpPr>
          <p:cNvPr id="32" name="Shape 24"/>
          <p:cNvSpPr/>
          <p:nvPr/>
        </p:nvSpPr>
        <p:spPr>
          <a:xfrm>
            <a:off x="6492240" y="5266944"/>
            <a:ext cx="420624" cy="420624"/>
          </a:xfrm>
          <a:prstGeom prst="roundRect">
            <a:avLst>
              <a:gd name="adj" fmla="val 26087"/>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6597396" y="5372100"/>
            <a:ext cx="210312" cy="210312"/>
          </a:xfrm>
          <a:prstGeom prst="rect">
            <a:avLst/>
          </a:prstGeom>
        </p:spPr>
      </p:pic>
      <p:sp>
        <p:nvSpPr>
          <p:cNvPr id="34" name="Text 25"/>
          <p:cNvSpPr txBox="1"/>
          <p:nvPr/>
        </p:nvSpPr>
        <p:spPr>
          <a:xfrm>
            <a:off x="7059168" y="5248656"/>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Ukur Sebelum Optimasi</a:t>
            </a:r>
            <a:endParaRPr lang="en-US" sz="1150" dirty="0"/>
          </a:p>
        </p:txBody>
      </p:sp>
      <p:sp>
        <p:nvSpPr>
          <p:cNvPr id="35" name="Text 26"/>
          <p:cNvSpPr txBox="1"/>
          <p:nvPr/>
        </p:nvSpPr>
        <p:spPr>
          <a:xfrm>
            <a:off x="7059168" y="5504688"/>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Pakai autocannon atau clinic.js untuk menemukan titik lambat.</a:t>
            </a:r>
            <a:endParaRPr lang="en-US" sz="960" dirty="0"/>
          </a:p>
        </p:txBody>
      </p:sp>
      <p:sp>
        <p:nvSpPr>
          <p:cNvPr id="36"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Deployment ke Produksi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Menjalankan aplikasi agar tetap hidup dan dapat diakses publik</a:t>
            </a:r>
            <a:endParaRPr lang="en-US" sz="1300" dirty="0"/>
          </a:p>
        </p:txBody>
      </p:sp>
      <p:sp>
        <p:nvSpPr>
          <p:cNvPr id="6" name="Shape 3"/>
          <p:cNvSpPr/>
          <p:nvPr/>
        </p:nvSpPr>
        <p:spPr>
          <a:xfrm>
            <a:off x="640080"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PM2</a:t>
            </a:r>
            <a:endParaRPr lang="en-US" sz="1300" dirty="0"/>
          </a:p>
        </p:txBody>
      </p:sp>
      <p:sp>
        <p:nvSpPr>
          <p:cNvPr id="10" name="Text 6"/>
          <p:cNvSpPr txBox="1"/>
          <p:nvPr/>
        </p:nvSpPr>
        <p:spPr>
          <a:xfrm>
            <a:off x="896112"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Process manager yang menjalankan ulang aplikasi bila jatuh, mengelola mode cluster, dan menyimpan log.</a:t>
            </a:r>
            <a:endParaRPr lang="en-US" sz="1020" dirty="0"/>
          </a:p>
        </p:txBody>
      </p:sp>
      <p:sp>
        <p:nvSpPr>
          <p:cNvPr id="11" name="Shape 7"/>
          <p:cNvSpPr/>
          <p:nvPr/>
        </p:nvSpPr>
        <p:spPr>
          <a:xfrm>
            <a:off x="3447288"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Docker</a:t>
            </a:r>
            <a:endParaRPr lang="en-US" sz="1300" dirty="0"/>
          </a:p>
        </p:txBody>
      </p:sp>
      <p:sp>
        <p:nvSpPr>
          <p:cNvPr id="15" name="Text 10"/>
          <p:cNvSpPr txBox="1"/>
          <p:nvPr/>
        </p:nvSpPr>
        <p:spPr>
          <a:xfrm>
            <a:off x="3703320"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Mengemas aplikasi beserta seluruh dependensinya sehingga berjalan sama di mana pun.</a:t>
            </a:r>
            <a:endParaRPr lang="en-US" sz="1020" dirty="0"/>
          </a:p>
        </p:txBody>
      </p:sp>
      <p:sp>
        <p:nvSpPr>
          <p:cNvPr id="16" name="Shape 11"/>
          <p:cNvSpPr/>
          <p:nvPr/>
        </p:nvSpPr>
        <p:spPr>
          <a:xfrm>
            <a:off x="6254496"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Platform PaaS</a:t>
            </a:r>
            <a:endParaRPr lang="en-US" sz="1300" dirty="0"/>
          </a:p>
        </p:txBody>
      </p:sp>
      <p:sp>
        <p:nvSpPr>
          <p:cNvPr id="20" name="Text 14"/>
          <p:cNvSpPr txBox="1"/>
          <p:nvPr/>
        </p:nvSpPr>
        <p:spPr>
          <a:xfrm>
            <a:off x="6510528"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Vercel, Railway, Render, atau Heroku menangani server sehingga Anda cukup mengirim kode.</a:t>
            </a:r>
            <a:endParaRPr lang="en-US" sz="1020" dirty="0"/>
          </a:p>
        </p:txBody>
      </p:sp>
      <p:sp>
        <p:nvSpPr>
          <p:cNvPr id="21" name="Shape 15"/>
          <p:cNvSpPr/>
          <p:nvPr/>
        </p:nvSpPr>
        <p:spPr>
          <a:xfrm>
            <a:off x="9061704"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Cloud &amp; Kubernetes</a:t>
            </a:r>
            <a:endParaRPr lang="en-US" sz="1300" dirty="0"/>
          </a:p>
        </p:txBody>
      </p:sp>
      <p:sp>
        <p:nvSpPr>
          <p:cNvPr id="25" name="Text 18"/>
          <p:cNvSpPr txBox="1"/>
          <p:nvPr/>
        </p:nvSpPr>
        <p:spPr>
          <a:xfrm>
            <a:off x="9317736"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AWS, GCP, dan Azure untuk skala besar dengan kendali penuh atas infrastruktur.</a:t>
            </a:r>
            <a:endParaRPr lang="en-US" sz="1020" dirty="0"/>
          </a:p>
        </p:txBody>
      </p:sp>
      <p:sp>
        <p:nvSpPr>
          <p:cNvPr id="26" name="Shape 19"/>
          <p:cNvSpPr/>
          <p:nvPr/>
        </p:nvSpPr>
        <p:spPr>
          <a:xfrm>
            <a:off x="640080" y="3273552"/>
            <a:ext cx="5577840" cy="1607808"/>
          </a:xfrm>
          <a:prstGeom prst="roundRect">
            <a:avLst>
              <a:gd name="adj" fmla="val 3981"/>
            </a:avLst>
          </a:prstGeom>
          <a:solidFill>
            <a:srgbClr val="0E2417"/>
          </a:solidFill>
          <a:ln w="12700">
            <a:solidFill>
              <a:srgbClr val="234A31"/>
            </a:solidFill>
            <a:prstDash val="solid"/>
          </a:ln>
        </p:spPr>
      </p:sp>
      <p:sp>
        <p:nvSpPr>
          <p:cNvPr id="27" name="Text 20"/>
          <p:cNvSpPr txBox="1"/>
          <p:nvPr/>
        </p:nvSpPr>
        <p:spPr>
          <a:xfrm>
            <a:off x="859536" y="336499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PERINTAH PM2</a:t>
            </a:r>
            <a:endParaRPr lang="en-US" sz="950" dirty="0"/>
          </a:p>
        </p:txBody>
      </p:sp>
      <p:sp>
        <p:nvSpPr>
          <p:cNvPr id="28" name="Text 21"/>
          <p:cNvSpPr txBox="1"/>
          <p:nvPr/>
        </p:nvSpPr>
        <p:spPr>
          <a:xfrm>
            <a:off x="859536" y="3675888"/>
            <a:ext cx="5138928" cy="109574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npm install -g pm2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 server.js --name api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 server.js -i max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mode cluster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logs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melihat catatan log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restart api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startup &amp;&amp; pm2 save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jalan saat boot</a:t>
            </a:r>
            <a:endParaRPr lang="en-US" sz="1020" dirty="0"/>
          </a:p>
        </p:txBody>
      </p:sp>
      <p:sp>
        <p:nvSpPr>
          <p:cNvPr id="29" name="Shape 22"/>
          <p:cNvSpPr/>
          <p:nvPr/>
        </p:nvSpPr>
        <p:spPr>
          <a:xfrm>
            <a:off x="6492240" y="3273552"/>
            <a:ext cx="5120640" cy="1781288"/>
          </a:xfrm>
          <a:prstGeom prst="roundRect">
            <a:avLst>
              <a:gd name="adj" fmla="val 3593"/>
            </a:avLst>
          </a:prstGeom>
          <a:solidFill>
            <a:srgbClr val="0E2417"/>
          </a:solidFill>
          <a:ln w="12700">
            <a:solidFill>
              <a:srgbClr val="234A31"/>
            </a:solidFill>
            <a:prstDash val="solid"/>
          </a:ln>
        </p:spPr>
      </p:sp>
      <p:sp>
        <p:nvSpPr>
          <p:cNvPr id="30" name="Text 23"/>
          <p:cNvSpPr txBox="1"/>
          <p:nvPr/>
        </p:nvSpPr>
        <p:spPr>
          <a:xfrm>
            <a:off x="6711696" y="336499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DOCKERFILE SEDERHANA</a:t>
            </a:r>
            <a:endParaRPr lang="en-US" sz="950" dirty="0"/>
          </a:p>
        </p:txBody>
      </p:sp>
      <p:sp>
        <p:nvSpPr>
          <p:cNvPr id="31" name="Text 24"/>
          <p:cNvSpPr txBox="1"/>
          <p:nvPr/>
        </p:nvSpPr>
        <p:spPr>
          <a:xfrm>
            <a:off x="6711696" y="3675888"/>
            <a:ext cx="4681728" cy="126922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FROM node: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-alpine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WORKDIR /app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COPY package*.json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RUN npm ci --omit=dev</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COPY .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EXPOSE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CMD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32" name="Shape 25"/>
          <p:cNvSpPr/>
          <p:nvPr/>
        </p:nvSpPr>
        <p:spPr>
          <a:xfrm>
            <a:off x="640080" y="4974336"/>
            <a:ext cx="10972800" cy="914400"/>
          </a:xfrm>
          <a:prstGeom prst="roundRect">
            <a:avLst>
              <a:gd name="adj" fmla="val 9000"/>
            </a:avLst>
          </a:prstGeom>
          <a:solidFill>
            <a:srgbClr val="0B2015"/>
          </a:solidFill>
          <a:ln w="12700">
            <a:solidFill>
              <a:srgbClr val="0B2015"/>
            </a:solidFill>
            <a:prstDash val="solid"/>
          </a:ln>
        </p:spPr>
      </p:sp>
      <p:sp>
        <p:nvSpPr>
          <p:cNvPr id="33" name="Text 26"/>
          <p:cNvSpPr txBox="1"/>
          <p:nvPr/>
        </p:nvSpPr>
        <p:spPr>
          <a:xfrm>
            <a:off x="914400" y="5065776"/>
            <a:ext cx="365760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Daftar Periksa Sebelum Rilis</a:t>
            </a:r>
            <a:endParaRPr lang="en-US" sz="1250" dirty="0"/>
          </a:p>
        </p:txBody>
      </p:sp>
      <p:sp>
        <p:nvSpPr>
          <p:cNvPr id="34" name="Shape 27"/>
          <p:cNvSpPr/>
          <p:nvPr/>
        </p:nvSpPr>
        <p:spPr>
          <a:xfrm>
            <a:off x="914400" y="5413248"/>
            <a:ext cx="1803197" cy="329184"/>
          </a:xfrm>
          <a:prstGeom prst="roundRect">
            <a:avLst>
              <a:gd name="adj" fmla="val 50000"/>
            </a:avLst>
          </a:prstGeom>
          <a:solidFill>
            <a:srgbClr val="1B4429"/>
          </a:solidFill>
          <a:ln w="12700">
            <a:solidFill>
              <a:srgbClr val="2C5F3A"/>
            </a:solidFill>
            <a:prstDash val="solid"/>
          </a:ln>
        </p:spPr>
      </p:sp>
      <p:sp>
        <p:nvSpPr>
          <p:cNvPr id="35" name="Text 28"/>
          <p:cNvSpPr txBox="1"/>
          <p:nvPr/>
        </p:nvSpPr>
        <p:spPr>
          <a:xfrm>
            <a:off x="914400" y="5413248"/>
            <a:ext cx="1803197"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NODE_ENV=production</a:t>
            </a:r>
            <a:endParaRPr lang="en-US" sz="960" dirty="0"/>
          </a:p>
        </p:txBody>
      </p:sp>
      <p:sp>
        <p:nvSpPr>
          <p:cNvPr id="36" name="Shape 29"/>
          <p:cNvSpPr/>
          <p:nvPr/>
        </p:nvSpPr>
        <p:spPr>
          <a:xfrm>
            <a:off x="2845613" y="5413248"/>
            <a:ext cx="2125066" cy="329184"/>
          </a:xfrm>
          <a:prstGeom prst="roundRect">
            <a:avLst>
              <a:gd name="adj" fmla="val 50000"/>
            </a:avLst>
          </a:prstGeom>
          <a:solidFill>
            <a:srgbClr val="1B4429"/>
          </a:solidFill>
          <a:ln w="12700">
            <a:solidFill>
              <a:srgbClr val="2C5F3A"/>
            </a:solidFill>
            <a:prstDash val="solid"/>
          </a:ln>
        </p:spPr>
      </p:sp>
      <p:sp>
        <p:nvSpPr>
          <p:cNvPr id="37" name="Text 30"/>
          <p:cNvSpPr txBox="1"/>
          <p:nvPr/>
        </p:nvSpPr>
        <p:spPr>
          <a:xfrm>
            <a:off x="2845613" y="5413248"/>
            <a:ext cx="2125066"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HTTPS via reverse proxy</a:t>
            </a:r>
            <a:endParaRPr lang="en-US" sz="960" dirty="0"/>
          </a:p>
        </p:txBody>
      </p:sp>
      <p:sp>
        <p:nvSpPr>
          <p:cNvPr id="38" name="Shape 31"/>
          <p:cNvSpPr/>
          <p:nvPr/>
        </p:nvSpPr>
        <p:spPr>
          <a:xfrm>
            <a:off x="5098694" y="5413248"/>
            <a:ext cx="1722730" cy="329184"/>
          </a:xfrm>
          <a:prstGeom prst="roundRect">
            <a:avLst>
              <a:gd name="adj" fmla="val 50000"/>
            </a:avLst>
          </a:prstGeom>
          <a:solidFill>
            <a:srgbClr val="1B4429"/>
          </a:solidFill>
          <a:ln w="12700">
            <a:solidFill>
              <a:srgbClr val="2C5F3A"/>
            </a:solidFill>
            <a:prstDash val="solid"/>
          </a:ln>
        </p:spPr>
      </p:sp>
      <p:sp>
        <p:nvSpPr>
          <p:cNvPr id="39" name="Text 32"/>
          <p:cNvSpPr txBox="1"/>
          <p:nvPr/>
        </p:nvSpPr>
        <p:spPr>
          <a:xfrm>
            <a:off x="5098694" y="5413248"/>
            <a:ext cx="1722730"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Pemantauan dan log</a:t>
            </a:r>
            <a:endParaRPr lang="en-US" sz="960" dirty="0"/>
          </a:p>
        </p:txBody>
      </p:sp>
      <p:sp>
        <p:nvSpPr>
          <p:cNvPr id="40" name="Shape 33"/>
          <p:cNvSpPr/>
          <p:nvPr/>
        </p:nvSpPr>
        <p:spPr>
          <a:xfrm>
            <a:off x="6949440" y="5413248"/>
            <a:ext cx="1803197" cy="329184"/>
          </a:xfrm>
          <a:prstGeom prst="roundRect">
            <a:avLst>
              <a:gd name="adj" fmla="val 50000"/>
            </a:avLst>
          </a:prstGeom>
          <a:solidFill>
            <a:srgbClr val="1B4429"/>
          </a:solidFill>
          <a:ln w="12700">
            <a:solidFill>
              <a:srgbClr val="2C5F3A"/>
            </a:solidFill>
            <a:prstDash val="solid"/>
          </a:ln>
        </p:spPr>
      </p:sp>
      <p:sp>
        <p:nvSpPr>
          <p:cNvPr id="41" name="Text 34"/>
          <p:cNvSpPr txBox="1"/>
          <p:nvPr/>
        </p:nvSpPr>
        <p:spPr>
          <a:xfrm>
            <a:off x="6949440" y="5413248"/>
            <a:ext cx="1803197"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Cadangan basis data</a:t>
            </a:r>
            <a:endParaRPr lang="en-US" sz="960" dirty="0"/>
          </a:p>
        </p:txBody>
      </p:sp>
      <p:sp>
        <p:nvSpPr>
          <p:cNvPr id="42" name="Shape 35"/>
          <p:cNvSpPr/>
          <p:nvPr/>
        </p:nvSpPr>
        <p:spPr>
          <a:xfrm>
            <a:off x="8880653" y="5413248"/>
            <a:ext cx="1400861" cy="329184"/>
          </a:xfrm>
          <a:prstGeom prst="roundRect">
            <a:avLst>
              <a:gd name="adj" fmla="val 50000"/>
            </a:avLst>
          </a:prstGeom>
          <a:solidFill>
            <a:srgbClr val="1B4429"/>
          </a:solidFill>
          <a:ln w="12700">
            <a:solidFill>
              <a:srgbClr val="2C5F3A"/>
            </a:solidFill>
            <a:prstDash val="solid"/>
          </a:ln>
        </p:spPr>
      </p:sp>
      <p:sp>
        <p:nvSpPr>
          <p:cNvPr id="43" name="Text 36"/>
          <p:cNvSpPr txBox="1"/>
          <p:nvPr/>
        </p:nvSpPr>
        <p:spPr>
          <a:xfrm>
            <a:off x="8880653" y="5413248"/>
            <a:ext cx="1400861"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Pipeline CI/CD</a:t>
            </a:r>
            <a:endParaRPr lang="en-US" sz="960" dirty="0"/>
          </a:p>
        </p:txBody>
      </p:sp>
      <p:sp>
        <p:nvSpPr>
          <p:cNvPr id="44" name="Text 3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5" name="Text 3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Ekosistem Framework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Pilihan kerangka kerja sesuai kebutuhan dan skala proyek</a:t>
            </a:r>
            <a:endParaRPr lang="en-US" sz="1300" dirty="0"/>
          </a:p>
        </p:txBody>
      </p:sp>
      <p:sp>
        <p:nvSpPr>
          <p:cNvPr id="6" name="Shape 3"/>
          <p:cNvSpPr/>
          <p:nvPr/>
        </p:nvSpPr>
        <p:spPr>
          <a:xfrm>
            <a:off x="640080"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96112" y="1847088"/>
            <a:ext cx="384048" cy="384048"/>
          </a:xfrm>
          <a:prstGeom prst="rect">
            <a:avLst/>
          </a:prstGeom>
        </p:spPr>
      </p:pic>
      <p:sp>
        <p:nvSpPr>
          <p:cNvPr id="8" name="Text 4"/>
          <p:cNvSpPr txBox="1"/>
          <p:nvPr/>
        </p:nvSpPr>
        <p:spPr>
          <a:xfrm>
            <a:off x="1408176"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Express</a:t>
            </a:r>
            <a:endParaRPr lang="en-US" sz="1400" dirty="0"/>
          </a:p>
        </p:txBody>
      </p:sp>
      <p:sp>
        <p:nvSpPr>
          <p:cNvPr id="9" name="Text 5"/>
          <p:cNvSpPr txBox="1"/>
          <p:nvPr/>
        </p:nvSpPr>
        <p:spPr>
          <a:xfrm>
            <a:off x="896112"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Minimalis dan paling populer</a:t>
            </a:r>
            <a:endParaRPr lang="en-US" sz="1100" dirty="0"/>
          </a:p>
        </p:txBody>
      </p:sp>
      <p:sp>
        <p:nvSpPr>
          <p:cNvPr id="10" name="Shape 6"/>
          <p:cNvSpPr/>
          <p:nvPr/>
        </p:nvSpPr>
        <p:spPr>
          <a:xfrm>
            <a:off x="896112" y="2596896"/>
            <a:ext cx="3008376" cy="329184"/>
          </a:xfrm>
          <a:prstGeom prst="roundRect">
            <a:avLst>
              <a:gd name="adj" fmla="val 22222"/>
            </a:avLst>
          </a:prstGeom>
          <a:solidFill>
            <a:srgbClr val="E8F2E2"/>
          </a:solidFill>
          <a:ln w="12700">
            <a:solidFill>
              <a:srgbClr val="E8F2E2"/>
            </a:solidFill>
            <a:prstDash val="solid"/>
          </a:ln>
        </p:spPr>
      </p:sp>
      <p:sp>
        <p:nvSpPr>
          <p:cNvPr id="11" name="Text 7"/>
          <p:cNvSpPr txBox="1"/>
          <p:nvPr/>
        </p:nvSpPr>
        <p:spPr>
          <a:xfrm>
            <a:off x="896112"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Umum, REST API, prototipe cepat</a:t>
            </a:r>
            <a:endParaRPr lang="en-US" sz="960" dirty="0"/>
          </a:p>
        </p:txBody>
      </p:sp>
      <p:sp>
        <p:nvSpPr>
          <p:cNvPr id="12" name="Shape 8"/>
          <p:cNvSpPr/>
          <p:nvPr/>
        </p:nvSpPr>
        <p:spPr>
          <a:xfrm>
            <a:off x="4443984"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3" name="Image 2" descr="preencoded.png">    </p:cNvPr>
          <p:cNvPicPr>
            <a:picLocks noChangeAspect="1"/>
          </p:cNvPicPr>
          <p:nvPr/>
        </p:nvPicPr>
        <p:blipFill>
          <a:blip r:embed="rId3"/>
          <a:stretch>
            <a:fillRect/>
          </a:stretch>
        </p:blipFill>
        <p:spPr>
          <a:xfrm>
            <a:off x="4700016" y="1847088"/>
            <a:ext cx="384048" cy="384048"/>
          </a:xfrm>
          <a:prstGeom prst="rect">
            <a:avLst/>
          </a:prstGeom>
        </p:spPr>
      </p:pic>
      <p:sp>
        <p:nvSpPr>
          <p:cNvPr id="14" name="Text 9"/>
          <p:cNvSpPr txBox="1"/>
          <p:nvPr/>
        </p:nvSpPr>
        <p:spPr>
          <a:xfrm>
            <a:off x="5212080"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NestJS</a:t>
            </a:r>
            <a:endParaRPr lang="en-US" sz="1400" dirty="0"/>
          </a:p>
        </p:txBody>
      </p:sp>
      <p:sp>
        <p:nvSpPr>
          <p:cNvPr id="15" name="Text 10"/>
          <p:cNvSpPr txBox="1"/>
          <p:nvPr/>
        </p:nvSpPr>
        <p:spPr>
          <a:xfrm>
            <a:off x="4700016"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Terstruktur ala Angular</a:t>
            </a:r>
            <a:endParaRPr lang="en-US" sz="1100" dirty="0"/>
          </a:p>
        </p:txBody>
      </p:sp>
      <p:sp>
        <p:nvSpPr>
          <p:cNvPr id="16" name="Shape 11"/>
          <p:cNvSpPr/>
          <p:nvPr/>
        </p:nvSpPr>
        <p:spPr>
          <a:xfrm>
            <a:off x="4700016" y="2596896"/>
            <a:ext cx="3008376" cy="329184"/>
          </a:xfrm>
          <a:prstGeom prst="roundRect">
            <a:avLst>
              <a:gd name="adj" fmla="val 22222"/>
            </a:avLst>
          </a:prstGeom>
          <a:solidFill>
            <a:srgbClr val="E8F2E2"/>
          </a:solidFill>
          <a:ln w="12700">
            <a:solidFill>
              <a:srgbClr val="E8F2E2"/>
            </a:solidFill>
            <a:prstDash val="solid"/>
          </a:ln>
        </p:spPr>
      </p:sp>
      <p:sp>
        <p:nvSpPr>
          <p:cNvPr id="17" name="Text 12"/>
          <p:cNvSpPr txBox="1"/>
          <p:nvPr/>
        </p:nvSpPr>
        <p:spPr>
          <a:xfrm>
            <a:off x="4700016"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Aplikasi perusahaan berskala besar</a:t>
            </a:r>
            <a:endParaRPr lang="en-US" sz="960" dirty="0"/>
          </a:p>
        </p:txBody>
      </p:sp>
      <p:sp>
        <p:nvSpPr>
          <p:cNvPr id="18" name="Shape 13"/>
          <p:cNvSpPr/>
          <p:nvPr/>
        </p:nvSpPr>
        <p:spPr>
          <a:xfrm>
            <a:off x="8247888"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3" descr="preencoded.png">    </p:cNvPr>
          <p:cNvPicPr>
            <a:picLocks noChangeAspect="1"/>
          </p:cNvPicPr>
          <p:nvPr/>
        </p:nvPicPr>
        <p:blipFill>
          <a:blip r:embed="rId4"/>
          <a:stretch>
            <a:fillRect/>
          </a:stretch>
        </p:blipFill>
        <p:spPr>
          <a:xfrm>
            <a:off x="8503920" y="1847088"/>
            <a:ext cx="384048" cy="384048"/>
          </a:xfrm>
          <a:prstGeom prst="rect">
            <a:avLst/>
          </a:prstGeom>
        </p:spPr>
      </p:pic>
      <p:sp>
        <p:nvSpPr>
          <p:cNvPr id="20" name="Text 14"/>
          <p:cNvSpPr txBox="1"/>
          <p:nvPr/>
        </p:nvSpPr>
        <p:spPr>
          <a:xfrm>
            <a:off x="9015984"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Fastify</a:t>
            </a:r>
            <a:endParaRPr lang="en-US" sz="1400" dirty="0"/>
          </a:p>
        </p:txBody>
      </p:sp>
      <p:sp>
        <p:nvSpPr>
          <p:cNvPr id="21" name="Text 15"/>
          <p:cNvSpPr txBox="1"/>
          <p:nvPr/>
        </p:nvSpPr>
        <p:spPr>
          <a:xfrm>
            <a:off x="8503920"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Fokus pada kecepatan tinggi</a:t>
            </a:r>
            <a:endParaRPr lang="en-US" sz="1100" dirty="0"/>
          </a:p>
        </p:txBody>
      </p:sp>
      <p:sp>
        <p:nvSpPr>
          <p:cNvPr id="22" name="Shape 16"/>
          <p:cNvSpPr/>
          <p:nvPr/>
        </p:nvSpPr>
        <p:spPr>
          <a:xfrm>
            <a:off x="8503920" y="2596896"/>
            <a:ext cx="3008376" cy="329184"/>
          </a:xfrm>
          <a:prstGeom prst="roundRect">
            <a:avLst>
              <a:gd name="adj" fmla="val 22222"/>
            </a:avLst>
          </a:prstGeom>
          <a:solidFill>
            <a:srgbClr val="E8F2E2"/>
          </a:solidFill>
          <a:ln w="12700">
            <a:solidFill>
              <a:srgbClr val="E8F2E2"/>
            </a:solidFill>
            <a:prstDash val="solid"/>
          </a:ln>
        </p:spPr>
      </p:sp>
      <p:sp>
        <p:nvSpPr>
          <p:cNvPr id="23" name="Text 17"/>
          <p:cNvSpPr txBox="1"/>
          <p:nvPr/>
        </p:nvSpPr>
        <p:spPr>
          <a:xfrm>
            <a:off x="8503920"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API dengan lalu lintas sangat padat</a:t>
            </a:r>
            <a:endParaRPr lang="en-US" sz="960" dirty="0"/>
          </a:p>
        </p:txBody>
      </p:sp>
      <p:sp>
        <p:nvSpPr>
          <p:cNvPr id="24" name="Shape 18"/>
          <p:cNvSpPr/>
          <p:nvPr/>
        </p:nvSpPr>
        <p:spPr>
          <a:xfrm>
            <a:off x="640080"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5" name="Image 4" descr="preencoded.png">    </p:cNvPr>
          <p:cNvPicPr>
            <a:picLocks noChangeAspect="1"/>
          </p:cNvPicPr>
          <p:nvPr/>
        </p:nvPicPr>
        <p:blipFill>
          <a:blip r:embed="rId5"/>
          <a:stretch>
            <a:fillRect/>
          </a:stretch>
        </p:blipFill>
        <p:spPr>
          <a:xfrm>
            <a:off x="896112" y="3602736"/>
            <a:ext cx="384048" cy="384048"/>
          </a:xfrm>
          <a:prstGeom prst="rect">
            <a:avLst/>
          </a:prstGeom>
        </p:spPr>
      </p:pic>
      <p:sp>
        <p:nvSpPr>
          <p:cNvPr id="26" name="Text 19"/>
          <p:cNvSpPr txBox="1"/>
          <p:nvPr/>
        </p:nvSpPr>
        <p:spPr>
          <a:xfrm>
            <a:off x="1408176"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Koa</a:t>
            </a:r>
            <a:endParaRPr lang="en-US" sz="1400" dirty="0"/>
          </a:p>
        </p:txBody>
      </p:sp>
      <p:sp>
        <p:nvSpPr>
          <p:cNvPr id="27" name="Text 20"/>
          <p:cNvSpPr txBox="1"/>
          <p:nvPr/>
        </p:nvSpPr>
        <p:spPr>
          <a:xfrm>
            <a:off x="896112"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Ringan, dibuat tim Express</a:t>
            </a:r>
            <a:endParaRPr lang="en-US" sz="1100" dirty="0"/>
          </a:p>
        </p:txBody>
      </p:sp>
      <p:sp>
        <p:nvSpPr>
          <p:cNvPr id="28" name="Shape 21"/>
          <p:cNvSpPr/>
          <p:nvPr/>
        </p:nvSpPr>
        <p:spPr>
          <a:xfrm>
            <a:off x="896112" y="4352544"/>
            <a:ext cx="3008376" cy="329184"/>
          </a:xfrm>
          <a:prstGeom prst="roundRect">
            <a:avLst>
              <a:gd name="adj" fmla="val 22222"/>
            </a:avLst>
          </a:prstGeom>
          <a:solidFill>
            <a:srgbClr val="E8F2E2"/>
          </a:solidFill>
          <a:ln w="12700">
            <a:solidFill>
              <a:srgbClr val="E8F2E2"/>
            </a:solidFill>
            <a:prstDash val="solid"/>
          </a:ln>
        </p:spPr>
      </p:sp>
      <p:sp>
        <p:nvSpPr>
          <p:cNvPr id="29" name="Text 22"/>
          <p:cNvSpPr txBox="1"/>
          <p:nvPr/>
        </p:nvSpPr>
        <p:spPr>
          <a:xfrm>
            <a:off x="896112"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Proyek yang butuh kendali penuh</a:t>
            </a:r>
            <a:endParaRPr lang="en-US" sz="960" dirty="0"/>
          </a:p>
        </p:txBody>
      </p:sp>
      <p:sp>
        <p:nvSpPr>
          <p:cNvPr id="30" name="Shape 23"/>
          <p:cNvSpPr/>
          <p:nvPr/>
        </p:nvSpPr>
        <p:spPr>
          <a:xfrm>
            <a:off x="4443984"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1" name="Image 5" descr="preencoded.png">    </p:cNvPr>
          <p:cNvPicPr>
            <a:picLocks noChangeAspect="1"/>
          </p:cNvPicPr>
          <p:nvPr/>
        </p:nvPicPr>
        <p:blipFill>
          <a:blip r:embed="rId6"/>
          <a:stretch>
            <a:fillRect/>
          </a:stretch>
        </p:blipFill>
        <p:spPr>
          <a:xfrm>
            <a:off x="4700016" y="3602736"/>
            <a:ext cx="384048" cy="384048"/>
          </a:xfrm>
          <a:prstGeom prst="rect">
            <a:avLst/>
          </a:prstGeom>
        </p:spPr>
      </p:pic>
      <p:sp>
        <p:nvSpPr>
          <p:cNvPr id="32" name="Text 24"/>
          <p:cNvSpPr txBox="1"/>
          <p:nvPr/>
        </p:nvSpPr>
        <p:spPr>
          <a:xfrm>
            <a:off x="5212080"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Next.js</a:t>
            </a:r>
            <a:endParaRPr lang="en-US" sz="1400" dirty="0"/>
          </a:p>
        </p:txBody>
      </p:sp>
      <p:sp>
        <p:nvSpPr>
          <p:cNvPr id="33" name="Text 25"/>
          <p:cNvSpPr txBox="1"/>
          <p:nvPr/>
        </p:nvSpPr>
        <p:spPr>
          <a:xfrm>
            <a:off x="4700016"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Fullstack React di atas Node</a:t>
            </a:r>
            <a:endParaRPr lang="en-US" sz="1100" dirty="0"/>
          </a:p>
        </p:txBody>
      </p:sp>
      <p:sp>
        <p:nvSpPr>
          <p:cNvPr id="34" name="Shape 26"/>
          <p:cNvSpPr/>
          <p:nvPr/>
        </p:nvSpPr>
        <p:spPr>
          <a:xfrm>
            <a:off x="4700016" y="4352544"/>
            <a:ext cx="3008376" cy="329184"/>
          </a:xfrm>
          <a:prstGeom prst="roundRect">
            <a:avLst>
              <a:gd name="adj" fmla="val 22222"/>
            </a:avLst>
          </a:prstGeom>
          <a:solidFill>
            <a:srgbClr val="E8F2E2"/>
          </a:solidFill>
          <a:ln w="12700">
            <a:solidFill>
              <a:srgbClr val="E8F2E2"/>
            </a:solidFill>
            <a:prstDash val="solid"/>
          </a:ln>
        </p:spPr>
      </p:sp>
      <p:sp>
        <p:nvSpPr>
          <p:cNvPr id="35" name="Text 27"/>
          <p:cNvSpPr txBox="1"/>
          <p:nvPr/>
        </p:nvSpPr>
        <p:spPr>
          <a:xfrm>
            <a:off x="4700016"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Situs web dan aplikasi fullstack</a:t>
            </a:r>
            <a:endParaRPr lang="en-US" sz="960" dirty="0"/>
          </a:p>
        </p:txBody>
      </p:sp>
      <p:sp>
        <p:nvSpPr>
          <p:cNvPr id="36" name="Shape 28"/>
          <p:cNvSpPr/>
          <p:nvPr/>
        </p:nvSpPr>
        <p:spPr>
          <a:xfrm>
            <a:off x="8247888"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7" name="Image 6" descr="preencoded.png">    </p:cNvPr>
          <p:cNvPicPr>
            <a:picLocks noChangeAspect="1"/>
          </p:cNvPicPr>
          <p:nvPr/>
        </p:nvPicPr>
        <p:blipFill>
          <a:blip r:embed="rId7"/>
          <a:stretch>
            <a:fillRect/>
          </a:stretch>
        </p:blipFill>
        <p:spPr>
          <a:xfrm>
            <a:off x="8503920" y="3602736"/>
            <a:ext cx="384048" cy="384048"/>
          </a:xfrm>
          <a:prstGeom prst="rect">
            <a:avLst/>
          </a:prstGeom>
        </p:spPr>
      </p:pic>
      <p:sp>
        <p:nvSpPr>
          <p:cNvPr id="38" name="Text 29"/>
          <p:cNvSpPr txBox="1"/>
          <p:nvPr/>
        </p:nvSpPr>
        <p:spPr>
          <a:xfrm>
            <a:off x="9015984"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Socket.IO</a:t>
            </a:r>
            <a:endParaRPr lang="en-US" sz="1400" dirty="0"/>
          </a:p>
        </p:txBody>
      </p:sp>
      <p:sp>
        <p:nvSpPr>
          <p:cNvPr id="39" name="Text 30"/>
          <p:cNvSpPr txBox="1"/>
          <p:nvPr/>
        </p:nvSpPr>
        <p:spPr>
          <a:xfrm>
            <a:off x="8503920"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Komunikasi dua arah real-time</a:t>
            </a:r>
            <a:endParaRPr lang="en-US" sz="1100" dirty="0"/>
          </a:p>
        </p:txBody>
      </p:sp>
      <p:sp>
        <p:nvSpPr>
          <p:cNvPr id="40" name="Shape 31"/>
          <p:cNvSpPr/>
          <p:nvPr/>
        </p:nvSpPr>
        <p:spPr>
          <a:xfrm>
            <a:off x="8503920" y="4352544"/>
            <a:ext cx="3008376" cy="329184"/>
          </a:xfrm>
          <a:prstGeom prst="roundRect">
            <a:avLst>
              <a:gd name="adj" fmla="val 22222"/>
            </a:avLst>
          </a:prstGeom>
          <a:solidFill>
            <a:srgbClr val="E8F2E2"/>
          </a:solidFill>
          <a:ln w="12700">
            <a:solidFill>
              <a:srgbClr val="E8F2E2"/>
            </a:solidFill>
            <a:prstDash val="solid"/>
          </a:ln>
        </p:spPr>
      </p:sp>
      <p:sp>
        <p:nvSpPr>
          <p:cNvPr id="41" name="Text 32"/>
          <p:cNvSpPr txBox="1"/>
          <p:nvPr/>
        </p:nvSpPr>
        <p:spPr>
          <a:xfrm>
            <a:off x="8503920"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Obrolan, notifikasi, papan langsung</a:t>
            </a:r>
            <a:endParaRPr lang="en-US" sz="960" dirty="0"/>
          </a:p>
        </p:txBody>
      </p:sp>
      <p:sp>
        <p:nvSpPr>
          <p:cNvPr id="42" name="Text 33"/>
          <p:cNvSpPr txBox="1"/>
          <p:nvPr/>
        </p:nvSpPr>
        <p:spPr>
          <a:xfrm>
            <a:off x="640080" y="5029200"/>
            <a:ext cx="1097280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Node.js juga menjadi fondasi bagi alat pengembangan lain seperti Webpack, Vite, ESLint, dan Electron — sehingga menguasainya bermanfaat jauh melampaui pembuatan server.</a:t>
            </a:r>
            <a:endParaRPr lang="en-US" sz="1100" dirty="0"/>
          </a:p>
        </p:txBody>
      </p:sp>
      <p:pic>
        <p:nvPicPr>
          <p:cNvPr id="43" name="Image 7" descr="preencoded.png">    </p:cNvPr>
          <p:cNvPicPr>
            <a:picLocks noChangeAspect="1"/>
          </p:cNvPicPr>
          <p:nvPr/>
        </p:nvPicPr>
        <p:blipFill>
          <a:blip r:embed="rId8"/>
          <a:stretch>
            <a:fillRect/>
          </a:stretch>
        </p:blipFill>
        <p:spPr>
          <a:xfrm>
            <a:off x="640080" y="5577840"/>
            <a:ext cx="347472" cy="347472"/>
          </a:xfrm>
          <a:prstGeom prst="rect">
            <a:avLst/>
          </a:prstGeom>
        </p:spPr>
      </p:pic>
      <p:pic>
        <p:nvPicPr>
          <p:cNvPr id="44" name="Image 8" descr="preencoded.png">    </p:cNvPr>
          <p:cNvPicPr>
            <a:picLocks noChangeAspect="1"/>
          </p:cNvPicPr>
          <p:nvPr/>
        </p:nvPicPr>
        <p:blipFill>
          <a:blip r:embed="rId9"/>
          <a:stretch>
            <a:fillRect/>
          </a:stretch>
        </p:blipFill>
        <p:spPr>
          <a:xfrm>
            <a:off x="1207008" y="5577840"/>
            <a:ext cx="347472" cy="347472"/>
          </a:xfrm>
          <a:prstGeom prst="rect">
            <a:avLst/>
          </a:prstGeom>
        </p:spPr>
      </p:pic>
      <p:pic>
        <p:nvPicPr>
          <p:cNvPr id="45" name="Image 9" descr="preencoded.png">    </p:cNvPr>
          <p:cNvPicPr>
            <a:picLocks noChangeAspect="1"/>
          </p:cNvPicPr>
          <p:nvPr/>
        </p:nvPicPr>
        <p:blipFill>
          <a:blip r:embed="rId10"/>
          <a:stretch>
            <a:fillRect/>
          </a:stretch>
        </p:blipFill>
        <p:spPr>
          <a:xfrm>
            <a:off x="1773936" y="5577840"/>
            <a:ext cx="347472" cy="347472"/>
          </a:xfrm>
          <a:prstGeom prst="rect">
            <a:avLst/>
          </a:prstGeom>
        </p:spPr>
      </p:pic>
      <p:pic>
        <p:nvPicPr>
          <p:cNvPr id="46" name="Image 10" descr="preencoded.png">    </p:cNvPr>
          <p:cNvPicPr>
            <a:picLocks noChangeAspect="1"/>
          </p:cNvPicPr>
          <p:nvPr/>
        </p:nvPicPr>
        <p:blipFill>
          <a:blip r:embed="rId11"/>
          <a:stretch>
            <a:fillRect/>
          </a:stretch>
        </p:blipFill>
        <p:spPr>
          <a:xfrm>
            <a:off x="2340864" y="5577840"/>
            <a:ext cx="347472" cy="347472"/>
          </a:xfrm>
          <a:prstGeom prst="rect">
            <a:avLst/>
          </a:prstGeom>
        </p:spPr>
      </p:pic>
      <p:pic>
        <p:nvPicPr>
          <p:cNvPr id="47" name="Image 11" descr="preencoded.png">    </p:cNvPr>
          <p:cNvPicPr>
            <a:picLocks noChangeAspect="1"/>
          </p:cNvPicPr>
          <p:nvPr/>
        </p:nvPicPr>
        <p:blipFill>
          <a:blip r:embed="rId12"/>
          <a:stretch>
            <a:fillRect/>
          </a:stretch>
        </p:blipFill>
        <p:spPr>
          <a:xfrm>
            <a:off x="2907792" y="5577840"/>
            <a:ext cx="347472" cy="347472"/>
          </a:xfrm>
          <a:prstGeom prst="rect">
            <a:avLst/>
          </a:prstGeom>
        </p:spPr>
      </p:pic>
      <p:pic>
        <p:nvPicPr>
          <p:cNvPr id="48" name="Image 12" descr="preencoded.png">    </p:cNvPr>
          <p:cNvPicPr>
            <a:picLocks noChangeAspect="1"/>
          </p:cNvPicPr>
          <p:nvPr/>
        </p:nvPicPr>
        <p:blipFill>
          <a:blip r:embed="rId13"/>
          <a:stretch>
            <a:fillRect/>
          </a:stretch>
        </p:blipFill>
        <p:spPr>
          <a:xfrm>
            <a:off x="3474720" y="5577840"/>
            <a:ext cx="347472" cy="347472"/>
          </a:xfrm>
          <a:prstGeom prst="rect">
            <a:avLst/>
          </a:prstGeom>
        </p:spPr>
      </p:pic>
      <p:sp>
        <p:nvSpPr>
          <p:cNvPr id="49" name="Text 3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0" name="Text 3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Kelebihan dan Kekurangan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Penilaian jujur agar pemilihan teknologi tepat sasaran</a:t>
            </a:r>
            <a:endParaRPr lang="en-US" sz="1300" dirty="0"/>
          </a:p>
        </p:txBody>
      </p:sp>
      <p:sp>
        <p:nvSpPr>
          <p:cNvPr id="6" name="Shape 3"/>
          <p:cNvSpPr/>
          <p:nvPr/>
        </p:nvSpPr>
        <p:spPr>
          <a:xfrm>
            <a:off x="640080" y="1609344"/>
            <a:ext cx="5349240" cy="420624"/>
          </a:xfrm>
          <a:prstGeom prst="roundRect">
            <a:avLst>
              <a:gd name="adj" fmla="val 17391"/>
            </a:avLst>
          </a:prstGeom>
          <a:solidFill>
            <a:srgbClr val="3C873A"/>
          </a:solidFill>
          <a:ln w="12700">
            <a:solidFill>
              <a:srgbClr val="3C873A"/>
            </a:solidFill>
            <a:prstDash val="solid"/>
          </a:ln>
        </p:spPr>
      </p:sp>
      <p:sp>
        <p:nvSpPr>
          <p:cNvPr id="7" name="Text 4"/>
          <p:cNvSpPr txBox="1"/>
          <p:nvPr/>
        </p:nvSpPr>
        <p:spPr>
          <a:xfrm>
            <a:off x="868680" y="1609344"/>
            <a:ext cx="4892040" cy="420624"/>
          </a:xfrm>
          <a:prstGeom prst="rect">
            <a:avLst/>
          </a:prstGeom>
          <a:noFill/>
          <a:ln/>
        </p:spPr>
        <p:txBody>
          <a:bodyPr wrap="square" lIns="0" tIns="0" rIns="0" bIns="0" rtlCol="0" anchor="ctr"/>
          <a:lstStyle/>
          <a:p>
            <a:pPr indent="0" marL="0">
              <a:buNone/>
            </a:pPr>
            <a:r>
              <a:rPr lang="en-US" sz="1300" b="1" spc="120" kern="0" dirty="0">
                <a:solidFill>
                  <a:srgbClr val="FFFFFF"/>
                </a:solidFill>
                <a:latin typeface="Arial" pitchFamily="34" charset="0"/>
                <a:ea typeface="Arial" pitchFamily="34" charset="-122"/>
                <a:cs typeface="Arial" pitchFamily="34" charset="-120"/>
              </a:rPr>
              <a:t>KELEBIHAN</a:t>
            </a:r>
            <a:endParaRPr lang="en-US" sz="1300" dirty="0"/>
          </a:p>
        </p:txBody>
      </p:sp>
      <p:sp>
        <p:nvSpPr>
          <p:cNvPr id="8" name="Shape 5"/>
          <p:cNvSpPr/>
          <p:nvPr/>
        </p:nvSpPr>
        <p:spPr>
          <a:xfrm>
            <a:off x="640080" y="2139696"/>
            <a:ext cx="420624" cy="420624"/>
          </a:xfrm>
          <a:prstGeom prst="roundRect">
            <a:avLst>
              <a:gd name="adj" fmla="val 26087"/>
            </a:avLst>
          </a:prstGeom>
          <a:solidFill>
            <a:srgbClr val="E8F2E2"/>
          </a:solidFill>
          <a:ln w="12700">
            <a:solidFill>
              <a:srgbClr val="E8F2E2"/>
            </a:solidFill>
            <a:prstDash val="solid"/>
          </a:ln>
        </p:spPr>
      </p:sp>
      <p:pic>
        <p:nvPicPr>
          <p:cNvPr id="9" name="Image 1" descr="preencoded.png">    </p:cNvPr>
          <p:cNvPicPr>
            <a:picLocks noChangeAspect="1"/>
          </p:cNvPicPr>
          <p:nvPr/>
        </p:nvPicPr>
        <p:blipFill>
          <a:blip r:embed="rId2"/>
          <a:stretch>
            <a:fillRect/>
          </a:stretch>
        </p:blipFill>
        <p:spPr>
          <a:xfrm>
            <a:off x="745236" y="2244852"/>
            <a:ext cx="210312" cy="210312"/>
          </a:xfrm>
          <a:prstGeom prst="rect">
            <a:avLst/>
          </a:prstGeom>
        </p:spPr>
      </p:pic>
      <p:sp>
        <p:nvSpPr>
          <p:cNvPr id="10" name="Text 6"/>
          <p:cNvSpPr txBox="1"/>
          <p:nvPr/>
        </p:nvSpPr>
        <p:spPr>
          <a:xfrm>
            <a:off x="120700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Sangat cepat untuk I/O</a:t>
            </a:r>
            <a:endParaRPr lang="en-US" sz="1250" dirty="0"/>
          </a:p>
        </p:txBody>
      </p:sp>
      <p:sp>
        <p:nvSpPr>
          <p:cNvPr id="11" name="Text 7"/>
          <p:cNvSpPr txBox="1"/>
          <p:nvPr/>
        </p:nvSpPr>
        <p:spPr>
          <a:xfrm>
            <a:off x="120700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Model non-blocking membuat Node.js unggul menangani ribuan koneksi bersamaan.</a:t>
            </a:r>
            <a:endParaRPr lang="en-US" sz="1100" dirty="0"/>
          </a:p>
        </p:txBody>
      </p:sp>
      <p:sp>
        <p:nvSpPr>
          <p:cNvPr id="12" name="Shape 8"/>
          <p:cNvSpPr/>
          <p:nvPr/>
        </p:nvSpPr>
        <p:spPr>
          <a:xfrm>
            <a:off x="640080" y="2798064"/>
            <a:ext cx="420624" cy="420624"/>
          </a:xfrm>
          <a:prstGeom prst="roundRect">
            <a:avLst>
              <a:gd name="adj" fmla="val 26087"/>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745236" y="2903220"/>
            <a:ext cx="210312" cy="210312"/>
          </a:xfrm>
          <a:prstGeom prst="rect">
            <a:avLst/>
          </a:prstGeom>
        </p:spPr>
      </p:pic>
      <p:sp>
        <p:nvSpPr>
          <p:cNvPr id="14" name="Text 9"/>
          <p:cNvSpPr txBox="1"/>
          <p:nvPr/>
        </p:nvSpPr>
        <p:spPr>
          <a:xfrm>
            <a:off x="1207008" y="2779776"/>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Satu bahasa penuh</a:t>
            </a:r>
            <a:endParaRPr lang="en-US" sz="1250" dirty="0"/>
          </a:p>
        </p:txBody>
      </p:sp>
      <p:sp>
        <p:nvSpPr>
          <p:cNvPr id="15" name="Text 10"/>
          <p:cNvSpPr txBox="1"/>
          <p:nvPr/>
        </p:nvSpPr>
        <p:spPr>
          <a:xfrm>
            <a:off x="1207008" y="3035808"/>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JavaScript dipakai di frontend maupun backend sehingga tim lebih efisien.</a:t>
            </a:r>
            <a:endParaRPr lang="en-US" sz="1100" dirty="0"/>
          </a:p>
        </p:txBody>
      </p:sp>
      <p:sp>
        <p:nvSpPr>
          <p:cNvPr id="16" name="Shape 11"/>
          <p:cNvSpPr/>
          <p:nvPr/>
        </p:nvSpPr>
        <p:spPr>
          <a:xfrm>
            <a:off x="640080" y="3456432"/>
            <a:ext cx="420624" cy="420624"/>
          </a:xfrm>
          <a:prstGeom prst="roundRect">
            <a:avLst>
              <a:gd name="adj" fmla="val 26087"/>
            </a:avLst>
          </a:prstGeom>
          <a:solidFill>
            <a:srgbClr val="E8F2E2"/>
          </a:solidFill>
          <a:ln w="12700">
            <a:solidFill>
              <a:srgbClr val="E8F2E2"/>
            </a:solidFill>
            <a:prstDash val="solid"/>
          </a:ln>
        </p:spPr>
      </p:sp>
      <p:pic>
        <p:nvPicPr>
          <p:cNvPr id="17" name="Image 3" descr="preencoded.png">    </p:cNvPr>
          <p:cNvPicPr>
            <a:picLocks noChangeAspect="1"/>
          </p:cNvPicPr>
          <p:nvPr/>
        </p:nvPicPr>
        <p:blipFill>
          <a:blip r:embed="rId4"/>
          <a:stretch>
            <a:fillRect/>
          </a:stretch>
        </p:blipFill>
        <p:spPr>
          <a:xfrm>
            <a:off x="745236" y="3561588"/>
            <a:ext cx="210312" cy="210312"/>
          </a:xfrm>
          <a:prstGeom prst="rect">
            <a:avLst/>
          </a:prstGeom>
        </p:spPr>
      </p:pic>
      <p:sp>
        <p:nvSpPr>
          <p:cNvPr id="18" name="Text 12"/>
          <p:cNvSpPr txBox="1"/>
          <p:nvPr/>
        </p:nvSpPr>
        <p:spPr>
          <a:xfrm>
            <a:off x="1207008" y="3438144"/>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Ekosistem NPM raksasa</a:t>
            </a:r>
            <a:endParaRPr lang="en-US" sz="1250" dirty="0"/>
          </a:p>
        </p:txBody>
      </p:sp>
      <p:sp>
        <p:nvSpPr>
          <p:cNvPr id="19" name="Text 13"/>
          <p:cNvSpPr txBox="1"/>
          <p:nvPr/>
        </p:nvSpPr>
        <p:spPr>
          <a:xfrm>
            <a:off x="1207008" y="3694176"/>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Jutaan paket siap pakai memangkas waktu pengembangan secara drastis.</a:t>
            </a:r>
            <a:endParaRPr lang="en-US" sz="1100" dirty="0"/>
          </a:p>
        </p:txBody>
      </p:sp>
      <p:sp>
        <p:nvSpPr>
          <p:cNvPr id="20" name="Shape 14"/>
          <p:cNvSpPr/>
          <p:nvPr/>
        </p:nvSpPr>
        <p:spPr>
          <a:xfrm>
            <a:off x="640080" y="4114800"/>
            <a:ext cx="420624" cy="420624"/>
          </a:xfrm>
          <a:prstGeom prst="roundRect">
            <a:avLst>
              <a:gd name="adj" fmla="val 26087"/>
            </a:avLst>
          </a:prstGeom>
          <a:solidFill>
            <a:srgbClr val="E8F2E2"/>
          </a:solidFill>
          <a:ln w="12700">
            <a:solidFill>
              <a:srgbClr val="E8F2E2"/>
            </a:solidFill>
            <a:prstDash val="solid"/>
          </a:ln>
        </p:spPr>
      </p:sp>
      <p:pic>
        <p:nvPicPr>
          <p:cNvPr id="21" name="Image 4" descr="preencoded.png">    </p:cNvPr>
          <p:cNvPicPr>
            <a:picLocks noChangeAspect="1"/>
          </p:cNvPicPr>
          <p:nvPr/>
        </p:nvPicPr>
        <p:blipFill>
          <a:blip r:embed="rId5"/>
          <a:stretch>
            <a:fillRect/>
          </a:stretch>
        </p:blipFill>
        <p:spPr>
          <a:xfrm>
            <a:off x="745236" y="4219956"/>
            <a:ext cx="210312" cy="210312"/>
          </a:xfrm>
          <a:prstGeom prst="rect">
            <a:avLst/>
          </a:prstGeom>
        </p:spPr>
      </p:pic>
      <p:sp>
        <p:nvSpPr>
          <p:cNvPr id="22" name="Text 15"/>
          <p:cNvSpPr txBox="1"/>
          <p:nvPr/>
        </p:nvSpPr>
        <p:spPr>
          <a:xfrm>
            <a:off x="1207008" y="4096512"/>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Komunitas besar</a:t>
            </a:r>
            <a:endParaRPr lang="en-US" sz="1250" dirty="0"/>
          </a:p>
        </p:txBody>
      </p:sp>
      <p:sp>
        <p:nvSpPr>
          <p:cNvPr id="23" name="Text 16"/>
          <p:cNvSpPr txBox="1"/>
          <p:nvPr/>
        </p:nvSpPr>
        <p:spPr>
          <a:xfrm>
            <a:off x="1207008" y="4352544"/>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Dokumentasi, tutorial, dan jawaban atas masalah sangat mudah ditemukan.</a:t>
            </a:r>
            <a:endParaRPr lang="en-US" sz="1100" dirty="0"/>
          </a:p>
        </p:txBody>
      </p:sp>
      <p:sp>
        <p:nvSpPr>
          <p:cNvPr id="24" name="Shape 17"/>
          <p:cNvSpPr/>
          <p:nvPr/>
        </p:nvSpPr>
        <p:spPr>
          <a:xfrm>
            <a:off x="640080" y="4773168"/>
            <a:ext cx="420624" cy="420624"/>
          </a:xfrm>
          <a:prstGeom prst="roundRect">
            <a:avLst>
              <a:gd name="adj" fmla="val 26087"/>
            </a:avLst>
          </a:prstGeom>
          <a:solidFill>
            <a:srgbClr val="E8F2E2"/>
          </a:solidFill>
          <a:ln w="12700">
            <a:solidFill>
              <a:srgbClr val="E8F2E2"/>
            </a:solidFill>
            <a:prstDash val="solid"/>
          </a:ln>
        </p:spPr>
      </p:sp>
      <p:pic>
        <p:nvPicPr>
          <p:cNvPr id="25" name="Image 5" descr="preencoded.png">    </p:cNvPr>
          <p:cNvPicPr>
            <a:picLocks noChangeAspect="1"/>
          </p:cNvPicPr>
          <p:nvPr/>
        </p:nvPicPr>
        <p:blipFill>
          <a:blip r:embed="rId6"/>
          <a:stretch>
            <a:fillRect/>
          </a:stretch>
        </p:blipFill>
        <p:spPr>
          <a:xfrm>
            <a:off x="745236" y="4878324"/>
            <a:ext cx="210312" cy="210312"/>
          </a:xfrm>
          <a:prstGeom prst="rect">
            <a:avLst/>
          </a:prstGeom>
        </p:spPr>
      </p:pic>
      <p:sp>
        <p:nvSpPr>
          <p:cNvPr id="26" name="Text 18"/>
          <p:cNvSpPr txBox="1"/>
          <p:nvPr/>
        </p:nvSpPr>
        <p:spPr>
          <a:xfrm>
            <a:off x="1207008" y="4754880"/>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Cocok untuk real-time</a:t>
            </a:r>
            <a:endParaRPr lang="en-US" sz="1250" dirty="0"/>
          </a:p>
        </p:txBody>
      </p:sp>
      <p:sp>
        <p:nvSpPr>
          <p:cNvPr id="27" name="Text 19"/>
          <p:cNvSpPr txBox="1"/>
          <p:nvPr/>
        </p:nvSpPr>
        <p:spPr>
          <a:xfrm>
            <a:off x="1207008" y="5010912"/>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Pola event-driven sangat pas untuk obrolan, notifikasi, dan data langsung.</a:t>
            </a:r>
            <a:endParaRPr lang="en-US" sz="1100" dirty="0"/>
          </a:p>
        </p:txBody>
      </p:sp>
      <p:sp>
        <p:nvSpPr>
          <p:cNvPr id="28" name="Shape 20"/>
          <p:cNvSpPr/>
          <p:nvPr/>
        </p:nvSpPr>
        <p:spPr>
          <a:xfrm>
            <a:off x="640080" y="5431536"/>
            <a:ext cx="420624" cy="420624"/>
          </a:xfrm>
          <a:prstGeom prst="roundRect">
            <a:avLst>
              <a:gd name="adj" fmla="val 26087"/>
            </a:avLst>
          </a:prstGeom>
          <a:solidFill>
            <a:srgbClr val="E8F2E2"/>
          </a:solidFill>
          <a:ln w="12700">
            <a:solidFill>
              <a:srgbClr val="E8F2E2"/>
            </a:solidFill>
            <a:prstDash val="solid"/>
          </a:ln>
        </p:spPr>
      </p:sp>
      <p:pic>
        <p:nvPicPr>
          <p:cNvPr id="29" name="Image 6" descr="preencoded.png">    </p:cNvPr>
          <p:cNvPicPr>
            <a:picLocks noChangeAspect="1"/>
          </p:cNvPicPr>
          <p:nvPr/>
        </p:nvPicPr>
        <p:blipFill>
          <a:blip r:embed="rId7"/>
          <a:stretch>
            <a:fillRect/>
          </a:stretch>
        </p:blipFill>
        <p:spPr>
          <a:xfrm>
            <a:off x="745236" y="5536692"/>
            <a:ext cx="210312" cy="210312"/>
          </a:xfrm>
          <a:prstGeom prst="rect">
            <a:avLst/>
          </a:prstGeom>
        </p:spPr>
      </p:pic>
      <p:sp>
        <p:nvSpPr>
          <p:cNvPr id="30" name="Text 21"/>
          <p:cNvSpPr txBox="1"/>
          <p:nvPr/>
        </p:nvSpPr>
        <p:spPr>
          <a:xfrm>
            <a:off x="1207008" y="54132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Ringan dan hemat sumber daya</a:t>
            </a:r>
            <a:endParaRPr lang="en-US" sz="1250" dirty="0"/>
          </a:p>
        </p:txBody>
      </p:sp>
      <p:sp>
        <p:nvSpPr>
          <p:cNvPr id="31" name="Text 22"/>
          <p:cNvSpPr txBox="1"/>
          <p:nvPr/>
        </p:nvSpPr>
        <p:spPr>
          <a:xfrm>
            <a:off x="1207008" y="56692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Konsumsi memori rendah dibanding model satu thread per koneksi.</a:t>
            </a:r>
            <a:endParaRPr lang="en-US" sz="1100" dirty="0"/>
          </a:p>
        </p:txBody>
      </p:sp>
      <p:sp>
        <p:nvSpPr>
          <p:cNvPr id="32" name="Shape 23"/>
          <p:cNvSpPr/>
          <p:nvPr/>
        </p:nvSpPr>
        <p:spPr>
          <a:xfrm>
            <a:off x="6263640" y="1609344"/>
            <a:ext cx="5349240" cy="420624"/>
          </a:xfrm>
          <a:prstGeom prst="roundRect">
            <a:avLst>
              <a:gd name="adj" fmla="val 17391"/>
            </a:avLst>
          </a:prstGeom>
          <a:solidFill>
            <a:srgbClr val="C0392B"/>
          </a:solidFill>
          <a:ln w="12700">
            <a:solidFill>
              <a:srgbClr val="C0392B"/>
            </a:solidFill>
            <a:prstDash val="solid"/>
          </a:ln>
        </p:spPr>
      </p:sp>
      <p:sp>
        <p:nvSpPr>
          <p:cNvPr id="33" name="Text 24"/>
          <p:cNvSpPr txBox="1"/>
          <p:nvPr/>
        </p:nvSpPr>
        <p:spPr>
          <a:xfrm>
            <a:off x="6492240" y="1609344"/>
            <a:ext cx="4892040" cy="420624"/>
          </a:xfrm>
          <a:prstGeom prst="rect">
            <a:avLst/>
          </a:prstGeom>
          <a:noFill/>
          <a:ln/>
        </p:spPr>
        <p:txBody>
          <a:bodyPr wrap="square" lIns="0" tIns="0" rIns="0" bIns="0" rtlCol="0" anchor="ctr"/>
          <a:lstStyle/>
          <a:p>
            <a:pPr indent="0" marL="0">
              <a:buNone/>
            </a:pPr>
            <a:r>
              <a:rPr lang="en-US" sz="1300" b="1" spc="120" kern="0" dirty="0">
                <a:solidFill>
                  <a:srgbClr val="FFFFFF"/>
                </a:solidFill>
                <a:latin typeface="Arial" pitchFamily="34" charset="0"/>
                <a:ea typeface="Arial" pitchFamily="34" charset="-122"/>
                <a:cs typeface="Arial" pitchFamily="34" charset="-120"/>
              </a:rPr>
              <a:t>KEKURANGAN</a:t>
            </a:r>
            <a:endParaRPr lang="en-US" sz="1300" dirty="0"/>
          </a:p>
        </p:txBody>
      </p:sp>
      <p:sp>
        <p:nvSpPr>
          <p:cNvPr id="34" name="Shape 25"/>
          <p:cNvSpPr/>
          <p:nvPr/>
        </p:nvSpPr>
        <p:spPr>
          <a:xfrm>
            <a:off x="6263640" y="2139696"/>
            <a:ext cx="420624" cy="420624"/>
          </a:xfrm>
          <a:prstGeom prst="roundRect">
            <a:avLst>
              <a:gd name="adj" fmla="val 26087"/>
            </a:avLst>
          </a:prstGeom>
          <a:solidFill>
            <a:srgbClr val="FBE9E7"/>
          </a:solidFill>
          <a:ln w="12700">
            <a:solidFill>
              <a:srgbClr val="FBE9E7"/>
            </a:solidFill>
            <a:prstDash val="solid"/>
          </a:ln>
        </p:spPr>
      </p:sp>
      <p:pic>
        <p:nvPicPr>
          <p:cNvPr id="35" name="Image 7" descr="preencoded.png">    </p:cNvPr>
          <p:cNvPicPr>
            <a:picLocks noChangeAspect="1"/>
          </p:cNvPicPr>
          <p:nvPr/>
        </p:nvPicPr>
        <p:blipFill>
          <a:blip r:embed="rId8"/>
          <a:stretch>
            <a:fillRect/>
          </a:stretch>
        </p:blipFill>
        <p:spPr>
          <a:xfrm>
            <a:off x="6368796" y="2244852"/>
            <a:ext cx="210312" cy="210312"/>
          </a:xfrm>
          <a:prstGeom prst="rect">
            <a:avLst/>
          </a:prstGeom>
        </p:spPr>
      </p:pic>
      <p:sp>
        <p:nvSpPr>
          <p:cNvPr id="36" name="Text 26"/>
          <p:cNvSpPr txBox="1"/>
          <p:nvPr/>
        </p:nvSpPr>
        <p:spPr>
          <a:xfrm>
            <a:off x="683056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Lemah untuk tugas CPU berat</a:t>
            </a:r>
            <a:endParaRPr lang="en-US" sz="1250" dirty="0"/>
          </a:p>
        </p:txBody>
      </p:sp>
      <p:sp>
        <p:nvSpPr>
          <p:cNvPr id="37" name="Text 27"/>
          <p:cNvSpPr txBox="1"/>
          <p:nvPr/>
        </p:nvSpPr>
        <p:spPr>
          <a:xfrm>
            <a:off x="683056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Komputasi berat memblokir event loop dan menghambat seluruh permintaan lain.</a:t>
            </a:r>
            <a:endParaRPr lang="en-US" sz="1100" dirty="0"/>
          </a:p>
        </p:txBody>
      </p:sp>
      <p:sp>
        <p:nvSpPr>
          <p:cNvPr id="38" name="Shape 28"/>
          <p:cNvSpPr/>
          <p:nvPr/>
        </p:nvSpPr>
        <p:spPr>
          <a:xfrm>
            <a:off x="6263640" y="2798064"/>
            <a:ext cx="420624" cy="420624"/>
          </a:xfrm>
          <a:prstGeom prst="roundRect">
            <a:avLst>
              <a:gd name="adj" fmla="val 26087"/>
            </a:avLst>
          </a:prstGeom>
          <a:solidFill>
            <a:srgbClr val="FBE9E7"/>
          </a:solidFill>
          <a:ln w="12700">
            <a:solidFill>
              <a:srgbClr val="FBE9E7"/>
            </a:solidFill>
            <a:prstDash val="solid"/>
          </a:ln>
        </p:spPr>
      </p:sp>
      <p:pic>
        <p:nvPicPr>
          <p:cNvPr id="39" name="Image 8" descr="preencoded.png">    </p:cNvPr>
          <p:cNvPicPr>
            <a:picLocks noChangeAspect="1"/>
          </p:cNvPicPr>
          <p:nvPr/>
        </p:nvPicPr>
        <p:blipFill>
          <a:blip r:embed="rId9"/>
          <a:stretch>
            <a:fillRect/>
          </a:stretch>
        </p:blipFill>
        <p:spPr>
          <a:xfrm>
            <a:off x="6368796" y="2903220"/>
            <a:ext cx="210312" cy="210312"/>
          </a:xfrm>
          <a:prstGeom prst="rect">
            <a:avLst/>
          </a:prstGeom>
        </p:spPr>
      </p:pic>
      <p:sp>
        <p:nvSpPr>
          <p:cNvPr id="40" name="Text 29"/>
          <p:cNvSpPr txBox="1"/>
          <p:nvPr/>
        </p:nvSpPr>
        <p:spPr>
          <a:xfrm>
            <a:off x="6830568" y="2779776"/>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Callback dan asinkron menantang</a:t>
            </a:r>
            <a:endParaRPr lang="en-US" sz="1250" dirty="0"/>
          </a:p>
        </p:txBody>
      </p:sp>
      <p:sp>
        <p:nvSpPr>
          <p:cNvPr id="41" name="Text 30"/>
          <p:cNvSpPr txBox="1"/>
          <p:nvPr/>
        </p:nvSpPr>
        <p:spPr>
          <a:xfrm>
            <a:off x="6830568" y="3035808"/>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Alur asinkron sulit dipahami pemula dan rawan menimbulkan bug halus.</a:t>
            </a:r>
            <a:endParaRPr lang="en-US" sz="1100" dirty="0"/>
          </a:p>
        </p:txBody>
      </p:sp>
      <p:sp>
        <p:nvSpPr>
          <p:cNvPr id="42" name="Shape 31"/>
          <p:cNvSpPr/>
          <p:nvPr/>
        </p:nvSpPr>
        <p:spPr>
          <a:xfrm>
            <a:off x="6263640" y="3456432"/>
            <a:ext cx="420624" cy="420624"/>
          </a:xfrm>
          <a:prstGeom prst="roundRect">
            <a:avLst>
              <a:gd name="adj" fmla="val 26087"/>
            </a:avLst>
          </a:prstGeom>
          <a:solidFill>
            <a:srgbClr val="FBE9E7"/>
          </a:solidFill>
          <a:ln w="12700">
            <a:solidFill>
              <a:srgbClr val="FBE9E7"/>
            </a:solidFill>
            <a:prstDash val="solid"/>
          </a:ln>
        </p:spPr>
      </p:sp>
      <p:pic>
        <p:nvPicPr>
          <p:cNvPr id="43" name="Image 9" descr="preencoded.png">    </p:cNvPr>
          <p:cNvPicPr>
            <a:picLocks noChangeAspect="1"/>
          </p:cNvPicPr>
          <p:nvPr/>
        </p:nvPicPr>
        <p:blipFill>
          <a:blip r:embed="rId10"/>
          <a:stretch>
            <a:fillRect/>
          </a:stretch>
        </p:blipFill>
        <p:spPr>
          <a:xfrm>
            <a:off x="6368796" y="3561588"/>
            <a:ext cx="210312" cy="210312"/>
          </a:xfrm>
          <a:prstGeom prst="rect">
            <a:avLst/>
          </a:prstGeom>
        </p:spPr>
      </p:pic>
      <p:sp>
        <p:nvSpPr>
          <p:cNvPr id="44" name="Text 32"/>
          <p:cNvSpPr txBox="1"/>
          <p:nvPr/>
        </p:nvSpPr>
        <p:spPr>
          <a:xfrm>
            <a:off x="6830568" y="3438144"/>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Kualitas paket beragam</a:t>
            </a:r>
            <a:endParaRPr lang="en-US" sz="1250" dirty="0"/>
          </a:p>
        </p:txBody>
      </p:sp>
      <p:sp>
        <p:nvSpPr>
          <p:cNvPr id="45" name="Text 33"/>
          <p:cNvSpPr txBox="1"/>
          <p:nvPr/>
        </p:nvSpPr>
        <p:spPr>
          <a:xfrm>
            <a:off x="6830568" y="3694176"/>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Banyak paket NPM tidak terawat sehingga menimbulkan risiko keamanan.</a:t>
            </a:r>
            <a:endParaRPr lang="en-US" sz="1100" dirty="0"/>
          </a:p>
        </p:txBody>
      </p:sp>
      <p:sp>
        <p:nvSpPr>
          <p:cNvPr id="46" name="Shape 34"/>
          <p:cNvSpPr/>
          <p:nvPr/>
        </p:nvSpPr>
        <p:spPr>
          <a:xfrm>
            <a:off x="6263640" y="4114800"/>
            <a:ext cx="420624" cy="420624"/>
          </a:xfrm>
          <a:prstGeom prst="roundRect">
            <a:avLst>
              <a:gd name="adj" fmla="val 26087"/>
            </a:avLst>
          </a:prstGeom>
          <a:solidFill>
            <a:srgbClr val="FBE9E7"/>
          </a:solidFill>
          <a:ln w="12700">
            <a:solidFill>
              <a:srgbClr val="FBE9E7"/>
            </a:solidFill>
            <a:prstDash val="solid"/>
          </a:ln>
        </p:spPr>
      </p:sp>
      <p:pic>
        <p:nvPicPr>
          <p:cNvPr id="47" name="Image 10" descr="preencoded.png">    </p:cNvPr>
          <p:cNvPicPr>
            <a:picLocks noChangeAspect="1"/>
          </p:cNvPicPr>
          <p:nvPr/>
        </p:nvPicPr>
        <p:blipFill>
          <a:blip r:embed="rId11"/>
          <a:stretch>
            <a:fillRect/>
          </a:stretch>
        </p:blipFill>
        <p:spPr>
          <a:xfrm>
            <a:off x="6368796" y="4219956"/>
            <a:ext cx="210312" cy="210312"/>
          </a:xfrm>
          <a:prstGeom prst="rect">
            <a:avLst/>
          </a:prstGeom>
        </p:spPr>
      </p:pic>
      <p:sp>
        <p:nvSpPr>
          <p:cNvPr id="48" name="Text 35"/>
          <p:cNvSpPr txBox="1"/>
          <p:nvPr/>
        </p:nvSpPr>
        <p:spPr>
          <a:xfrm>
            <a:off x="6830568" y="4096512"/>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Perubahan cepat</a:t>
            </a:r>
            <a:endParaRPr lang="en-US" sz="1250" dirty="0"/>
          </a:p>
        </p:txBody>
      </p:sp>
      <p:sp>
        <p:nvSpPr>
          <p:cNvPr id="49" name="Text 36"/>
          <p:cNvSpPr txBox="1"/>
          <p:nvPr/>
        </p:nvSpPr>
        <p:spPr>
          <a:xfrm>
            <a:off x="6830568" y="4352544"/>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Ekosistem berkembang sangat cepat sehingga praktik terbaik sering bergeser.</a:t>
            </a:r>
            <a:endParaRPr lang="en-US" sz="1100" dirty="0"/>
          </a:p>
        </p:txBody>
      </p:sp>
      <p:sp>
        <p:nvSpPr>
          <p:cNvPr id="50" name="Shape 37"/>
          <p:cNvSpPr/>
          <p:nvPr/>
        </p:nvSpPr>
        <p:spPr>
          <a:xfrm>
            <a:off x="6263640" y="4773168"/>
            <a:ext cx="420624" cy="420624"/>
          </a:xfrm>
          <a:prstGeom prst="roundRect">
            <a:avLst>
              <a:gd name="adj" fmla="val 26087"/>
            </a:avLst>
          </a:prstGeom>
          <a:solidFill>
            <a:srgbClr val="FBE9E7"/>
          </a:solidFill>
          <a:ln w="12700">
            <a:solidFill>
              <a:srgbClr val="FBE9E7"/>
            </a:solidFill>
            <a:prstDash val="solid"/>
          </a:ln>
        </p:spPr>
      </p:sp>
      <p:pic>
        <p:nvPicPr>
          <p:cNvPr id="51" name="Image 11" descr="preencoded.png">    </p:cNvPr>
          <p:cNvPicPr>
            <a:picLocks noChangeAspect="1"/>
          </p:cNvPicPr>
          <p:nvPr/>
        </p:nvPicPr>
        <p:blipFill>
          <a:blip r:embed="rId12"/>
          <a:stretch>
            <a:fillRect/>
          </a:stretch>
        </p:blipFill>
        <p:spPr>
          <a:xfrm>
            <a:off x="6368796" y="4878324"/>
            <a:ext cx="210312" cy="210312"/>
          </a:xfrm>
          <a:prstGeom prst="rect">
            <a:avLst/>
          </a:prstGeom>
        </p:spPr>
      </p:pic>
      <p:sp>
        <p:nvSpPr>
          <p:cNvPr id="52" name="Text 38"/>
          <p:cNvSpPr txBox="1"/>
          <p:nvPr/>
        </p:nvSpPr>
        <p:spPr>
          <a:xfrm>
            <a:off x="6830568" y="4754880"/>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Kurang cocok untuk relasi rumit</a:t>
            </a:r>
            <a:endParaRPr lang="en-US" sz="1250" dirty="0"/>
          </a:p>
        </p:txBody>
      </p:sp>
      <p:sp>
        <p:nvSpPr>
          <p:cNvPr id="53" name="Text 39"/>
          <p:cNvSpPr txBox="1"/>
          <p:nvPr/>
        </p:nvSpPr>
        <p:spPr>
          <a:xfrm>
            <a:off x="6830568" y="5010912"/>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Aplikasi dengan transaksi basis data kompleks kadang lebih pas di platform lain.</a:t>
            </a:r>
            <a:endParaRPr lang="en-US" sz="1100" dirty="0"/>
          </a:p>
        </p:txBody>
      </p:sp>
      <p:sp>
        <p:nvSpPr>
          <p:cNvPr id="54" name="Shape 40"/>
          <p:cNvSpPr/>
          <p:nvPr/>
        </p:nvSpPr>
        <p:spPr>
          <a:xfrm>
            <a:off x="6263640" y="5431536"/>
            <a:ext cx="420624" cy="420624"/>
          </a:xfrm>
          <a:prstGeom prst="roundRect">
            <a:avLst>
              <a:gd name="adj" fmla="val 26087"/>
            </a:avLst>
          </a:prstGeom>
          <a:solidFill>
            <a:srgbClr val="FBE9E7"/>
          </a:solidFill>
          <a:ln w="12700">
            <a:solidFill>
              <a:srgbClr val="FBE9E7"/>
            </a:solidFill>
            <a:prstDash val="solid"/>
          </a:ln>
        </p:spPr>
      </p:sp>
      <p:pic>
        <p:nvPicPr>
          <p:cNvPr id="55" name="Image 12" descr="preencoded.png">    </p:cNvPr>
          <p:cNvPicPr>
            <a:picLocks noChangeAspect="1"/>
          </p:cNvPicPr>
          <p:nvPr/>
        </p:nvPicPr>
        <p:blipFill>
          <a:blip r:embed="rId13"/>
          <a:stretch>
            <a:fillRect/>
          </a:stretch>
        </p:blipFill>
        <p:spPr>
          <a:xfrm>
            <a:off x="6368796" y="5536692"/>
            <a:ext cx="210312" cy="210312"/>
          </a:xfrm>
          <a:prstGeom prst="rect">
            <a:avLst/>
          </a:prstGeom>
        </p:spPr>
      </p:pic>
      <p:sp>
        <p:nvSpPr>
          <p:cNvPr id="56" name="Text 41"/>
          <p:cNvSpPr txBox="1"/>
          <p:nvPr/>
        </p:nvSpPr>
        <p:spPr>
          <a:xfrm>
            <a:off x="6830568" y="54132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Penanganan galat perlu disiplin</a:t>
            </a:r>
            <a:endParaRPr lang="en-US" sz="1250" dirty="0"/>
          </a:p>
        </p:txBody>
      </p:sp>
      <p:sp>
        <p:nvSpPr>
          <p:cNvPr id="57" name="Text 42"/>
          <p:cNvSpPr txBox="1"/>
          <p:nvPr/>
        </p:nvSpPr>
        <p:spPr>
          <a:xfrm>
            <a:off x="6830568" y="56692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Satu pengecualian tak tertangani dapat menjatuhkan seluruh proses aplikasi.</a:t>
            </a:r>
            <a:endParaRPr lang="en-US" sz="1100" dirty="0"/>
          </a:p>
        </p:txBody>
      </p:sp>
      <p:sp>
        <p:nvSpPr>
          <p:cNvPr id="58" name="Text 4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9" name="Text 4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Kapan Sebaiknya Memakai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Panduan memilih Node.js atau mencari alternatif lain</a:t>
            </a:r>
            <a:endParaRPr lang="en-US" sz="1300" dirty="0"/>
          </a:p>
        </p:txBody>
      </p:sp>
      <p:sp>
        <p:nvSpPr>
          <p:cNvPr id="6" name="Shape 3"/>
          <p:cNvSpPr/>
          <p:nvPr/>
        </p:nvSpPr>
        <p:spPr>
          <a:xfrm>
            <a:off x="640080" y="1609344"/>
            <a:ext cx="5349240" cy="420624"/>
          </a:xfrm>
          <a:prstGeom prst="roundRect">
            <a:avLst>
              <a:gd name="adj" fmla="val 17391"/>
            </a:avLst>
          </a:prstGeom>
          <a:solidFill>
            <a:srgbClr val="3C873A"/>
          </a:solidFill>
          <a:ln w="12700">
            <a:solidFill>
              <a:srgbClr val="3C873A"/>
            </a:solidFill>
            <a:prstDash val="solid"/>
          </a:ln>
        </p:spPr>
      </p:sp>
      <p:sp>
        <p:nvSpPr>
          <p:cNvPr id="7" name="Text 4"/>
          <p:cNvSpPr txBox="1"/>
          <p:nvPr/>
        </p:nvSpPr>
        <p:spPr>
          <a:xfrm>
            <a:off x="868680" y="1609344"/>
            <a:ext cx="4892040" cy="420624"/>
          </a:xfrm>
          <a:prstGeom prst="rect">
            <a:avLst/>
          </a:prstGeom>
          <a:noFill/>
          <a:ln/>
        </p:spPr>
        <p:txBody>
          <a:bodyPr wrap="square" lIns="0" tIns="0" rIns="0" bIns="0" rtlCol="0" anchor="ctr"/>
          <a:lstStyle/>
          <a:p>
            <a:pPr indent="0" marL="0">
              <a:buNone/>
            </a:pPr>
            <a:r>
              <a:rPr lang="en-US" sz="1250" b="1" spc="120" kern="0" dirty="0">
                <a:solidFill>
                  <a:srgbClr val="FFFFFF"/>
                </a:solidFill>
                <a:latin typeface="Arial" pitchFamily="34" charset="0"/>
                <a:ea typeface="Arial" pitchFamily="34" charset="-122"/>
                <a:cs typeface="Arial" pitchFamily="34" charset="-120"/>
              </a:rPr>
              <a:t>SANGAT COCOK UNTUK</a:t>
            </a:r>
            <a:endParaRPr lang="en-US" sz="1250" dirty="0"/>
          </a:p>
        </p:txBody>
      </p:sp>
      <p:sp>
        <p:nvSpPr>
          <p:cNvPr id="8" name="Shape 5"/>
          <p:cNvSpPr/>
          <p:nvPr/>
        </p:nvSpPr>
        <p:spPr>
          <a:xfrm>
            <a:off x="640080" y="2139696"/>
            <a:ext cx="420624" cy="420624"/>
          </a:xfrm>
          <a:prstGeom prst="roundRect">
            <a:avLst>
              <a:gd name="adj" fmla="val 26087"/>
            </a:avLst>
          </a:prstGeom>
          <a:solidFill>
            <a:srgbClr val="E8F2E2"/>
          </a:solidFill>
          <a:ln w="12700">
            <a:solidFill>
              <a:srgbClr val="E8F2E2"/>
            </a:solidFill>
            <a:prstDash val="solid"/>
          </a:ln>
        </p:spPr>
      </p:sp>
      <p:pic>
        <p:nvPicPr>
          <p:cNvPr id="9" name="Image 1" descr="preencoded.png">    </p:cNvPr>
          <p:cNvPicPr>
            <a:picLocks noChangeAspect="1"/>
          </p:cNvPicPr>
          <p:nvPr/>
        </p:nvPicPr>
        <p:blipFill>
          <a:blip r:embed="rId2"/>
          <a:stretch>
            <a:fillRect/>
          </a:stretch>
        </p:blipFill>
        <p:spPr>
          <a:xfrm>
            <a:off x="745236" y="2244852"/>
            <a:ext cx="210312" cy="210312"/>
          </a:xfrm>
          <a:prstGeom prst="rect">
            <a:avLst/>
          </a:prstGeom>
        </p:spPr>
      </p:pic>
      <p:sp>
        <p:nvSpPr>
          <p:cNvPr id="10" name="Text 6"/>
          <p:cNvSpPr txBox="1"/>
          <p:nvPr/>
        </p:nvSpPr>
        <p:spPr>
          <a:xfrm>
            <a:off x="120700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REST API dan Microservice</a:t>
            </a:r>
            <a:endParaRPr lang="en-US" sz="1250" dirty="0"/>
          </a:p>
        </p:txBody>
      </p:sp>
      <p:sp>
        <p:nvSpPr>
          <p:cNvPr id="11" name="Text 7"/>
          <p:cNvSpPr txBox="1"/>
          <p:nvPr/>
        </p:nvSpPr>
        <p:spPr>
          <a:xfrm>
            <a:off x="120700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Layanan yang banyak menerima dan meneruskan data antar sistem.</a:t>
            </a:r>
            <a:endParaRPr lang="en-US" sz="1100" dirty="0"/>
          </a:p>
        </p:txBody>
      </p:sp>
      <p:sp>
        <p:nvSpPr>
          <p:cNvPr id="12" name="Shape 8"/>
          <p:cNvSpPr/>
          <p:nvPr/>
        </p:nvSpPr>
        <p:spPr>
          <a:xfrm>
            <a:off x="640080" y="2779776"/>
            <a:ext cx="420624" cy="420624"/>
          </a:xfrm>
          <a:prstGeom prst="roundRect">
            <a:avLst>
              <a:gd name="adj" fmla="val 26087"/>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745236" y="2884932"/>
            <a:ext cx="210312" cy="210312"/>
          </a:xfrm>
          <a:prstGeom prst="rect">
            <a:avLst/>
          </a:prstGeom>
        </p:spPr>
      </p:pic>
      <p:sp>
        <p:nvSpPr>
          <p:cNvPr id="14" name="Text 9"/>
          <p:cNvSpPr txBox="1"/>
          <p:nvPr/>
        </p:nvSpPr>
        <p:spPr>
          <a:xfrm>
            <a:off x="1207008" y="276148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Real-Time</a:t>
            </a:r>
            <a:endParaRPr lang="en-US" sz="1250" dirty="0"/>
          </a:p>
        </p:txBody>
      </p:sp>
      <p:sp>
        <p:nvSpPr>
          <p:cNvPr id="15" name="Text 10"/>
          <p:cNvSpPr txBox="1"/>
          <p:nvPr/>
        </p:nvSpPr>
        <p:spPr>
          <a:xfrm>
            <a:off x="1207008" y="301752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Obrolan, notifikasi langsung, papan kolaborasi, dan permainan daring.</a:t>
            </a:r>
            <a:endParaRPr lang="en-US" sz="1100" dirty="0"/>
          </a:p>
        </p:txBody>
      </p:sp>
      <p:sp>
        <p:nvSpPr>
          <p:cNvPr id="16" name="Shape 11"/>
          <p:cNvSpPr/>
          <p:nvPr/>
        </p:nvSpPr>
        <p:spPr>
          <a:xfrm>
            <a:off x="640080" y="3419856"/>
            <a:ext cx="420624" cy="420624"/>
          </a:xfrm>
          <a:prstGeom prst="roundRect">
            <a:avLst>
              <a:gd name="adj" fmla="val 26087"/>
            </a:avLst>
          </a:prstGeom>
          <a:solidFill>
            <a:srgbClr val="E8F2E2"/>
          </a:solidFill>
          <a:ln w="12700">
            <a:solidFill>
              <a:srgbClr val="E8F2E2"/>
            </a:solidFill>
            <a:prstDash val="solid"/>
          </a:ln>
        </p:spPr>
      </p:sp>
      <p:pic>
        <p:nvPicPr>
          <p:cNvPr id="17" name="Image 3" descr="preencoded.png">    </p:cNvPr>
          <p:cNvPicPr>
            <a:picLocks noChangeAspect="1"/>
          </p:cNvPicPr>
          <p:nvPr/>
        </p:nvPicPr>
        <p:blipFill>
          <a:blip r:embed="rId4"/>
          <a:stretch>
            <a:fillRect/>
          </a:stretch>
        </p:blipFill>
        <p:spPr>
          <a:xfrm>
            <a:off x="745236" y="3525012"/>
            <a:ext cx="210312" cy="210312"/>
          </a:xfrm>
          <a:prstGeom prst="rect">
            <a:avLst/>
          </a:prstGeom>
        </p:spPr>
      </p:pic>
      <p:sp>
        <p:nvSpPr>
          <p:cNvPr id="18" name="Text 12"/>
          <p:cNvSpPr txBox="1"/>
          <p:nvPr/>
        </p:nvSpPr>
        <p:spPr>
          <a:xfrm>
            <a:off x="1207008" y="340156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Streaming Data</a:t>
            </a:r>
            <a:endParaRPr lang="en-US" sz="1250" dirty="0"/>
          </a:p>
        </p:txBody>
      </p:sp>
      <p:sp>
        <p:nvSpPr>
          <p:cNvPr id="19" name="Text 13"/>
          <p:cNvSpPr txBox="1"/>
          <p:nvPr/>
        </p:nvSpPr>
        <p:spPr>
          <a:xfrm>
            <a:off x="1207008" y="365760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Pengunggahan berkas, pemutar media, dan pemrosesan data berkelanjutan.</a:t>
            </a:r>
            <a:endParaRPr lang="en-US" sz="1100" dirty="0"/>
          </a:p>
        </p:txBody>
      </p:sp>
      <p:sp>
        <p:nvSpPr>
          <p:cNvPr id="20" name="Shape 14"/>
          <p:cNvSpPr/>
          <p:nvPr/>
        </p:nvSpPr>
        <p:spPr>
          <a:xfrm>
            <a:off x="640080" y="4059936"/>
            <a:ext cx="420624" cy="420624"/>
          </a:xfrm>
          <a:prstGeom prst="roundRect">
            <a:avLst>
              <a:gd name="adj" fmla="val 26087"/>
            </a:avLst>
          </a:prstGeom>
          <a:solidFill>
            <a:srgbClr val="E8F2E2"/>
          </a:solidFill>
          <a:ln w="12700">
            <a:solidFill>
              <a:srgbClr val="E8F2E2"/>
            </a:solidFill>
            <a:prstDash val="solid"/>
          </a:ln>
        </p:spPr>
      </p:sp>
      <p:pic>
        <p:nvPicPr>
          <p:cNvPr id="21" name="Image 4" descr="preencoded.png">    </p:cNvPr>
          <p:cNvPicPr>
            <a:picLocks noChangeAspect="1"/>
          </p:cNvPicPr>
          <p:nvPr/>
        </p:nvPicPr>
        <p:blipFill>
          <a:blip r:embed="rId5"/>
          <a:stretch>
            <a:fillRect/>
          </a:stretch>
        </p:blipFill>
        <p:spPr>
          <a:xfrm>
            <a:off x="745236" y="4165092"/>
            <a:ext cx="210312" cy="210312"/>
          </a:xfrm>
          <a:prstGeom prst="rect">
            <a:avLst/>
          </a:prstGeom>
        </p:spPr>
      </p:pic>
      <p:sp>
        <p:nvSpPr>
          <p:cNvPr id="22" name="Text 15"/>
          <p:cNvSpPr txBox="1"/>
          <p:nvPr/>
        </p:nvSpPr>
        <p:spPr>
          <a:xfrm>
            <a:off x="1207008" y="40416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Alat Baris Perintah</a:t>
            </a:r>
            <a:endParaRPr lang="en-US" sz="1250" dirty="0"/>
          </a:p>
        </p:txBody>
      </p:sp>
      <p:sp>
        <p:nvSpPr>
          <p:cNvPr id="23" name="Text 16"/>
          <p:cNvSpPr txBox="1"/>
          <p:nvPr/>
        </p:nvSpPr>
        <p:spPr>
          <a:xfrm>
            <a:off x="1207008" y="42976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Perkakas pengembang dan skrip otomasi lintas sistem operasi.</a:t>
            </a:r>
            <a:endParaRPr lang="en-US" sz="1100" dirty="0"/>
          </a:p>
        </p:txBody>
      </p:sp>
      <p:sp>
        <p:nvSpPr>
          <p:cNvPr id="24" name="Shape 17"/>
          <p:cNvSpPr/>
          <p:nvPr/>
        </p:nvSpPr>
        <p:spPr>
          <a:xfrm>
            <a:off x="640080" y="4700016"/>
            <a:ext cx="420624" cy="420624"/>
          </a:xfrm>
          <a:prstGeom prst="roundRect">
            <a:avLst>
              <a:gd name="adj" fmla="val 26087"/>
            </a:avLst>
          </a:prstGeom>
          <a:solidFill>
            <a:srgbClr val="E8F2E2"/>
          </a:solidFill>
          <a:ln w="12700">
            <a:solidFill>
              <a:srgbClr val="E8F2E2"/>
            </a:solidFill>
            <a:prstDash val="solid"/>
          </a:ln>
        </p:spPr>
      </p:sp>
      <p:pic>
        <p:nvPicPr>
          <p:cNvPr id="25" name="Image 5" descr="preencoded.png">    </p:cNvPr>
          <p:cNvPicPr>
            <a:picLocks noChangeAspect="1"/>
          </p:cNvPicPr>
          <p:nvPr/>
        </p:nvPicPr>
        <p:blipFill>
          <a:blip r:embed="rId6"/>
          <a:stretch>
            <a:fillRect/>
          </a:stretch>
        </p:blipFill>
        <p:spPr>
          <a:xfrm>
            <a:off x="745236" y="4805172"/>
            <a:ext cx="210312" cy="210312"/>
          </a:xfrm>
          <a:prstGeom prst="rect">
            <a:avLst/>
          </a:prstGeom>
        </p:spPr>
      </p:pic>
      <p:sp>
        <p:nvSpPr>
          <p:cNvPr id="26" name="Text 18"/>
          <p:cNvSpPr txBox="1"/>
          <p:nvPr/>
        </p:nvSpPr>
        <p:spPr>
          <a:xfrm>
            <a:off x="1207008" y="468172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Fullstack JavaScript</a:t>
            </a:r>
            <a:endParaRPr lang="en-US" sz="1250" dirty="0"/>
          </a:p>
        </p:txBody>
      </p:sp>
      <p:sp>
        <p:nvSpPr>
          <p:cNvPr id="27" name="Text 19"/>
          <p:cNvSpPr txBox="1"/>
          <p:nvPr/>
        </p:nvSpPr>
        <p:spPr>
          <a:xfrm>
            <a:off x="1207008" y="493776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Proyek yang memakai React, Vue, atau Angular di sisi klien.</a:t>
            </a:r>
            <a:endParaRPr lang="en-US" sz="1100" dirty="0"/>
          </a:p>
        </p:txBody>
      </p:sp>
      <p:sp>
        <p:nvSpPr>
          <p:cNvPr id="28" name="Shape 20"/>
          <p:cNvSpPr/>
          <p:nvPr/>
        </p:nvSpPr>
        <p:spPr>
          <a:xfrm>
            <a:off x="6263640" y="1609344"/>
            <a:ext cx="5349240" cy="420624"/>
          </a:xfrm>
          <a:prstGeom prst="roundRect">
            <a:avLst>
              <a:gd name="adj" fmla="val 17391"/>
            </a:avLst>
          </a:prstGeom>
          <a:solidFill>
            <a:srgbClr val="B8860B"/>
          </a:solidFill>
          <a:ln w="12700">
            <a:solidFill>
              <a:srgbClr val="B8860B"/>
            </a:solidFill>
            <a:prstDash val="solid"/>
          </a:ln>
        </p:spPr>
      </p:sp>
      <p:sp>
        <p:nvSpPr>
          <p:cNvPr id="29" name="Text 21"/>
          <p:cNvSpPr txBox="1"/>
          <p:nvPr/>
        </p:nvSpPr>
        <p:spPr>
          <a:xfrm>
            <a:off x="6492240" y="1609344"/>
            <a:ext cx="4892040" cy="420624"/>
          </a:xfrm>
          <a:prstGeom prst="rect">
            <a:avLst/>
          </a:prstGeom>
          <a:noFill/>
          <a:ln/>
        </p:spPr>
        <p:txBody>
          <a:bodyPr wrap="square" lIns="0" tIns="0" rIns="0" bIns="0" rtlCol="0" anchor="ctr"/>
          <a:lstStyle/>
          <a:p>
            <a:pPr indent="0" marL="0">
              <a:buNone/>
            </a:pPr>
            <a:r>
              <a:rPr lang="en-US" sz="1250" b="1" spc="120" kern="0" dirty="0">
                <a:solidFill>
                  <a:srgbClr val="FFFFFF"/>
                </a:solidFill>
                <a:latin typeface="Arial" pitchFamily="34" charset="0"/>
                <a:ea typeface="Arial" pitchFamily="34" charset="-122"/>
                <a:cs typeface="Arial" pitchFamily="34" charset="-120"/>
              </a:rPr>
              <a:t>PERTIMBANGKAN ALTERNATIF UNTUK</a:t>
            </a:r>
            <a:endParaRPr lang="en-US" sz="1250" dirty="0"/>
          </a:p>
        </p:txBody>
      </p:sp>
      <p:sp>
        <p:nvSpPr>
          <p:cNvPr id="30" name="Shape 22"/>
          <p:cNvSpPr/>
          <p:nvPr/>
        </p:nvSpPr>
        <p:spPr>
          <a:xfrm>
            <a:off x="6263640" y="2139696"/>
            <a:ext cx="420624" cy="420624"/>
          </a:xfrm>
          <a:prstGeom prst="roundRect">
            <a:avLst>
              <a:gd name="adj" fmla="val 26087"/>
            </a:avLst>
          </a:prstGeom>
          <a:solidFill>
            <a:srgbClr val="FDF3D8"/>
          </a:solidFill>
          <a:ln w="12700">
            <a:solidFill>
              <a:srgbClr val="FDF3D8"/>
            </a:solidFill>
            <a:prstDash val="solid"/>
          </a:ln>
        </p:spPr>
      </p:sp>
      <p:pic>
        <p:nvPicPr>
          <p:cNvPr id="31" name="Image 6" descr="preencoded.png">    </p:cNvPr>
          <p:cNvPicPr>
            <a:picLocks noChangeAspect="1"/>
          </p:cNvPicPr>
          <p:nvPr/>
        </p:nvPicPr>
        <p:blipFill>
          <a:blip r:embed="rId7"/>
          <a:stretch>
            <a:fillRect/>
          </a:stretch>
        </p:blipFill>
        <p:spPr>
          <a:xfrm>
            <a:off x="6368796" y="2244852"/>
            <a:ext cx="210312" cy="210312"/>
          </a:xfrm>
          <a:prstGeom prst="rect">
            <a:avLst/>
          </a:prstGeom>
        </p:spPr>
      </p:pic>
      <p:sp>
        <p:nvSpPr>
          <p:cNvPr id="32" name="Text 23"/>
          <p:cNvSpPr txBox="1"/>
          <p:nvPr/>
        </p:nvSpPr>
        <p:spPr>
          <a:xfrm>
            <a:off x="683056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Komputasi Numerik Berat</a:t>
            </a:r>
            <a:endParaRPr lang="en-US" sz="1250" dirty="0"/>
          </a:p>
        </p:txBody>
      </p:sp>
      <p:sp>
        <p:nvSpPr>
          <p:cNvPr id="33" name="Text 24"/>
          <p:cNvSpPr txBox="1"/>
          <p:nvPr/>
        </p:nvSpPr>
        <p:spPr>
          <a:xfrm>
            <a:off x="683056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Simulasi ilmiah dan pemodelan matematis lebih pas dengan Python atau C++.</a:t>
            </a:r>
            <a:endParaRPr lang="en-US" sz="1100" dirty="0"/>
          </a:p>
        </p:txBody>
      </p:sp>
      <p:sp>
        <p:nvSpPr>
          <p:cNvPr id="34" name="Shape 25"/>
          <p:cNvSpPr/>
          <p:nvPr/>
        </p:nvSpPr>
        <p:spPr>
          <a:xfrm>
            <a:off x="6263640" y="2779776"/>
            <a:ext cx="420624" cy="420624"/>
          </a:xfrm>
          <a:prstGeom prst="roundRect">
            <a:avLst>
              <a:gd name="adj" fmla="val 26087"/>
            </a:avLst>
          </a:prstGeom>
          <a:solidFill>
            <a:srgbClr val="FDF3D8"/>
          </a:solidFill>
          <a:ln w="12700">
            <a:solidFill>
              <a:srgbClr val="FDF3D8"/>
            </a:solidFill>
            <a:prstDash val="solid"/>
          </a:ln>
        </p:spPr>
      </p:sp>
      <p:pic>
        <p:nvPicPr>
          <p:cNvPr id="35" name="Image 7" descr="preencoded.png">    </p:cNvPr>
          <p:cNvPicPr>
            <a:picLocks noChangeAspect="1"/>
          </p:cNvPicPr>
          <p:nvPr/>
        </p:nvPicPr>
        <p:blipFill>
          <a:blip r:embed="rId8"/>
          <a:stretch>
            <a:fillRect/>
          </a:stretch>
        </p:blipFill>
        <p:spPr>
          <a:xfrm>
            <a:off x="6368796" y="2884932"/>
            <a:ext cx="210312" cy="210312"/>
          </a:xfrm>
          <a:prstGeom prst="rect">
            <a:avLst/>
          </a:prstGeom>
        </p:spPr>
      </p:pic>
      <p:sp>
        <p:nvSpPr>
          <p:cNvPr id="36" name="Text 26"/>
          <p:cNvSpPr txBox="1"/>
          <p:nvPr/>
        </p:nvSpPr>
        <p:spPr>
          <a:xfrm>
            <a:off x="6830568" y="276148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Pembelajaran Mesin</a:t>
            </a:r>
            <a:endParaRPr lang="en-US" sz="1250" dirty="0"/>
          </a:p>
        </p:txBody>
      </p:sp>
      <p:sp>
        <p:nvSpPr>
          <p:cNvPr id="37" name="Text 27"/>
          <p:cNvSpPr txBox="1"/>
          <p:nvPr/>
        </p:nvSpPr>
        <p:spPr>
          <a:xfrm>
            <a:off x="6830568" y="301752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Ekosistem Python jauh lebih matang untuk pelatihan model dan analisis data.</a:t>
            </a:r>
            <a:endParaRPr lang="en-US" sz="1100" dirty="0"/>
          </a:p>
        </p:txBody>
      </p:sp>
      <p:sp>
        <p:nvSpPr>
          <p:cNvPr id="38" name="Shape 28"/>
          <p:cNvSpPr/>
          <p:nvPr/>
        </p:nvSpPr>
        <p:spPr>
          <a:xfrm>
            <a:off x="6263640" y="3419856"/>
            <a:ext cx="420624" cy="420624"/>
          </a:xfrm>
          <a:prstGeom prst="roundRect">
            <a:avLst>
              <a:gd name="adj" fmla="val 26087"/>
            </a:avLst>
          </a:prstGeom>
          <a:solidFill>
            <a:srgbClr val="FDF3D8"/>
          </a:solidFill>
          <a:ln w="12700">
            <a:solidFill>
              <a:srgbClr val="FDF3D8"/>
            </a:solidFill>
            <a:prstDash val="solid"/>
          </a:ln>
        </p:spPr>
      </p:sp>
      <p:pic>
        <p:nvPicPr>
          <p:cNvPr id="39" name="Image 8" descr="preencoded.png">    </p:cNvPr>
          <p:cNvPicPr>
            <a:picLocks noChangeAspect="1"/>
          </p:cNvPicPr>
          <p:nvPr/>
        </p:nvPicPr>
        <p:blipFill>
          <a:blip r:embed="rId9"/>
          <a:stretch>
            <a:fillRect/>
          </a:stretch>
        </p:blipFill>
        <p:spPr>
          <a:xfrm>
            <a:off x="6368796" y="3525012"/>
            <a:ext cx="210312" cy="210312"/>
          </a:xfrm>
          <a:prstGeom prst="rect">
            <a:avLst/>
          </a:prstGeom>
        </p:spPr>
      </p:pic>
      <p:sp>
        <p:nvSpPr>
          <p:cNvPr id="40" name="Text 29"/>
          <p:cNvSpPr txBox="1"/>
          <p:nvPr/>
        </p:nvSpPr>
        <p:spPr>
          <a:xfrm>
            <a:off x="6830568" y="340156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Transaksi Relasional Rumit</a:t>
            </a:r>
            <a:endParaRPr lang="en-US" sz="1250" dirty="0"/>
          </a:p>
        </p:txBody>
      </p:sp>
      <p:sp>
        <p:nvSpPr>
          <p:cNvPr id="41" name="Text 30"/>
          <p:cNvSpPr txBox="1"/>
          <p:nvPr/>
        </p:nvSpPr>
        <p:spPr>
          <a:xfrm>
            <a:off x="6830568" y="365760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Sistem perbankan berat sering lebih nyaman dibangun dengan Java atau C#.</a:t>
            </a:r>
            <a:endParaRPr lang="en-US" sz="1100" dirty="0"/>
          </a:p>
        </p:txBody>
      </p:sp>
      <p:sp>
        <p:nvSpPr>
          <p:cNvPr id="42" name="Shape 31"/>
          <p:cNvSpPr/>
          <p:nvPr/>
        </p:nvSpPr>
        <p:spPr>
          <a:xfrm>
            <a:off x="6263640" y="4059936"/>
            <a:ext cx="420624" cy="420624"/>
          </a:xfrm>
          <a:prstGeom prst="roundRect">
            <a:avLst>
              <a:gd name="adj" fmla="val 26087"/>
            </a:avLst>
          </a:prstGeom>
          <a:solidFill>
            <a:srgbClr val="FDF3D8"/>
          </a:solidFill>
          <a:ln w="12700">
            <a:solidFill>
              <a:srgbClr val="FDF3D8"/>
            </a:solidFill>
            <a:prstDash val="solid"/>
          </a:ln>
        </p:spPr>
      </p:sp>
      <p:pic>
        <p:nvPicPr>
          <p:cNvPr id="43" name="Image 9" descr="preencoded.png">    </p:cNvPr>
          <p:cNvPicPr>
            <a:picLocks noChangeAspect="1"/>
          </p:cNvPicPr>
          <p:nvPr/>
        </p:nvPicPr>
        <p:blipFill>
          <a:blip r:embed="rId10"/>
          <a:stretch>
            <a:fillRect/>
          </a:stretch>
        </p:blipFill>
        <p:spPr>
          <a:xfrm>
            <a:off x="6368796" y="4165092"/>
            <a:ext cx="210312" cy="210312"/>
          </a:xfrm>
          <a:prstGeom prst="rect">
            <a:avLst/>
          </a:prstGeom>
        </p:spPr>
      </p:pic>
      <p:sp>
        <p:nvSpPr>
          <p:cNvPr id="44" name="Text 32"/>
          <p:cNvSpPr txBox="1"/>
          <p:nvPr/>
        </p:nvSpPr>
        <p:spPr>
          <a:xfrm>
            <a:off x="6830568" y="40416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Pemrosesan Media Skala Besar</a:t>
            </a:r>
            <a:endParaRPr lang="en-US" sz="1250" dirty="0"/>
          </a:p>
        </p:txBody>
      </p:sp>
      <p:sp>
        <p:nvSpPr>
          <p:cNvPr id="45" name="Text 33"/>
          <p:cNvSpPr txBox="1"/>
          <p:nvPr/>
        </p:nvSpPr>
        <p:spPr>
          <a:xfrm>
            <a:off x="6830568" y="42976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Penyandian video dan pengolahan citra masif sebaiknya ditangani layanan khusus.</a:t>
            </a:r>
            <a:endParaRPr lang="en-US" sz="1100" dirty="0"/>
          </a:p>
        </p:txBody>
      </p:sp>
      <p:sp>
        <p:nvSpPr>
          <p:cNvPr id="46" name="Shape 34"/>
          <p:cNvSpPr/>
          <p:nvPr/>
        </p:nvSpPr>
        <p:spPr>
          <a:xfrm>
            <a:off x="6263640" y="4700016"/>
            <a:ext cx="420624" cy="420624"/>
          </a:xfrm>
          <a:prstGeom prst="roundRect">
            <a:avLst>
              <a:gd name="adj" fmla="val 26087"/>
            </a:avLst>
          </a:prstGeom>
          <a:solidFill>
            <a:srgbClr val="FDF3D8"/>
          </a:solidFill>
          <a:ln w="12700">
            <a:solidFill>
              <a:srgbClr val="FDF3D8"/>
            </a:solidFill>
            <a:prstDash val="solid"/>
          </a:ln>
        </p:spPr>
      </p:sp>
      <p:pic>
        <p:nvPicPr>
          <p:cNvPr id="47" name="Image 10" descr="preencoded.png">    </p:cNvPr>
          <p:cNvPicPr>
            <a:picLocks noChangeAspect="1"/>
          </p:cNvPicPr>
          <p:nvPr/>
        </p:nvPicPr>
        <p:blipFill>
          <a:blip r:embed="rId11"/>
          <a:stretch>
            <a:fillRect/>
          </a:stretch>
        </p:blipFill>
        <p:spPr>
          <a:xfrm>
            <a:off x="6368796" y="4805172"/>
            <a:ext cx="210312" cy="210312"/>
          </a:xfrm>
          <a:prstGeom prst="rect">
            <a:avLst/>
          </a:prstGeom>
        </p:spPr>
      </p:pic>
      <p:sp>
        <p:nvSpPr>
          <p:cNvPr id="48" name="Text 35"/>
          <p:cNvSpPr txBox="1"/>
          <p:nvPr/>
        </p:nvSpPr>
        <p:spPr>
          <a:xfrm>
            <a:off x="6830568" y="468172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CRUD Sederhana</a:t>
            </a:r>
            <a:endParaRPr lang="en-US" sz="1250" dirty="0"/>
          </a:p>
        </p:txBody>
      </p:sp>
      <p:sp>
        <p:nvSpPr>
          <p:cNvPr id="49" name="Text 36"/>
          <p:cNvSpPr txBox="1"/>
          <p:nvPr/>
        </p:nvSpPr>
        <p:spPr>
          <a:xfrm>
            <a:off x="6830568" y="493776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Kerangka berbaterai lengkap seperti Laravel atau Django kadang lebih cepat jadi.</a:t>
            </a:r>
            <a:endParaRPr lang="en-US" sz="1100" dirty="0"/>
          </a:p>
        </p:txBody>
      </p:sp>
      <p:sp>
        <p:nvSpPr>
          <p:cNvPr id="50" name="Shape 37"/>
          <p:cNvSpPr/>
          <p:nvPr/>
        </p:nvSpPr>
        <p:spPr>
          <a:xfrm>
            <a:off x="640080" y="5413248"/>
            <a:ext cx="10972800" cy="566928"/>
          </a:xfrm>
          <a:prstGeom prst="roundRect">
            <a:avLst>
              <a:gd name="adj" fmla="val 14516"/>
            </a:avLst>
          </a:prstGeom>
          <a:solidFill>
            <a:srgbClr val="0B2015"/>
          </a:solidFill>
          <a:ln w="12700">
            <a:solidFill>
              <a:srgbClr val="0B2015"/>
            </a:solidFill>
            <a:prstDash val="solid"/>
          </a:ln>
        </p:spPr>
      </p:sp>
      <p:sp>
        <p:nvSpPr>
          <p:cNvPr id="51" name="Text 38"/>
          <p:cNvSpPr txBox="1"/>
          <p:nvPr/>
        </p:nvSpPr>
        <p:spPr>
          <a:xfrm>
            <a:off x="914400" y="5413248"/>
            <a:ext cx="10424160" cy="566928"/>
          </a:xfrm>
          <a:prstGeom prst="rect">
            <a:avLst/>
          </a:prstGeom>
          <a:noFill/>
          <a:ln/>
        </p:spPr>
        <p:txBody>
          <a:bodyPr wrap="square" lIns="0" tIns="0" rIns="0" bIns="0" rtlCol="0" anchor="ctr"/>
          <a:lstStyle/>
          <a:p>
            <a:pPr indent="0" marL="0">
              <a:buNone/>
            </a:pPr>
            <a:r>
              <a:rPr lang="en-US" sz="1150" dirty="0">
                <a:solidFill>
                  <a:srgbClr val="CFE6D2"/>
                </a:solidFill>
                <a:latin typeface="Calibri" pitchFamily="34" charset="0"/>
                <a:ea typeface="Calibri" pitchFamily="34" charset="-122"/>
                <a:cs typeface="Calibri" pitchFamily="34" charset="-120"/>
              </a:rPr>
              <a:t>Perusahaan seperti Netflix, LinkedIn, PayPal, Uber, NASA, dan Trello memakai Node.js pada layanan produksi mereka.</a:t>
            </a:r>
            <a:endParaRPr lang="en-US" sz="1150" dirty="0"/>
          </a:p>
        </p:txBody>
      </p:sp>
      <p:sp>
        <p:nvSpPr>
          <p:cNvPr id="52"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3"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Roadmap Belajar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Urutan belajar bertahap dari dasar hingga siap kerja</a:t>
            </a:r>
            <a:endParaRPr lang="en-US" sz="1300" dirty="0"/>
          </a:p>
        </p:txBody>
      </p:sp>
      <p:sp>
        <p:nvSpPr>
          <p:cNvPr id="6" name="Shape 3"/>
          <p:cNvSpPr/>
          <p:nvPr/>
        </p:nvSpPr>
        <p:spPr>
          <a:xfrm>
            <a:off x="640080"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28800"/>
            <a:ext cx="1005840" cy="347472"/>
          </a:xfrm>
          <a:prstGeom prst="roundRect">
            <a:avLst>
              <a:gd name="adj" fmla="val 50000"/>
            </a:avLst>
          </a:prstGeom>
          <a:solidFill>
            <a:srgbClr val="8CC84B"/>
          </a:solidFill>
          <a:ln w="12700">
            <a:solidFill>
              <a:srgbClr val="8CC84B"/>
            </a:solidFill>
            <a:prstDash val="solid"/>
          </a:ln>
        </p:spPr>
      </p:sp>
      <p:sp>
        <p:nvSpPr>
          <p:cNvPr id="8" name="Text 5"/>
          <p:cNvSpPr txBox="1"/>
          <p:nvPr/>
        </p:nvSpPr>
        <p:spPr>
          <a:xfrm>
            <a:off x="877824" y="1828800"/>
            <a:ext cx="1005840" cy="347472"/>
          </a:xfrm>
          <a:prstGeom prst="rect">
            <a:avLst/>
          </a:prstGeom>
          <a:noFill/>
          <a:ln/>
        </p:spPr>
        <p:txBody>
          <a:bodyPr wrap="square" lIns="0" tIns="0" rIns="0" bIns="0" rtlCol="0" anchor="ctr"/>
          <a:lstStyle/>
          <a:p>
            <a:pPr algn="ctr" indent="0" marL="0">
              <a:buNone/>
            </a:pPr>
            <a:r>
              <a:rPr lang="en-US" sz="1000" b="1" dirty="0">
                <a:solidFill>
                  <a:srgbClr val="1F3D26"/>
                </a:solidFill>
                <a:latin typeface="Calibri" pitchFamily="34" charset="0"/>
                <a:ea typeface="Calibri" pitchFamily="34" charset="-122"/>
                <a:cs typeface="Calibri" pitchFamily="34" charset="-120"/>
              </a:rPr>
              <a:t>Tahap 1</a:t>
            </a:r>
            <a:endParaRPr lang="en-US" sz="1000" dirty="0"/>
          </a:p>
        </p:txBody>
      </p:sp>
      <p:sp>
        <p:nvSpPr>
          <p:cNvPr id="9" name="Text 6"/>
          <p:cNvSpPr txBox="1"/>
          <p:nvPr/>
        </p:nvSpPr>
        <p:spPr>
          <a:xfrm>
            <a:off x="877824"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Fondasi</a:t>
            </a:r>
            <a:endParaRPr lang="en-US" sz="1500" dirty="0"/>
          </a:p>
        </p:txBody>
      </p:sp>
      <p:sp>
        <p:nvSpPr>
          <p:cNvPr id="10" name="Text 7"/>
          <p:cNvSpPr txBox="1"/>
          <p:nvPr/>
        </p:nvSpPr>
        <p:spPr>
          <a:xfrm>
            <a:off x="932688"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Dasar JavaScript modern (ES6+)</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Instalasi Node.js dan NVM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REPL, menjalankan skrip, dan npm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Sistem modul CommonJS dan ESM</a:t>
            </a:r>
            <a:endParaRPr lang="en-US" sz="1030" dirty="0"/>
          </a:p>
        </p:txBody>
      </p:sp>
      <p:pic>
        <p:nvPicPr>
          <p:cNvPr id="11" name="Image 1" descr="preencoded.png">    </p:cNvPr>
          <p:cNvPicPr>
            <a:picLocks noChangeAspect="1"/>
          </p:cNvPicPr>
          <p:nvPr/>
        </p:nvPicPr>
        <p:blipFill>
          <a:blip r:embed="rId2"/>
          <a:stretch>
            <a:fillRect/>
          </a:stretch>
        </p:blipFill>
        <p:spPr>
          <a:xfrm>
            <a:off x="3227832" y="3291840"/>
            <a:ext cx="201168" cy="201168"/>
          </a:xfrm>
          <a:prstGeom prst="rect">
            <a:avLst/>
          </a:prstGeom>
        </p:spPr>
      </p:pic>
      <p:sp>
        <p:nvSpPr>
          <p:cNvPr id="12" name="Shape 8"/>
          <p:cNvSpPr/>
          <p:nvPr/>
        </p:nvSpPr>
        <p:spPr>
          <a:xfrm>
            <a:off x="3447288"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3685032" y="1828800"/>
            <a:ext cx="1005840" cy="347472"/>
          </a:xfrm>
          <a:prstGeom prst="roundRect">
            <a:avLst>
              <a:gd name="adj" fmla="val 50000"/>
            </a:avLst>
          </a:prstGeom>
          <a:solidFill>
            <a:srgbClr val="7CB342"/>
          </a:solidFill>
          <a:ln w="12700">
            <a:solidFill>
              <a:srgbClr val="7CB342"/>
            </a:solidFill>
            <a:prstDash val="solid"/>
          </a:ln>
        </p:spPr>
      </p:sp>
      <p:sp>
        <p:nvSpPr>
          <p:cNvPr id="14" name="Text 10"/>
          <p:cNvSpPr txBox="1"/>
          <p:nvPr/>
        </p:nvSpPr>
        <p:spPr>
          <a:xfrm>
            <a:off x="3685032" y="1828800"/>
            <a:ext cx="1005840" cy="347472"/>
          </a:xfrm>
          <a:prstGeom prst="rect">
            <a:avLst/>
          </a:prstGeom>
          <a:noFill/>
          <a:ln/>
        </p:spPr>
        <p:txBody>
          <a:bodyPr wrap="square" lIns="0" tIns="0" rIns="0" bIns="0" rtlCol="0" anchor="ctr"/>
          <a:lstStyle/>
          <a:p>
            <a:pPr algn="ctr" indent="0" marL="0">
              <a:buNone/>
            </a:pPr>
            <a:r>
              <a:rPr lang="en-US" sz="1000" b="1" dirty="0">
                <a:solidFill>
                  <a:srgbClr val="1F3D26"/>
                </a:solidFill>
                <a:latin typeface="Calibri" pitchFamily="34" charset="0"/>
                <a:ea typeface="Calibri" pitchFamily="34" charset="-122"/>
                <a:cs typeface="Calibri" pitchFamily="34" charset="-120"/>
              </a:rPr>
              <a:t>Tahap 2</a:t>
            </a:r>
            <a:endParaRPr lang="en-US" sz="1000" dirty="0"/>
          </a:p>
        </p:txBody>
      </p:sp>
      <p:sp>
        <p:nvSpPr>
          <p:cNvPr id="15" name="Text 11"/>
          <p:cNvSpPr txBox="1"/>
          <p:nvPr/>
        </p:nvSpPr>
        <p:spPr>
          <a:xfrm>
            <a:off x="3685032"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Inti Node.js</a:t>
            </a:r>
            <a:endParaRPr lang="en-US" sz="1500" dirty="0"/>
          </a:p>
        </p:txBody>
      </p:sp>
      <p:sp>
        <p:nvSpPr>
          <p:cNvPr id="16" name="Text 12"/>
          <p:cNvSpPr txBox="1"/>
          <p:nvPr/>
        </p:nvSpPr>
        <p:spPr>
          <a:xfrm>
            <a:off x="3739896"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Modul fs, path, os, dan http</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Callback, Promise, async/await</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EventEmitter, Stream, dan Buffer</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Penanganan galat yang benar</a:t>
            </a:r>
            <a:endParaRPr lang="en-US" sz="1030" dirty="0"/>
          </a:p>
        </p:txBody>
      </p:sp>
      <p:pic>
        <p:nvPicPr>
          <p:cNvPr id="17" name="Image 2" descr="preencoded.png">    </p:cNvPr>
          <p:cNvPicPr>
            <a:picLocks noChangeAspect="1"/>
          </p:cNvPicPr>
          <p:nvPr/>
        </p:nvPicPr>
        <p:blipFill>
          <a:blip r:embed="rId3"/>
          <a:stretch>
            <a:fillRect/>
          </a:stretch>
        </p:blipFill>
        <p:spPr>
          <a:xfrm>
            <a:off x="6035040" y="3291840"/>
            <a:ext cx="201168" cy="201168"/>
          </a:xfrm>
          <a:prstGeom prst="rect">
            <a:avLst/>
          </a:prstGeom>
        </p:spPr>
      </p:pic>
      <p:sp>
        <p:nvSpPr>
          <p:cNvPr id="18" name="Shape 13"/>
          <p:cNvSpPr/>
          <p:nvPr/>
        </p:nvSpPr>
        <p:spPr>
          <a:xfrm>
            <a:off x="6254496"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6492240" y="1828800"/>
            <a:ext cx="1005840" cy="347472"/>
          </a:xfrm>
          <a:prstGeom prst="roundRect">
            <a:avLst>
              <a:gd name="adj" fmla="val 50000"/>
            </a:avLst>
          </a:prstGeom>
          <a:solidFill>
            <a:srgbClr val="3C873A"/>
          </a:solidFill>
          <a:ln w="12700">
            <a:solidFill>
              <a:srgbClr val="3C873A"/>
            </a:solidFill>
            <a:prstDash val="solid"/>
          </a:ln>
        </p:spPr>
      </p:sp>
      <p:sp>
        <p:nvSpPr>
          <p:cNvPr id="20" name="Text 15"/>
          <p:cNvSpPr txBox="1"/>
          <p:nvPr/>
        </p:nvSpPr>
        <p:spPr>
          <a:xfrm>
            <a:off x="6492240" y="1828800"/>
            <a:ext cx="1005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Tahap 3</a:t>
            </a:r>
            <a:endParaRPr lang="en-US" sz="1000" dirty="0"/>
          </a:p>
        </p:txBody>
      </p:sp>
      <p:sp>
        <p:nvSpPr>
          <p:cNvPr id="21" name="Text 16"/>
          <p:cNvSpPr txBox="1"/>
          <p:nvPr/>
        </p:nvSpPr>
        <p:spPr>
          <a:xfrm>
            <a:off x="6492240"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Aplikasi Web</a:t>
            </a:r>
            <a:endParaRPr lang="en-US" sz="1500" dirty="0"/>
          </a:p>
        </p:txBody>
      </p:sp>
      <p:sp>
        <p:nvSpPr>
          <p:cNvPr id="22" name="Text 17"/>
          <p:cNvSpPr txBox="1"/>
          <p:nvPr/>
        </p:nvSpPr>
        <p:spPr>
          <a:xfrm>
            <a:off x="6547104"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Express: routing dan middleware</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Membangun REST API CRUD</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Basis data dan ORM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Autentikasi dengan JWT</a:t>
            </a:r>
            <a:endParaRPr lang="en-US" sz="1030" dirty="0"/>
          </a:p>
        </p:txBody>
      </p:sp>
      <p:pic>
        <p:nvPicPr>
          <p:cNvPr id="23" name="Image 3" descr="preencoded.png">    </p:cNvPr>
          <p:cNvPicPr>
            <a:picLocks noChangeAspect="1"/>
          </p:cNvPicPr>
          <p:nvPr/>
        </p:nvPicPr>
        <p:blipFill>
          <a:blip r:embed="rId4"/>
          <a:stretch>
            <a:fillRect/>
          </a:stretch>
        </p:blipFill>
        <p:spPr>
          <a:xfrm>
            <a:off x="8842248" y="3291840"/>
            <a:ext cx="201168" cy="201168"/>
          </a:xfrm>
          <a:prstGeom prst="rect">
            <a:avLst/>
          </a:prstGeom>
        </p:spPr>
      </p:pic>
      <p:sp>
        <p:nvSpPr>
          <p:cNvPr id="24" name="Shape 18"/>
          <p:cNvSpPr/>
          <p:nvPr/>
        </p:nvSpPr>
        <p:spPr>
          <a:xfrm>
            <a:off x="9061704"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9299448" y="1828800"/>
            <a:ext cx="1005840" cy="347472"/>
          </a:xfrm>
          <a:prstGeom prst="roundRect">
            <a:avLst>
              <a:gd name="adj" fmla="val 50000"/>
            </a:avLst>
          </a:prstGeom>
          <a:solidFill>
            <a:srgbClr val="2C5F3A"/>
          </a:solidFill>
          <a:ln w="12700">
            <a:solidFill>
              <a:srgbClr val="2C5F3A"/>
            </a:solidFill>
            <a:prstDash val="solid"/>
          </a:ln>
        </p:spPr>
      </p:sp>
      <p:sp>
        <p:nvSpPr>
          <p:cNvPr id="26" name="Text 20"/>
          <p:cNvSpPr txBox="1"/>
          <p:nvPr/>
        </p:nvSpPr>
        <p:spPr>
          <a:xfrm>
            <a:off x="9299448" y="1828800"/>
            <a:ext cx="1005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Tahap 4</a:t>
            </a:r>
            <a:endParaRPr lang="en-US" sz="1000" dirty="0"/>
          </a:p>
        </p:txBody>
      </p:sp>
      <p:sp>
        <p:nvSpPr>
          <p:cNvPr id="27" name="Text 21"/>
          <p:cNvSpPr txBox="1"/>
          <p:nvPr/>
        </p:nvSpPr>
        <p:spPr>
          <a:xfrm>
            <a:off x="9299448"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Siap Produksi</a:t>
            </a:r>
            <a:endParaRPr lang="en-US" sz="1500" dirty="0"/>
          </a:p>
        </p:txBody>
      </p:sp>
      <p:sp>
        <p:nvSpPr>
          <p:cNvPr id="28" name="Text 22"/>
          <p:cNvSpPr txBox="1"/>
          <p:nvPr/>
        </p:nvSpPr>
        <p:spPr>
          <a:xfrm>
            <a:off x="9354312"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Pengujian dengan Jest dan Supertest</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Keamanan dan validasi masukan</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Docker, PM2, dan CI/CD</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Pemantauan, log, dan optimasi</a:t>
            </a:r>
            <a:endParaRPr lang="en-US" sz="1030" dirty="0"/>
          </a:p>
        </p:txBody>
      </p:sp>
      <p:sp>
        <p:nvSpPr>
          <p:cNvPr id="29" name="Shape 23"/>
          <p:cNvSpPr/>
          <p:nvPr/>
        </p:nvSpPr>
        <p:spPr>
          <a:xfrm>
            <a:off x="640080" y="5431536"/>
            <a:ext cx="420624" cy="420624"/>
          </a:xfrm>
          <a:prstGeom prst="roundRect">
            <a:avLst>
              <a:gd name="adj" fmla="val 26087"/>
            </a:avLst>
          </a:prstGeom>
          <a:solidFill>
            <a:srgbClr val="E8F2E2"/>
          </a:solidFill>
          <a:ln w="12700">
            <a:solidFill>
              <a:srgbClr val="E8F2E2"/>
            </a:solidFill>
            <a:prstDash val="solid"/>
          </a:ln>
        </p:spPr>
      </p:sp>
      <p:pic>
        <p:nvPicPr>
          <p:cNvPr id="30" name="Image 4" descr="preencoded.png">    </p:cNvPr>
          <p:cNvPicPr>
            <a:picLocks noChangeAspect="1"/>
          </p:cNvPicPr>
          <p:nvPr/>
        </p:nvPicPr>
        <p:blipFill>
          <a:blip r:embed="rId5"/>
          <a:stretch>
            <a:fillRect/>
          </a:stretch>
        </p:blipFill>
        <p:spPr>
          <a:xfrm>
            <a:off x="745236" y="5536692"/>
            <a:ext cx="210312" cy="210312"/>
          </a:xfrm>
          <a:prstGeom prst="rect">
            <a:avLst/>
          </a:prstGeom>
        </p:spPr>
      </p:pic>
      <p:sp>
        <p:nvSpPr>
          <p:cNvPr id="31" name="Text 24"/>
          <p:cNvSpPr txBox="1"/>
          <p:nvPr/>
        </p:nvSpPr>
        <p:spPr>
          <a:xfrm>
            <a:off x="1207008"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Bangun Proyek Nyata</a:t>
            </a:r>
            <a:endParaRPr lang="en-US" sz="1150" dirty="0"/>
          </a:p>
        </p:txBody>
      </p:sp>
      <p:sp>
        <p:nvSpPr>
          <p:cNvPr id="32" name="Text 25"/>
          <p:cNvSpPr txBox="1"/>
          <p:nvPr/>
        </p:nvSpPr>
        <p:spPr>
          <a:xfrm>
            <a:off x="1207008"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Buat aplikasi kecil: API catatan, blog, atau toko sederhana.</a:t>
            </a:r>
            <a:endParaRPr lang="en-US" sz="960" dirty="0"/>
          </a:p>
        </p:txBody>
      </p:sp>
      <p:sp>
        <p:nvSpPr>
          <p:cNvPr id="33" name="Shape 26"/>
          <p:cNvSpPr/>
          <p:nvPr/>
        </p:nvSpPr>
        <p:spPr>
          <a:xfrm>
            <a:off x="4443984" y="5431536"/>
            <a:ext cx="420624" cy="420624"/>
          </a:xfrm>
          <a:prstGeom prst="roundRect">
            <a:avLst>
              <a:gd name="adj" fmla="val 26087"/>
            </a:avLst>
          </a:prstGeom>
          <a:solidFill>
            <a:srgbClr val="E8F2E2"/>
          </a:solidFill>
          <a:ln w="12700">
            <a:solidFill>
              <a:srgbClr val="E8F2E2"/>
            </a:solidFill>
            <a:prstDash val="solid"/>
          </a:ln>
        </p:spPr>
      </p:sp>
      <p:pic>
        <p:nvPicPr>
          <p:cNvPr id="34" name="Image 5" descr="preencoded.png">    </p:cNvPr>
          <p:cNvPicPr>
            <a:picLocks noChangeAspect="1"/>
          </p:cNvPicPr>
          <p:nvPr/>
        </p:nvPicPr>
        <p:blipFill>
          <a:blip r:embed="rId6"/>
          <a:stretch>
            <a:fillRect/>
          </a:stretch>
        </p:blipFill>
        <p:spPr>
          <a:xfrm>
            <a:off x="4549140" y="5536692"/>
            <a:ext cx="210312" cy="210312"/>
          </a:xfrm>
          <a:prstGeom prst="rect">
            <a:avLst/>
          </a:prstGeom>
        </p:spPr>
      </p:pic>
      <p:sp>
        <p:nvSpPr>
          <p:cNvPr id="35" name="Text 27"/>
          <p:cNvSpPr txBox="1"/>
          <p:nvPr/>
        </p:nvSpPr>
        <p:spPr>
          <a:xfrm>
            <a:off x="5010912"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Baca Dokumentasi Resmi</a:t>
            </a:r>
            <a:endParaRPr lang="en-US" sz="1150" dirty="0"/>
          </a:p>
        </p:txBody>
      </p:sp>
      <p:sp>
        <p:nvSpPr>
          <p:cNvPr id="36" name="Text 28"/>
          <p:cNvSpPr txBox="1"/>
          <p:nvPr/>
        </p:nvSpPr>
        <p:spPr>
          <a:xfrm>
            <a:off x="5010912"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Dokumentasi Node.js dan MDN lebih akurat dari tutorial acak.</a:t>
            </a:r>
            <a:endParaRPr lang="en-US" sz="960" dirty="0"/>
          </a:p>
        </p:txBody>
      </p:sp>
      <p:sp>
        <p:nvSpPr>
          <p:cNvPr id="37" name="Shape 29"/>
          <p:cNvSpPr/>
          <p:nvPr/>
        </p:nvSpPr>
        <p:spPr>
          <a:xfrm>
            <a:off x="8247888" y="5431536"/>
            <a:ext cx="420624" cy="420624"/>
          </a:xfrm>
          <a:prstGeom prst="roundRect">
            <a:avLst>
              <a:gd name="adj" fmla="val 26087"/>
            </a:avLst>
          </a:prstGeom>
          <a:solidFill>
            <a:srgbClr val="E8F2E2"/>
          </a:solidFill>
          <a:ln w="12700">
            <a:solidFill>
              <a:srgbClr val="E8F2E2"/>
            </a:solidFill>
            <a:prstDash val="solid"/>
          </a:ln>
        </p:spPr>
      </p:sp>
      <p:pic>
        <p:nvPicPr>
          <p:cNvPr id="38" name="Image 6" descr="preencoded.png">    </p:cNvPr>
          <p:cNvPicPr>
            <a:picLocks noChangeAspect="1"/>
          </p:cNvPicPr>
          <p:nvPr/>
        </p:nvPicPr>
        <p:blipFill>
          <a:blip r:embed="rId7"/>
          <a:stretch>
            <a:fillRect/>
          </a:stretch>
        </p:blipFill>
        <p:spPr>
          <a:xfrm>
            <a:off x="8353044" y="5536692"/>
            <a:ext cx="210312" cy="210312"/>
          </a:xfrm>
          <a:prstGeom prst="rect">
            <a:avLst/>
          </a:prstGeom>
        </p:spPr>
      </p:pic>
      <p:sp>
        <p:nvSpPr>
          <p:cNvPr id="39" name="Text 30"/>
          <p:cNvSpPr txBox="1"/>
          <p:nvPr/>
        </p:nvSpPr>
        <p:spPr>
          <a:xfrm>
            <a:off x="8814816"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Gabung Komunitas</a:t>
            </a:r>
            <a:endParaRPr lang="en-US" sz="1150" dirty="0"/>
          </a:p>
        </p:txBody>
      </p:sp>
      <p:sp>
        <p:nvSpPr>
          <p:cNvPr id="40" name="Text 31"/>
          <p:cNvSpPr txBox="1"/>
          <p:nvPr/>
        </p:nvSpPr>
        <p:spPr>
          <a:xfrm>
            <a:off x="8814816"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Membaca kode orang lain mempercepat pemahaman Anda.</a:t>
            </a:r>
            <a:endParaRPr lang="en-US" sz="960" dirty="0"/>
          </a:p>
        </p:txBody>
      </p:sp>
      <p:sp>
        <p:nvSpPr>
          <p:cNvPr id="41" name="Text 3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Referensi dan Sumber Belajar</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Rujukan tepercaya untuk memperdalam materi ini</a:t>
            </a:r>
            <a:endParaRPr lang="en-US" sz="1300" dirty="0"/>
          </a:p>
        </p:txBody>
      </p:sp>
      <p:sp>
        <p:nvSpPr>
          <p:cNvPr id="6" name="Shape 3"/>
          <p:cNvSpPr/>
          <p:nvPr/>
        </p:nvSpPr>
        <p:spPr>
          <a:xfrm>
            <a:off x="640080"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96112" y="1865376"/>
            <a:ext cx="384048" cy="384048"/>
          </a:xfrm>
          <a:prstGeom prst="rect">
            <a:avLst/>
          </a:prstGeom>
        </p:spPr>
      </p:pic>
      <p:sp>
        <p:nvSpPr>
          <p:cNvPr id="8" name="Text 4"/>
          <p:cNvSpPr txBox="1"/>
          <p:nvPr/>
        </p:nvSpPr>
        <p:spPr>
          <a:xfrm>
            <a:off x="1408176"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Dokumentasi Resmi Node.js</a:t>
            </a:r>
            <a:endParaRPr lang="en-US" sz="1250" dirty="0"/>
          </a:p>
        </p:txBody>
      </p:sp>
      <p:sp>
        <p:nvSpPr>
          <p:cNvPr id="9" name="Text 5"/>
          <p:cNvSpPr txBox="1"/>
          <p:nvPr/>
        </p:nvSpPr>
        <p:spPr>
          <a:xfrm>
            <a:off x="896112"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nodejs.org/docs</a:t>
            </a:r>
            <a:endParaRPr lang="en-US" sz="980" dirty="0"/>
          </a:p>
        </p:txBody>
      </p:sp>
      <p:sp>
        <p:nvSpPr>
          <p:cNvPr id="10" name="Text 6"/>
          <p:cNvSpPr txBox="1"/>
          <p:nvPr/>
        </p:nvSpPr>
        <p:spPr>
          <a:xfrm>
            <a:off x="896112"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Rujukan utama seluruh API inti Node.js beserta panduan resminya.</a:t>
            </a:r>
            <a:endParaRPr lang="en-US" sz="980" dirty="0"/>
          </a:p>
        </p:txBody>
      </p:sp>
      <p:sp>
        <p:nvSpPr>
          <p:cNvPr id="11" name="Shape 7"/>
          <p:cNvSpPr/>
          <p:nvPr/>
        </p:nvSpPr>
        <p:spPr>
          <a:xfrm>
            <a:off x="4443984"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2" name="Image 2" descr="preencoded.png">    </p:cNvPr>
          <p:cNvPicPr>
            <a:picLocks noChangeAspect="1"/>
          </p:cNvPicPr>
          <p:nvPr/>
        </p:nvPicPr>
        <p:blipFill>
          <a:blip r:embed="rId3"/>
          <a:stretch>
            <a:fillRect/>
          </a:stretch>
        </p:blipFill>
        <p:spPr>
          <a:xfrm>
            <a:off x="4700016" y="1865376"/>
            <a:ext cx="384048" cy="384048"/>
          </a:xfrm>
          <a:prstGeom prst="rect">
            <a:avLst/>
          </a:prstGeom>
        </p:spPr>
      </p:pic>
      <p:sp>
        <p:nvSpPr>
          <p:cNvPr id="13" name="Text 8"/>
          <p:cNvSpPr txBox="1"/>
          <p:nvPr/>
        </p:nvSpPr>
        <p:spPr>
          <a:xfrm>
            <a:off x="5212080"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MDN Web Docs</a:t>
            </a:r>
            <a:endParaRPr lang="en-US" sz="1250" dirty="0"/>
          </a:p>
        </p:txBody>
      </p:sp>
      <p:sp>
        <p:nvSpPr>
          <p:cNvPr id="14" name="Text 9"/>
          <p:cNvSpPr txBox="1"/>
          <p:nvPr/>
        </p:nvSpPr>
        <p:spPr>
          <a:xfrm>
            <a:off x="4700016"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developer.mozilla.org</a:t>
            </a:r>
            <a:endParaRPr lang="en-US" sz="980" dirty="0"/>
          </a:p>
        </p:txBody>
      </p:sp>
      <p:sp>
        <p:nvSpPr>
          <p:cNvPr id="15" name="Text 10"/>
          <p:cNvSpPr txBox="1"/>
          <p:nvPr/>
        </p:nvSpPr>
        <p:spPr>
          <a:xfrm>
            <a:off x="4700016"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Referensi paling lengkap untuk bahasa JavaScript itu sendiri.</a:t>
            </a:r>
            <a:endParaRPr lang="en-US" sz="980" dirty="0"/>
          </a:p>
        </p:txBody>
      </p:sp>
      <p:sp>
        <p:nvSpPr>
          <p:cNvPr id="16" name="Shape 11"/>
          <p:cNvSpPr/>
          <p:nvPr/>
        </p:nvSpPr>
        <p:spPr>
          <a:xfrm>
            <a:off x="8247888"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7" name="Image 3" descr="preencoded.png">    </p:cNvPr>
          <p:cNvPicPr>
            <a:picLocks noChangeAspect="1"/>
          </p:cNvPicPr>
          <p:nvPr/>
        </p:nvPicPr>
        <p:blipFill>
          <a:blip r:embed="rId4"/>
          <a:stretch>
            <a:fillRect/>
          </a:stretch>
        </p:blipFill>
        <p:spPr>
          <a:xfrm>
            <a:off x="8503920" y="1865376"/>
            <a:ext cx="384048" cy="384048"/>
          </a:xfrm>
          <a:prstGeom prst="rect">
            <a:avLst/>
          </a:prstGeom>
        </p:spPr>
      </p:pic>
      <p:sp>
        <p:nvSpPr>
          <p:cNvPr id="18" name="Text 12"/>
          <p:cNvSpPr txBox="1"/>
          <p:nvPr/>
        </p:nvSpPr>
        <p:spPr>
          <a:xfrm>
            <a:off x="9015984"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Registry NPM</a:t>
            </a:r>
            <a:endParaRPr lang="en-US" sz="1250" dirty="0"/>
          </a:p>
        </p:txBody>
      </p:sp>
      <p:sp>
        <p:nvSpPr>
          <p:cNvPr id="19" name="Text 13"/>
          <p:cNvSpPr txBox="1"/>
          <p:nvPr/>
        </p:nvSpPr>
        <p:spPr>
          <a:xfrm>
            <a:off x="8503920"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npmjs.com</a:t>
            </a:r>
            <a:endParaRPr lang="en-US" sz="980" dirty="0"/>
          </a:p>
        </p:txBody>
      </p:sp>
      <p:sp>
        <p:nvSpPr>
          <p:cNvPr id="20" name="Text 14"/>
          <p:cNvSpPr txBox="1"/>
          <p:nvPr/>
        </p:nvSpPr>
        <p:spPr>
          <a:xfrm>
            <a:off x="8503920"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Mencari paket, membaca dokumentasi, dan memeriksa statistik penggunaannya.</a:t>
            </a:r>
            <a:endParaRPr lang="en-US" sz="980" dirty="0"/>
          </a:p>
        </p:txBody>
      </p:sp>
      <p:sp>
        <p:nvSpPr>
          <p:cNvPr id="21" name="Shape 15"/>
          <p:cNvSpPr/>
          <p:nvPr/>
        </p:nvSpPr>
        <p:spPr>
          <a:xfrm>
            <a:off x="640080"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2" name="Image 4" descr="preencoded.png">    </p:cNvPr>
          <p:cNvPicPr>
            <a:picLocks noChangeAspect="1"/>
          </p:cNvPicPr>
          <p:nvPr/>
        </p:nvPicPr>
        <p:blipFill>
          <a:blip r:embed="rId5"/>
          <a:stretch>
            <a:fillRect/>
          </a:stretch>
        </p:blipFill>
        <p:spPr>
          <a:xfrm>
            <a:off x="896112" y="3621024"/>
            <a:ext cx="384048" cy="384048"/>
          </a:xfrm>
          <a:prstGeom prst="rect">
            <a:avLst/>
          </a:prstGeom>
        </p:spPr>
      </p:pic>
      <p:sp>
        <p:nvSpPr>
          <p:cNvPr id="23" name="Text 16"/>
          <p:cNvSpPr txBox="1"/>
          <p:nvPr/>
        </p:nvSpPr>
        <p:spPr>
          <a:xfrm>
            <a:off x="1408176"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Dokumentasi Express</a:t>
            </a:r>
            <a:endParaRPr lang="en-US" sz="1250" dirty="0"/>
          </a:p>
        </p:txBody>
      </p:sp>
      <p:sp>
        <p:nvSpPr>
          <p:cNvPr id="24" name="Text 17"/>
          <p:cNvSpPr txBox="1"/>
          <p:nvPr/>
        </p:nvSpPr>
        <p:spPr>
          <a:xfrm>
            <a:off x="896112"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expressjs.com</a:t>
            </a:r>
            <a:endParaRPr lang="en-US" sz="980" dirty="0"/>
          </a:p>
        </p:txBody>
      </p:sp>
      <p:sp>
        <p:nvSpPr>
          <p:cNvPr id="25" name="Text 18"/>
          <p:cNvSpPr txBox="1"/>
          <p:nvPr/>
        </p:nvSpPr>
        <p:spPr>
          <a:xfrm>
            <a:off x="896112"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Panduan routing, middleware, dan praktik terbaik framework Express.</a:t>
            </a:r>
            <a:endParaRPr lang="en-US" sz="980" dirty="0"/>
          </a:p>
        </p:txBody>
      </p:sp>
      <p:sp>
        <p:nvSpPr>
          <p:cNvPr id="26" name="Shape 19"/>
          <p:cNvSpPr/>
          <p:nvPr/>
        </p:nvSpPr>
        <p:spPr>
          <a:xfrm>
            <a:off x="4443984"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7" name="Image 5" descr="preencoded.png">    </p:cNvPr>
          <p:cNvPicPr>
            <a:picLocks noChangeAspect="1"/>
          </p:cNvPicPr>
          <p:nvPr/>
        </p:nvPicPr>
        <p:blipFill>
          <a:blip r:embed="rId6"/>
          <a:stretch>
            <a:fillRect/>
          </a:stretch>
        </p:blipFill>
        <p:spPr>
          <a:xfrm>
            <a:off x="4700016" y="3621024"/>
            <a:ext cx="384048" cy="384048"/>
          </a:xfrm>
          <a:prstGeom prst="rect">
            <a:avLst/>
          </a:prstGeom>
        </p:spPr>
      </p:pic>
      <p:sp>
        <p:nvSpPr>
          <p:cNvPr id="28" name="Text 20"/>
          <p:cNvSpPr txBox="1"/>
          <p:nvPr/>
        </p:nvSpPr>
        <p:spPr>
          <a:xfrm>
            <a:off x="5212080"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OpenJS Foundation</a:t>
            </a:r>
            <a:endParaRPr lang="en-US" sz="1250" dirty="0"/>
          </a:p>
        </p:txBody>
      </p:sp>
      <p:sp>
        <p:nvSpPr>
          <p:cNvPr id="29" name="Text 21"/>
          <p:cNvSpPr txBox="1"/>
          <p:nvPr/>
        </p:nvSpPr>
        <p:spPr>
          <a:xfrm>
            <a:off x="4700016"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openjsf.org</a:t>
            </a:r>
            <a:endParaRPr lang="en-US" sz="980" dirty="0"/>
          </a:p>
        </p:txBody>
      </p:sp>
      <p:sp>
        <p:nvSpPr>
          <p:cNvPr id="30" name="Text 22"/>
          <p:cNvSpPr txBox="1"/>
          <p:nvPr/>
        </p:nvSpPr>
        <p:spPr>
          <a:xfrm>
            <a:off x="4700016"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Organisasi pengelola Node.js beserta panduan keamanan resminya.</a:t>
            </a:r>
            <a:endParaRPr lang="en-US" sz="980" dirty="0"/>
          </a:p>
        </p:txBody>
      </p:sp>
      <p:sp>
        <p:nvSpPr>
          <p:cNvPr id="31" name="Shape 23"/>
          <p:cNvSpPr/>
          <p:nvPr/>
        </p:nvSpPr>
        <p:spPr>
          <a:xfrm>
            <a:off x="8247888"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2" name="Image 6" descr="preencoded.png">    </p:cNvPr>
          <p:cNvPicPr>
            <a:picLocks noChangeAspect="1"/>
          </p:cNvPicPr>
          <p:nvPr/>
        </p:nvPicPr>
        <p:blipFill>
          <a:blip r:embed="rId7"/>
          <a:stretch>
            <a:fillRect/>
          </a:stretch>
        </p:blipFill>
        <p:spPr>
          <a:xfrm>
            <a:off x="8503920" y="3621024"/>
            <a:ext cx="384048" cy="384048"/>
          </a:xfrm>
          <a:prstGeom prst="rect">
            <a:avLst/>
          </a:prstGeom>
        </p:spPr>
      </p:pic>
      <p:sp>
        <p:nvSpPr>
          <p:cNvPr id="33" name="Text 24"/>
          <p:cNvSpPr txBox="1"/>
          <p:nvPr/>
        </p:nvSpPr>
        <p:spPr>
          <a:xfrm>
            <a:off x="9015984"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Repositori GitHub Node.js</a:t>
            </a:r>
            <a:endParaRPr lang="en-US" sz="1250" dirty="0"/>
          </a:p>
        </p:txBody>
      </p:sp>
      <p:sp>
        <p:nvSpPr>
          <p:cNvPr id="34" name="Text 25"/>
          <p:cNvSpPr txBox="1"/>
          <p:nvPr/>
        </p:nvSpPr>
        <p:spPr>
          <a:xfrm>
            <a:off x="8503920"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github.com/nodejs/node</a:t>
            </a:r>
            <a:endParaRPr lang="en-US" sz="980" dirty="0"/>
          </a:p>
        </p:txBody>
      </p:sp>
      <p:sp>
        <p:nvSpPr>
          <p:cNvPr id="35" name="Text 26"/>
          <p:cNvSpPr txBox="1"/>
          <p:nvPr/>
        </p:nvSpPr>
        <p:spPr>
          <a:xfrm>
            <a:off x="8503920"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Kode sumber, catatan rilis, dan diskusi pengembangan Node.js.</a:t>
            </a:r>
            <a:endParaRPr lang="en-US" sz="980" dirty="0"/>
          </a:p>
        </p:txBody>
      </p:sp>
      <p:sp>
        <p:nvSpPr>
          <p:cNvPr id="36" name="Shape 27"/>
          <p:cNvSpPr/>
          <p:nvPr/>
        </p:nvSpPr>
        <p:spPr>
          <a:xfrm>
            <a:off x="640080" y="5029200"/>
            <a:ext cx="10972800" cy="914400"/>
          </a:xfrm>
          <a:prstGeom prst="roundRect">
            <a:avLst>
              <a:gd name="adj" fmla="val 9000"/>
            </a:avLst>
          </a:prstGeom>
          <a:solidFill>
            <a:srgbClr val="E8F2E2"/>
          </a:solidFill>
          <a:ln w="12700">
            <a:solidFill>
              <a:srgbClr val="D2E5C8"/>
            </a:solidFill>
            <a:prstDash val="solid"/>
          </a:ln>
        </p:spPr>
      </p:sp>
      <p:pic>
        <p:nvPicPr>
          <p:cNvPr id="37" name="Image 7" descr="preencoded.png">    </p:cNvPr>
          <p:cNvPicPr>
            <a:picLocks noChangeAspect="1"/>
          </p:cNvPicPr>
          <p:nvPr/>
        </p:nvPicPr>
        <p:blipFill>
          <a:blip r:embed="rId8"/>
          <a:stretch>
            <a:fillRect/>
          </a:stretch>
        </p:blipFill>
        <p:spPr>
          <a:xfrm>
            <a:off x="914400" y="5321808"/>
            <a:ext cx="347472" cy="347472"/>
          </a:xfrm>
          <a:prstGeom prst="rect">
            <a:avLst/>
          </a:prstGeom>
        </p:spPr>
      </p:pic>
      <p:sp>
        <p:nvSpPr>
          <p:cNvPr id="38" name="Text 28"/>
          <p:cNvSpPr txBox="1"/>
          <p:nvPr/>
        </p:nvSpPr>
        <p:spPr>
          <a:xfrm>
            <a:off x="1444752" y="5138928"/>
            <a:ext cx="9966960" cy="694944"/>
          </a:xfrm>
          <a:prstGeom prst="rect">
            <a:avLst/>
          </a:prstGeom>
          <a:noFill/>
          <a:ln/>
        </p:spPr>
        <p:txBody>
          <a:bodyPr wrap="square" lIns="0" tIns="0" rIns="0" bIns="0" rtlCol="0" anchor="ctr"/>
          <a:lstStyle/>
          <a:p>
            <a:pPr indent="0" marL="0">
              <a:lnSpc>
                <a:spcPct val="114000"/>
              </a:lnSpc>
              <a:buNone/>
            </a:pPr>
            <a:r>
              <a:rPr lang="en-US" sz="1150" b="1" dirty="0">
                <a:solidFill>
                  <a:srgbClr val="3C873A"/>
                </a:solidFill>
                <a:latin typeface="Calibri" pitchFamily="34" charset="0"/>
                <a:ea typeface="Calibri" pitchFamily="34" charset="-122"/>
                <a:cs typeface="Calibri" pitchFamily="34" charset="-120"/>
              </a:rPr>
              <a:t>Saran belajar: </a:t>
            </a:r>
            <a:pPr indent="0" marL="0">
              <a:lnSpc>
                <a:spcPct val="114000"/>
              </a:lnSpc>
              <a:buNone/>
            </a:pPr>
            <a:r>
              <a:rPr lang="en-US" sz="1150" dirty="0">
                <a:solidFill>
                  <a:srgbClr val="2C4433"/>
                </a:solidFill>
                <a:latin typeface="Calibri" pitchFamily="34" charset="0"/>
                <a:ea typeface="Calibri" pitchFamily="34" charset="-122"/>
                <a:cs typeface="Calibri" pitchFamily="34" charset="-120"/>
              </a:rPr>
              <a:t>biasakan membuka dokumentasi resmi lebih dulu sebelum mencari tutorial. Dokumentasi selalu paling mutakhir, sedangkan artikel dan video sering menggunakan versi Node.js yang sudah lama ditinggalkan.</a:t>
            </a:r>
            <a:endParaRPr lang="en-US" sz="1150" dirty="0"/>
          </a:p>
        </p:txBody>
      </p:sp>
      <p:sp>
        <p:nvSpPr>
          <p:cNvPr id="39"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0"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7818120" y="-1463040"/>
            <a:ext cx="6035040" cy="9784080"/>
          </a:xfrm>
          <a:prstGeom prst="roundRect">
            <a:avLst>
              <a:gd name="adj" fmla="val 8333"/>
            </a:avLst>
          </a:prstGeom>
          <a:solidFill>
            <a:srgbClr val="12301F"/>
          </a:solidFill>
          <a:ln w="12700">
            <a:solidFill>
              <a:srgbClr val="12301F"/>
            </a:solidFill>
            <a:prstDash val="solid"/>
          </a:ln>
        </p:spPr>
      </p:sp>
      <p:pic>
        <p:nvPicPr>
          <p:cNvPr id="3" name="Image 0" descr="preencoded.png">    </p:cNvPr>
          <p:cNvPicPr>
            <a:picLocks noChangeAspect="1"/>
          </p:cNvPicPr>
          <p:nvPr/>
        </p:nvPicPr>
        <p:blipFill>
          <a:blip r:embed="rId1"/>
          <a:stretch>
            <a:fillRect/>
          </a:stretch>
        </p:blipFill>
        <p:spPr>
          <a:xfrm>
            <a:off x="822960" y="1188720"/>
            <a:ext cx="1097280" cy="1097280"/>
          </a:xfrm>
          <a:prstGeom prst="rect">
            <a:avLst/>
          </a:prstGeom>
        </p:spPr>
      </p:pic>
      <p:sp>
        <p:nvSpPr>
          <p:cNvPr id="4" name="Text 1"/>
          <p:cNvSpPr txBox="1"/>
          <p:nvPr/>
        </p:nvSpPr>
        <p:spPr>
          <a:xfrm>
            <a:off x="822960" y="2487168"/>
            <a:ext cx="6583680" cy="274320"/>
          </a:xfrm>
          <a:prstGeom prst="rect">
            <a:avLst/>
          </a:prstGeom>
          <a:noFill/>
          <a:ln/>
        </p:spPr>
        <p:txBody>
          <a:bodyPr wrap="square" lIns="0" tIns="0" rIns="0" bIns="0" rtlCol="0" anchor="ctr"/>
          <a:lstStyle/>
          <a:p>
            <a:pPr indent="0" marL="0">
              <a:buNone/>
            </a:pPr>
            <a:r>
              <a:rPr lang="en-US" sz="1200" b="1" spc="240" kern="0" dirty="0">
                <a:solidFill>
                  <a:srgbClr val="8CC84B"/>
                </a:solidFill>
                <a:latin typeface="Calibri" pitchFamily="34" charset="0"/>
                <a:ea typeface="Calibri" pitchFamily="34" charset="-122"/>
                <a:cs typeface="Calibri" pitchFamily="34" charset="-120"/>
              </a:rPr>
              <a:t>RINGKASAN AKHIR</a:t>
            </a:r>
            <a:endParaRPr lang="en-US" sz="1200" dirty="0"/>
          </a:p>
        </p:txBody>
      </p:sp>
      <p:sp>
        <p:nvSpPr>
          <p:cNvPr id="5" name="Text 2"/>
          <p:cNvSpPr txBox="1"/>
          <p:nvPr/>
        </p:nvSpPr>
        <p:spPr>
          <a:xfrm>
            <a:off x="777240" y="2761488"/>
            <a:ext cx="667512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Terima Kasih</a:t>
            </a:r>
            <a:endParaRPr lang="en-US" sz="4800" dirty="0"/>
          </a:p>
        </p:txBody>
      </p:sp>
      <p:sp>
        <p:nvSpPr>
          <p:cNvPr id="6" name="Text 3"/>
          <p:cNvSpPr txBox="1"/>
          <p:nvPr/>
        </p:nvSpPr>
        <p:spPr>
          <a:xfrm>
            <a:off x="822960" y="3712464"/>
            <a:ext cx="6675120" cy="1097280"/>
          </a:xfrm>
          <a:prstGeom prst="rect">
            <a:avLst/>
          </a:prstGeom>
          <a:noFill/>
          <a:ln/>
        </p:spPr>
        <p:txBody>
          <a:bodyPr wrap="square" lIns="0" tIns="0" rIns="0" bIns="0" rtlCol="0" anchor="t"/>
          <a:lstStyle/>
          <a:p>
            <a:pPr indent="0" marL="0">
              <a:lnSpc>
                <a:spcPct val="124000"/>
              </a:lnSpc>
              <a:buNone/>
            </a:pPr>
            <a:r>
              <a:rPr lang="en-US" sz="1350" dirty="0">
                <a:solidFill>
                  <a:srgbClr val="BFD6C4"/>
                </a:solidFill>
                <a:latin typeface="Calibri" pitchFamily="34" charset="0"/>
                <a:ea typeface="Calibri" pitchFamily="34" charset="-122"/>
                <a:cs typeface="Calibri" pitchFamily="34" charset="-120"/>
              </a:rPr>
              <a:t>Node.js membuka jalan bagi JavaScript untuk membangun aplikasi sisi server yang cepat, ringan, dan berskala besar. Kuncinya adalah memahami event loop, membiasakan pola asinkron, lalu terus berlatih membangun proyek nyata.</a:t>
            </a:r>
            <a:endParaRPr lang="en-US" sz="1350" dirty="0"/>
          </a:p>
        </p:txBody>
      </p:sp>
      <p:sp>
        <p:nvSpPr>
          <p:cNvPr id="7" name="Shape 4"/>
          <p:cNvSpPr/>
          <p:nvPr/>
        </p:nvSpPr>
        <p:spPr>
          <a:xfrm>
            <a:off x="8686800" y="1874520"/>
            <a:ext cx="457200" cy="457200"/>
          </a:xfrm>
          <a:prstGeom prst="roundRect">
            <a:avLst>
              <a:gd name="adj" fmla="val 26000"/>
            </a:avLst>
          </a:prstGeom>
          <a:solidFill>
            <a:srgbClr val="1B4429"/>
          </a:solidFill>
          <a:ln w="12700">
            <a:solidFill>
              <a:srgbClr val="2C5F3A"/>
            </a:solidFill>
            <a:prstDash val="solid"/>
          </a:ln>
        </p:spPr>
      </p:sp>
      <p:pic>
        <p:nvPicPr>
          <p:cNvPr id="8" name="Image 1" descr="preencoded.png">    </p:cNvPr>
          <p:cNvPicPr>
            <a:picLocks noChangeAspect="1"/>
          </p:cNvPicPr>
          <p:nvPr/>
        </p:nvPicPr>
        <p:blipFill>
          <a:blip r:embed="rId2"/>
          <a:stretch>
            <a:fillRect/>
          </a:stretch>
        </p:blipFill>
        <p:spPr>
          <a:xfrm>
            <a:off x="8801100" y="1988820"/>
            <a:ext cx="228600" cy="228600"/>
          </a:xfrm>
          <a:prstGeom prst="rect">
            <a:avLst/>
          </a:prstGeom>
        </p:spPr>
      </p:pic>
      <p:sp>
        <p:nvSpPr>
          <p:cNvPr id="9" name="Text 5"/>
          <p:cNvSpPr txBox="1"/>
          <p:nvPr/>
        </p:nvSpPr>
        <p:spPr>
          <a:xfrm>
            <a:off x="9281160" y="187452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Non-blocking adalah inti Node.js</a:t>
            </a:r>
            <a:endParaRPr lang="en-US" sz="1100" dirty="0"/>
          </a:p>
        </p:txBody>
      </p:sp>
      <p:sp>
        <p:nvSpPr>
          <p:cNvPr id="10" name="Shape 6"/>
          <p:cNvSpPr/>
          <p:nvPr/>
        </p:nvSpPr>
        <p:spPr>
          <a:xfrm>
            <a:off x="8686800" y="2514600"/>
            <a:ext cx="457200" cy="457200"/>
          </a:xfrm>
          <a:prstGeom prst="roundRect">
            <a:avLst>
              <a:gd name="adj" fmla="val 26000"/>
            </a:avLst>
          </a:prstGeom>
          <a:solidFill>
            <a:srgbClr val="1B4429"/>
          </a:solidFill>
          <a:ln w="12700">
            <a:solidFill>
              <a:srgbClr val="2C5F3A"/>
            </a:solidFill>
            <a:prstDash val="solid"/>
          </a:ln>
        </p:spPr>
      </p:sp>
      <p:pic>
        <p:nvPicPr>
          <p:cNvPr id="11" name="Image 2" descr="preencoded.png">    </p:cNvPr>
          <p:cNvPicPr>
            <a:picLocks noChangeAspect="1"/>
          </p:cNvPicPr>
          <p:nvPr/>
        </p:nvPicPr>
        <p:blipFill>
          <a:blip r:embed="rId3"/>
          <a:stretch>
            <a:fillRect/>
          </a:stretch>
        </p:blipFill>
        <p:spPr>
          <a:xfrm>
            <a:off x="8801100" y="2628900"/>
            <a:ext cx="228600" cy="228600"/>
          </a:xfrm>
          <a:prstGeom prst="rect">
            <a:avLst/>
          </a:prstGeom>
        </p:spPr>
      </p:pic>
      <p:sp>
        <p:nvSpPr>
          <p:cNvPr id="12" name="Text 7"/>
          <p:cNvSpPr txBox="1"/>
          <p:nvPr/>
        </p:nvSpPr>
        <p:spPr>
          <a:xfrm>
            <a:off x="9281160" y="251460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Kuasai async/await sepenuhnya</a:t>
            </a:r>
            <a:endParaRPr lang="en-US" sz="1100" dirty="0"/>
          </a:p>
        </p:txBody>
      </p:sp>
      <p:sp>
        <p:nvSpPr>
          <p:cNvPr id="13" name="Shape 8"/>
          <p:cNvSpPr/>
          <p:nvPr/>
        </p:nvSpPr>
        <p:spPr>
          <a:xfrm>
            <a:off x="8686800" y="3154680"/>
            <a:ext cx="457200" cy="457200"/>
          </a:xfrm>
          <a:prstGeom prst="roundRect">
            <a:avLst>
              <a:gd name="adj" fmla="val 26000"/>
            </a:avLst>
          </a:prstGeom>
          <a:solidFill>
            <a:srgbClr val="1B4429"/>
          </a:solidFill>
          <a:ln w="12700">
            <a:solidFill>
              <a:srgbClr val="2C5F3A"/>
            </a:solidFill>
            <a:prstDash val="solid"/>
          </a:ln>
        </p:spPr>
      </p:sp>
      <p:pic>
        <p:nvPicPr>
          <p:cNvPr id="14" name="Image 3" descr="preencoded.png">    </p:cNvPr>
          <p:cNvPicPr>
            <a:picLocks noChangeAspect="1"/>
          </p:cNvPicPr>
          <p:nvPr/>
        </p:nvPicPr>
        <p:blipFill>
          <a:blip r:embed="rId4"/>
          <a:stretch>
            <a:fillRect/>
          </a:stretch>
        </p:blipFill>
        <p:spPr>
          <a:xfrm>
            <a:off x="8801100" y="3268980"/>
            <a:ext cx="228600" cy="228600"/>
          </a:xfrm>
          <a:prstGeom prst="rect">
            <a:avLst/>
          </a:prstGeom>
        </p:spPr>
      </p:pic>
      <p:sp>
        <p:nvSpPr>
          <p:cNvPr id="15" name="Text 9"/>
          <p:cNvSpPr txBox="1"/>
          <p:nvPr/>
        </p:nvSpPr>
        <p:spPr>
          <a:xfrm>
            <a:off x="9281160" y="315468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Manfaatkan NPM dengan bijak</a:t>
            </a:r>
            <a:endParaRPr lang="en-US" sz="1100" dirty="0"/>
          </a:p>
        </p:txBody>
      </p:sp>
      <p:sp>
        <p:nvSpPr>
          <p:cNvPr id="16" name="Shape 10"/>
          <p:cNvSpPr/>
          <p:nvPr/>
        </p:nvSpPr>
        <p:spPr>
          <a:xfrm>
            <a:off x="8686800" y="3794760"/>
            <a:ext cx="457200" cy="457200"/>
          </a:xfrm>
          <a:prstGeom prst="roundRect">
            <a:avLst>
              <a:gd name="adj" fmla="val 26000"/>
            </a:avLst>
          </a:prstGeom>
          <a:solidFill>
            <a:srgbClr val="1B4429"/>
          </a:solidFill>
          <a:ln w="12700">
            <a:solidFill>
              <a:srgbClr val="2C5F3A"/>
            </a:solidFill>
            <a:prstDash val="solid"/>
          </a:ln>
        </p:spPr>
      </p:sp>
      <p:pic>
        <p:nvPicPr>
          <p:cNvPr id="17" name="Image 4" descr="preencoded.png">    </p:cNvPr>
          <p:cNvPicPr>
            <a:picLocks noChangeAspect="1"/>
          </p:cNvPicPr>
          <p:nvPr/>
        </p:nvPicPr>
        <p:blipFill>
          <a:blip r:embed="rId5"/>
          <a:stretch>
            <a:fillRect/>
          </a:stretch>
        </p:blipFill>
        <p:spPr>
          <a:xfrm>
            <a:off x="8801100" y="3909060"/>
            <a:ext cx="228600" cy="228600"/>
          </a:xfrm>
          <a:prstGeom prst="rect">
            <a:avLst/>
          </a:prstGeom>
        </p:spPr>
      </p:pic>
      <p:sp>
        <p:nvSpPr>
          <p:cNvPr id="18" name="Text 11"/>
          <p:cNvSpPr txBox="1"/>
          <p:nvPr/>
        </p:nvSpPr>
        <p:spPr>
          <a:xfrm>
            <a:off x="9281160" y="379476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Keamanan sejak baris pertama</a:t>
            </a:r>
            <a:endParaRPr lang="en-US" sz="1100" dirty="0"/>
          </a:p>
        </p:txBody>
      </p:sp>
      <p:sp>
        <p:nvSpPr>
          <p:cNvPr id="19" name="Shape 12"/>
          <p:cNvSpPr/>
          <p:nvPr/>
        </p:nvSpPr>
        <p:spPr>
          <a:xfrm>
            <a:off x="8686800" y="4434840"/>
            <a:ext cx="457200" cy="457200"/>
          </a:xfrm>
          <a:prstGeom prst="roundRect">
            <a:avLst>
              <a:gd name="adj" fmla="val 26000"/>
            </a:avLst>
          </a:prstGeom>
          <a:solidFill>
            <a:srgbClr val="1B4429"/>
          </a:solidFill>
          <a:ln w="12700">
            <a:solidFill>
              <a:srgbClr val="2C5F3A"/>
            </a:solidFill>
            <a:prstDash val="solid"/>
          </a:ln>
        </p:spPr>
      </p:sp>
      <p:pic>
        <p:nvPicPr>
          <p:cNvPr id="20" name="Image 5" descr="preencoded.png">    </p:cNvPr>
          <p:cNvPicPr>
            <a:picLocks noChangeAspect="1"/>
          </p:cNvPicPr>
          <p:nvPr/>
        </p:nvPicPr>
        <p:blipFill>
          <a:blip r:embed="rId6"/>
          <a:stretch>
            <a:fillRect/>
          </a:stretch>
        </p:blipFill>
        <p:spPr>
          <a:xfrm>
            <a:off x="8801100" y="4549140"/>
            <a:ext cx="228600" cy="228600"/>
          </a:xfrm>
          <a:prstGeom prst="rect">
            <a:avLst/>
          </a:prstGeom>
        </p:spPr>
      </p:pic>
      <p:sp>
        <p:nvSpPr>
          <p:cNvPr id="21" name="Text 13"/>
          <p:cNvSpPr txBox="1"/>
          <p:nvPr/>
        </p:nvSpPr>
        <p:spPr>
          <a:xfrm>
            <a:off x="9281160" y="443484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Belajar lewat proyek nyata</a:t>
            </a:r>
            <a:endParaRPr lang="en-US" sz="1100" dirty="0"/>
          </a:p>
        </p:txBody>
      </p:sp>
      <p:sp>
        <p:nvSpPr>
          <p:cNvPr id="22" name="Text 14"/>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23" name="Text 1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Node.js — Materi Komprehensif</dc:title>
  <dc:subject>Pemrograman JavaScript Sisi Server</dc:subject>
  <dc:creator>Materi Node.js</dc:creator>
  <cp:lastModifiedBy>Materi Node.js</cp:lastModifiedBy>
  <cp:revision>1</cp:revision>
  <dcterms:created xsi:type="dcterms:W3CDTF">2026-09-04T07:24:36Z</dcterms:created>
  <dcterms:modified xsi:type="dcterms:W3CDTF">2026-09-04T07:24:36Z</dcterms:modified>
</cp:coreProperties>
</file>